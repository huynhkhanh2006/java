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360" r:id="rId2"/>
    <p:sldId id="256" r:id="rId3"/>
    <p:sldId id="263" r:id="rId4"/>
    <p:sldId id="267" r:id="rId5"/>
    <p:sldId id="264" r:id="rId6"/>
    <p:sldId id="265" r:id="rId7"/>
    <p:sldId id="266" r:id="rId8"/>
    <p:sldId id="293" r:id="rId9"/>
    <p:sldId id="268" r:id="rId10"/>
    <p:sldId id="269" r:id="rId11"/>
    <p:sldId id="270" r:id="rId12"/>
    <p:sldId id="271" r:id="rId13"/>
    <p:sldId id="272" r:id="rId14"/>
    <p:sldId id="273" r:id="rId15"/>
    <p:sldId id="274" r:id="rId16"/>
    <p:sldId id="275" r:id="rId17"/>
    <p:sldId id="276" r:id="rId18"/>
    <p:sldId id="277" r:id="rId19"/>
    <p:sldId id="368" r:id="rId20"/>
    <p:sldId id="369" r:id="rId21"/>
    <p:sldId id="370" r:id="rId22"/>
    <p:sldId id="279"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61" r:id="rId39"/>
    <p:sldId id="261" r:id="rId40"/>
    <p:sldId id="362" r:id="rId41"/>
    <p:sldId id="364" r:id="rId42"/>
    <p:sldId id="366" r:id="rId43"/>
    <p:sldId id="367" r:id="rId44"/>
    <p:sldId id="317" r:id="rId45"/>
    <p:sldId id="318" r:id="rId46"/>
    <p:sldId id="319" r:id="rId47"/>
    <p:sldId id="371" r:id="rId48"/>
    <p:sldId id="321" r:id="rId49"/>
    <p:sldId id="322" r:id="rId50"/>
    <p:sldId id="324" r:id="rId51"/>
    <p:sldId id="325" r:id="rId52"/>
    <p:sldId id="326" r:id="rId53"/>
    <p:sldId id="327" r:id="rId54"/>
    <p:sldId id="328" r:id="rId55"/>
    <p:sldId id="331" r:id="rId56"/>
    <p:sldId id="332" r:id="rId57"/>
    <p:sldId id="333" r:id="rId58"/>
    <p:sldId id="334" r:id="rId59"/>
    <p:sldId id="335" r:id="rId60"/>
    <p:sldId id="336" r:id="rId61"/>
    <p:sldId id="337" r:id="rId62"/>
    <p:sldId id="338" r:id="rId63"/>
    <p:sldId id="339" r:id="rId64"/>
    <p:sldId id="340" r:id="rId65"/>
    <p:sldId id="341" r:id="rId66"/>
    <p:sldId id="342" r:id="rId67"/>
    <p:sldId id="343" r:id="rId68"/>
    <p:sldId id="344" r:id="rId69"/>
    <p:sldId id="345" r:id="rId70"/>
    <p:sldId id="346" r:id="rId71"/>
    <p:sldId id="347" r:id="rId72"/>
    <p:sldId id="348" r:id="rId73"/>
    <p:sldId id="349" r:id="rId74"/>
    <p:sldId id="350" r:id="rId75"/>
    <p:sldId id="351" r:id="rId76"/>
    <p:sldId id="352" r:id="rId77"/>
    <p:sldId id="353" r:id="rId78"/>
    <p:sldId id="354" r:id="rId79"/>
    <p:sldId id="355" r:id="rId80"/>
    <p:sldId id="356" r:id="rId81"/>
    <p:sldId id="357" r:id="rId82"/>
    <p:sldId id="358" r:id="rId83"/>
    <p:sldId id="359" r:id="rId84"/>
    <p:sldId id="262" r:id="rId8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62"/>
      </p:cViewPr>
      <p:guideLst/>
    </p:cSldViewPr>
  </p:slid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986D5C-D02B-4E19-1408-2E5AD0E0D8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a:extLst>
              <a:ext uri="{FF2B5EF4-FFF2-40B4-BE49-F238E27FC236}">
                <a16:creationId xmlns:a16="http://schemas.microsoft.com/office/drawing/2014/main" id="{7362A2F4-9B34-7FDB-A06D-81284928895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53A126-32E0-4A03-A7A4-1EFFA47624F5}" type="datetimeFigureOut">
              <a:rPr lang="vi-VN" smtClean="0"/>
              <a:t>15/04/2026</a:t>
            </a:fld>
            <a:endParaRPr lang="vi-VN"/>
          </a:p>
        </p:txBody>
      </p:sp>
      <p:sp>
        <p:nvSpPr>
          <p:cNvPr id="4" name="Footer Placeholder 3">
            <a:extLst>
              <a:ext uri="{FF2B5EF4-FFF2-40B4-BE49-F238E27FC236}">
                <a16:creationId xmlns:a16="http://schemas.microsoft.com/office/drawing/2014/main" id="{348B31F7-6F9A-18B4-F9C7-9618BE2409B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a:extLst>
              <a:ext uri="{FF2B5EF4-FFF2-40B4-BE49-F238E27FC236}">
                <a16:creationId xmlns:a16="http://schemas.microsoft.com/office/drawing/2014/main" id="{C336E666-F9B3-6680-7F5E-70BD87CE8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BF4F51-1609-452D-914B-C645AF1F7812}" type="slidenum">
              <a:rPr lang="vi-VN" smtClean="0"/>
              <a:t>‹#›</a:t>
            </a:fld>
            <a:endParaRPr lang="vi-VN"/>
          </a:p>
        </p:txBody>
      </p:sp>
    </p:spTree>
    <p:extLst>
      <p:ext uri="{BB962C8B-B14F-4D97-AF65-F5344CB8AC3E}">
        <p14:creationId xmlns:p14="http://schemas.microsoft.com/office/powerpoint/2010/main" val="2472257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0FA2B-B177-4060-A2E0-C6DBBE99B644}" type="datetimeFigureOut">
              <a:rPr lang="vi-VN" smtClean="0"/>
              <a:t>15/04/2026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E2BB73-2E0E-45C4-8A6A-7C5FE9550683}" type="slidenum">
              <a:rPr lang="vi-VN" smtClean="0"/>
              <a:t>‹#›</a:t>
            </a:fld>
            <a:endParaRPr lang="vi-VN"/>
          </a:p>
        </p:txBody>
      </p:sp>
    </p:spTree>
    <p:extLst>
      <p:ext uri="{BB962C8B-B14F-4D97-AF65-F5344CB8AC3E}">
        <p14:creationId xmlns:p14="http://schemas.microsoft.com/office/powerpoint/2010/main" val="331168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D926E-03CB-13E1-373B-90E5961AF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A83B0-4BF3-029E-6494-14E059548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DFE04-1003-1675-C80F-C245FA449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2EBE8-5DC5-D842-1B0F-9F25F82E738C}"/>
              </a:ext>
            </a:extLst>
          </p:cNvPr>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1415886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2</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8</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44</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70</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77</a:t>
            </a:fld>
            <a:endParaRPr lang="en-US"/>
          </a:p>
        </p:txBody>
      </p:sp>
    </p:spTree>
    <p:extLst>
      <p:ext uri="{BB962C8B-B14F-4D97-AF65-F5344CB8AC3E}">
        <p14:creationId xmlns:p14="http://schemas.microsoft.com/office/powerpoint/2010/main" val="4261854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5D4C-411D-D1EA-254C-AB6CCADBA1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583D498A-7396-0D6E-6FA9-2CF22A4950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3016C94A-92E0-D146-15F7-0AB00DFB33D0}"/>
              </a:ext>
            </a:extLst>
          </p:cNvPr>
          <p:cNvSpPr>
            <a:spLocks noGrp="1"/>
          </p:cNvSpPr>
          <p:nvPr>
            <p:ph type="dt" sz="half" idx="10"/>
          </p:nvPr>
        </p:nvSpPr>
        <p:spPr/>
        <p:txBody>
          <a:bodyPr/>
          <a:lstStyle/>
          <a:p>
            <a:fld id="{FEA4138A-81E0-4D0E-9053-29935AAE85F4}" type="datetime1">
              <a:rPr lang="vi-VN" smtClean="0"/>
              <a:t>15/04/2026</a:t>
            </a:fld>
            <a:endParaRPr lang="vi-VN"/>
          </a:p>
        </p:txBody>
      </p:sp>
      <p:sp>
        <p:nvSpPr>
          <p:cNvPr id="5" name="Footer Placeholder 4">
            <a:extLst>
              <a:ext uri="{FF2B5EF4-FFF2-40B4-BE49-F238E27FC236}">
                <a16:creationId xmlns:a16="http://schemas.microsoft.com/office/drawing/2014/main" id="{A01844DD-508F-9CAB-36DF-105FD9E2428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90E17A5-5C25-122B-C7B3-5E0B5ED6C8C9}"/>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2459973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273D-B5FB-5D89-E279-56ED474513F9}"/>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381AFB8-7A6C-9FE8-CB04-BD0D76B51E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E2F29F9-C417-541B-F08C-DD25FFD890F2}"/>
              </a:ext>
            </a:extLst>
          </p:cNvPr>
          <p:cNvSpPr>
            <a:spLocks noGrp="1"/>
          </p:cNvSpPr>
          <p:nvPr>
            <p:ph type="dt" sz="half" idx="10"/>
          </p:nvPr>
        </p:nvSpPr>
        <p:spPr/>
        <p:txBody>
          <a:bodyPr/>
          <a:lstStyle/>
          <a:p>
            <a:fld id="{234807E5-40B6-46BF-864F-6FE9A73F389D}" type="datetime1">
              <a:rPr lang="vi-VN" smtClean="0"/>
              <a:t>15/04/2026</a:t>
            </a:fld>
            <a:endParaRPr lang="vi-VN"/>
          </a:p>
        </p:txBody>
      </p:sp>
      <p:sp>
        <p:nvSpPr>
          <p:cNvPr id="5" name="Footer Placeholder 4">
            <a:extLst>
              <a:ext uri="{FF2B5EF4-FFF2-40B4-BE49-F238E27FC236}">
                <a16:creationId xmlns:a16="http://schemas.microsoft.com/office/drawing/2014/main" id="{366822EF-81C7-F424-1278-3D20FBEEDCB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A5A1AA2-F04C-121D-BD89-9A6CCCBF6836}"/>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652310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4CDE-C60D-C5AD-F3CE-EA24B57D6D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474B50A9-1F66-56A0-8360-E8150022AC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0BD15C-9646-160D-5D6D-5E0A95020077}"/>
              </a:ext>
            </a:extLst>
          </p:cNvPr>
          <p:cNvSpPr>
            <a:spLocks noGrp="1"/>
          </p:cNvSpPr>
          <p:nvPr>
            <p:ph type="dt" sz="half" idx="10"/>
          </p:nvPr>
        </p:nvSpPr>
        <p:spPr/>
        <p:txBody>
          <a:bodyPr/>
          <a:lstStyle/>
          <a:p>
            <a:fld id="{C50E3571-34FE-41F1-B58B-ECE97AE32489}" type="datetime1">
              <a:rPr lang="vi-VN" smtClean="0"/>
              <a:t>15/04/2026</a:t>
            </a:fld>
            <a:endParaRPr lang="vi-VN"/>
          </a:p>
        </p:txBody>
      </p:sp>
      <p:sp>
        <p:nvSpPr>
          <p:cNvPr id="5" name="Footer Placeholder 4">
            <a:extLst>
              <a:ext uri="{FF2B5EF4-FFF2-40B4-BE49-F238E27FC236}">
                <a16:creationId xmlns:a16="http://schemas.microsoft.com/office/drawing/2014/main" id="{996D1918-DF78-9ECB-95BE-7566A42C132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CF4BCA2-4D57-3335-689A-6908DB5DB3FB}"/>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1622956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83D9-62CA-64D7-B042-111FEE254E7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1DD0B7D-9A13-371D-9442-961C3BD9C9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E77F9C8A-09AF-4DBE-11F7-3E5C51B3F3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FF10E2A-E1F5-FC23-5D81-79D982B1D127}"/>
              </a:ext>
            </a:extLst>
          </p:cNvPr>
          <p:cNvSpPr>
            <a:spLocks noGrp="1"/>
          </p:cNvSpPr>
          <p:nvPr>
            <p:ph type="dt" sz="half" idx="10"/>
          </p:nvPr>
        </p:nvSpPr>
        <p:spPr/>
        <p:txBody>
          <a:bodyPr/>
          <a:lstStyle/>
          <a:p>
            <a:fld id="{41D1C3A7-D70E-405E-A9B2-EA2C27559473}" type="datetime1">
              <a:rPr lang="vi-VN" smtClean="0"/>
              <a:t>15/04/2026</a:t>
            </a:fld>
            <a:endParaRPr lang="vi-VN"/>
          </a:p>
        </p:txBody>
      </p:sp>
      <p:sp>
        <p:nvSpPr>
          <p:cNvPr id="6" name="Footer Placeholder 5">
            <a:extLst>
              <a:ext uri="{FF2B5EF4-FFF2-40B4-BE49-F238E27FC236}">
                <a16:creationId xmlns:a16="http://schemas.microsoft.com/office/drawing/2014/main" id="{FE3F6645-A598-2CBF-89BD-DF0BB5850C1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6B010AE3-B4C0-C232-8652-D688F8373510}"/>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288018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91559-9217-6875-3EF3-92F713F0C9F5}"/>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FF602BE5-42CD-E66A-DC67-6E72E835E2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134CD9-BDAA-3690-ED72-DF3D76412B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AEF673EA-41C7-1A40-1A84-29FB015CED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82D583-E11F-49E8-286B-5979D48ADC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616DBCF-EDEE-A525-6896-D25AE36DC687}"/>
              </a:ext>
            </a:extLst>
          </p:cNvPr>
          <p:cNvSpPr>
            <a:spLocks noGrp="1"/>
          </p:cNvSpPr>
          <p:nvPr>
            <p:ph type="dt" sz="half" idx="10"/>
          </p:nvPr>
        </p:nvSpPr>
        <p:spPr/>
        <p:txBody>
          <a:bodyPr/>
          <a:lstStyle/>
          <a:p>
            <a:fld id="{EEC6408F-A66A-4F7A-9C2A-19C0696AEF53}" type="datetime1">
              <a:rPr lang="vi-VN" smtClean="0"/>
              <a:t>15/04/2026</a:t>
            </a:fld>
            <a:endParaRPr lang="vi-VN"/>
          </a:p>
        </p:txBody>
      </p:sp>
      <p:sp>
        <p:nvSpPr>
          <p:cNvPr id="8" name="Footer Placeholder 7">
            <a:extLst>
              <a:ext uri="{FF2B5EF4-FFF2-40B4-BE49-F238E27FC236}">
                <a16:creationId xmlns:a16="http://schemas.microsoft.com/office/drawing/2014/main" id="{4AD64C1E-2198-D02D-22F7-F55EB82C5AA4}"/>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DF1CF331-3497-11BD-E182-91C153D0C899}"/>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4109725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2A255-C77B-018E-7741-F2AB9E97A3B7}"/>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5C82AD80-9AA2-7345-82D0-2F8291E9C62F}"/>
              </a:ext>
            </a:extLst>
          </p:cNvPr>
          <p:cNvSpPr>
            <a:spLocks noGrp="1"/>
          </p:cNvSpPr>
          <p:nvPr>
            <p:ph type="dt" sz="half" idx="10"/>
          </p:nvPr>
        </p:nvSpPr>
        <p:spPr/>
        <p:txBody>
          <a:bodyPr/>
          <a:lstStyle/>
          <a:p>
            <a:fld id="{A194E323-60A0-4800-BF5F-A60073316004}" type="datetime1">
              <a:rPr lang="vi-VN" smtClean="0"/>
              <a:t>15/04/2026</a:t>
            </a:fld>
            <a:endParaRPr lang="vi-VN"/>
          </a:p>
        </p:txBody>
      </p:sp>
      <p:sp>
        <p:nvSpPr>
          <p:cNvPr id="4" name="Footer Placeholder 3">
            <a:extLst>
              <a:ext uri="{FF2B5EF4-FFF2-40B4-BE49-F238E27FC236}">
                <a16:creationId xmlns:a16="http://schemas.microsoft.com/office/drawing/2014/main" id="{04FB92CB-32E8-3DDB-B66A-174ADA137429}"/>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DED531F9-79BE-82C5-D9D6-CB5D105DDB5D}"/>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132551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B75674-8E06-12C7-637D-95BD89722AEE}"/>
              </a:ext>
            </a:extLst>
          </p:cNvPr>
          <p:cNvSpPr>
            <a:spLocks noGrp="1"/>
          </p:cNvSpPr>
          <p:nvPr>
            <p:ph type="dt" sz="half" idx="10"/>
          </p:nvPr>
        </p:nvSpPr>
        <p:spPr/>
        <p:txBody>
          <a:bodyPr/>
          <a:lstStyle/>
          <a:p>
            <a:fld id="{4CB4BE4D-F571-473A-B386-F2BD09D89074}" type="datetime1">
              <a:rPr lang="vi-VN" smtClean="0"/>
              <a:t>15/04/2026</a:t>
            </a:fld>
            <a:endParaRPr lang="vi-VN"/>
          </a:p>
        </p:txBody>
      </p:sp>
      <p:sp>
        <p:nvSpPr>
          <p:cNvPr id="3" name="Footer Placeholder 2">
            <a:extLst>
              <a:ext uri="{FF2B5EF4-FFF2-40B4-BE49-F238E27FC236}">
                <a16:creationId xmlns:a16="http://schemas.microsoft.com/office/drawing/2014/main" id="{B345742F-6C8F-8480-0621-5F0AEA667606}"/>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B144B60C-F506-64CE-456E-FA82F34D2AC0}"/>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109995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72685-E7E1-376E-23B7-0A0F8F59EB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65B35C55-547B-4614-D9E8-3C2341520F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CBCD33A7-4CFB-D100-5719-38649891C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FAFBA-21F4-3350-93BA-866024E21153}"/>
              </a:ext>
            </a:extLst>
          </p:cNvPr>
          <p:cNvSpPr>
            <a:spLocks noGrp="1"/>
          </p:cNvSpPr>
          <p:nvPr>
            <p:ph type="dt" sz="half" idx="10"/>
          </p:nvPr>
        </p:nvSpPr>
        <p:spPr/>
        <p:txBody>
          <a:bodyPr/>
          <a:lstStyle/>
          <a:p>
            <a:fld id="{A776BDA8-D7B5-462E-8AF7-E1246F017AF8}" type="datetime1">
              <a:rPr lang="vi-VN" smtClean="0"/>
              <a:t>15/04/2026</a:t>
            </a:fld>
            <a:endParaRPr lang="vi-VN"/>
          </a:p>
        </p:txBody>
      </p:sp>
      <p:sp>
        <p:nvSpPr>
          <p:cNvPr id="6" name="Footer Placeholder 5">
            <a:extLst>
              <a:ext uri="{FF2B5EF4-FFF2-40B4-BE49-F238E27FC236}">
                <a16:creationId xmlns:a16="http://schemas.microsoft.com/office/drawing/2014/main" id="{AE43DAFD-FFD2-2804-D151-7570016E6401}"/>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1D47DD9-17FC-C842-D602-46C9A4A8CF91}"/>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414506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989CC-618D-5BF4-9898-D17AE59FB4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80B964B-CF4F-ED21-FF09-E4DD7C366B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DA8B7E91-7332-FBD1-81E9-F64E4C00E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44E34C-D0EF-AEF4-18D6-5340F2648917}"/>
              </a:ext>
            </a:extLst>
          </p:cNvPr>
          <p:cNvSpPr>
            <a:spLocks noGrp="1"/>
          </p:cNvSpPr>
          <p:nvPr>
            <p:ph type="dt" sz="half" idx="10"/>
          </p:nvPr>
        </p:nvSpPr>
        <p:spPr/>
        <p:txBody>
          <a:bodyPr/>
          <a:lstStyle/>
          <a:p>
            <a:fld id="{B39BF67A-6251-49A6-98A1-DE5DE8708CCD}" type="datetime1">
              <a:rPr lang="vi-VN" smtClean="0"/>
              <a:t>15/04/2026</a:t>
            </a:fld>
            <a:endParaRPr lang="vi-VN"/>
          </a:p>
        </p:txBody>
      </p:sp>
      <p:sp>
        <p:nvSpPr>
          <p:cNvPr id="6" name="Footer Placeholder 5">
            <a:extLst>
              <a:ext uri="{FF2B5EF4-FFF2-40B4-BE49-F238E27FC236}">
                <a16:creationId xmlns:a16="http://schemas.microsoft.com/office/drawing/2014/main" id="{897CD0BD-F283-138C-5B9E-F9DC06AD9E11}"/>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555FD4F0-08A2-4FD4-969A-E5CEFED6AFD3}"/>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2366204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6F991-1CD9-8F51-75B4-B3FCB5389F16}"/>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66770053-3DBF-11AE-BB98-2A819F315A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AF02D70-3E0E-EB6A-E163-F821847392A0}"/>
              </a:ext>
            </a:extLst>
          </p:cNvPr>
          <p:cNvSpPr>
            <a:spLocks noGrp="1"/>
          </p:cNvSpPr>
          <p:nvPr>
            <p:ph type="dt" sz="half" idx="10"/>
          </p:nvPr>
        </p:nvSpPr>
        <p:spPr/>
        <p:txBody>
          <a:bodyPr/>
          <a:lstStyle/>
          <a:p>
            <a:fld id="{B90BFC27-FBB3-4951-B7B3-89FDEBD4C847}" type="datetime1">
              <a:rPr lang="vi-VN" smtClean="0"/>
              <a:t>15/04/2026</a:t>
            </a:fld>
            <a:endParaRPr lang="vi-VN"/>
          </a:p>
        </p:txBody>
      </p:sp>
      <p:sp>
        <p:nvSpPr>
          <p:cNvPr id="5" name="Footer Placeholder 4">
            <a:extLst>
              <a:ext uri="{FF2B5EF4-FFF2-40B4-BE49-F238E27FC236}">
                <a16:creationId xmlns:a16="http://schemas.microsoft.com/office/drawing/2014/main" id="{35470DB7-EC5C-C4E5-923A-AF85E4FB650F}"/>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98E11BA-08C7-E035-61E0-633DAED2C8B1}"/>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129154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1C752-EBA5-DC57-350A-3B808796D2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963F42EE-D4A7-D730-5999-B5FE8402D4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4CC9134-432E-B447-6919-D1F0EBB9917F}"/>
              </a:ext>
            </a:extLst>
          </p:cNvPr>
          <p:cNvSpPr>
            <a:spLocks noGrp="1"/>
          </p:cNvSpPr>
          <p:nvPr>
            <p:ph type="dt" sz="half" idx="10"/>
          </p:nvPr>
        </p:nvSpPr>
        <p:spPr/>
        <p:txBody>
          <a:bodyPr/>
          <a:lstStyle/>
          <a:p>
            <a:fld id="{D7112B20-08F0-46BB-872B-6AFBA6D621EB}" type="datetime1">
              <a:rPr lang="vi-VN" smtClean="0"/>
              <a:t>15/04/2026</a:t>
            </a:fld>
            <a:endParaRPr lang="vi-VN"/>
          </a:p>
        </p:txBody>
      </p:sp>
      <p:sp>
        <p:nvSpPr>
          <p:cNvPr id="5" name="Footer Placeholder 4">
            <a:extLst>
              <a:ext uri="{FF2B5EF4-FFF2-40B4-BE49-F238E27FC236}">
                <a16:creationId xmlns:a16="http://schemas.microsoft.com/office/drawing/2014/main" id="{E3925200-1D48-DAB1-750A-4528D5C7CDB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3B74A37-A5BD-1534-0F21-0024100B350F}"/>
              </a:ext>
            </a:extLst>
          </p:cNvPr>
          <p:cNvSpPr>
            <a:spLocks noGrp="1"/>
          </p:cNvSpPr>
          <p:nvPr>
            <p:ph type="sldNum" sz="quarter" idx="12"/>
          </p:nvPr>
        </p:nvSpPr>
        <p:spPr/>
        <p:txBody>
          <a:bodyPr/>
          <a:lstStyle/>
          <a:p>
            <a:fld id="{71E9F20F-1548-4258-AF1E-704D70053264}" type="slidenum">
              <a:rPr lang="vi-VN" smtClean="0"/>
              <a:t>‹#›</a:t>
            </a:fld>
            <a:endParaRPr lang="vi-VN"/>
          </a:p>
        </p:txBody>
      </p:sp>
    </p:spTree>
    <p:extLst>
      <p:ext uri="{BB962C8B-B14F-4D97-AF65-F5344CB8AC3E}">
        <p14:creationId xmlns:p14="http://schemas.microsoft.com/office/powerpoint/2010/main" val="2157533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37"/>
          <p:cNvSpPr>
            <a:spLocks noChangeArrowheads="1"/>
          </p:cNvSpPr>
          <p:nvPr userDrawn="1"/>
        </p:nvSpPr>
        <p:spPr bwMode="auto">
          <a:xfrm flipH="1">
            <a:off x="0" y="6504058"/>
            <a:ext cx="12192000" cy="353943"/>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lgn="r">
              <a:lnSpc>
                <a:spcPct val="180000"/>
              </a:lnSpc>
            </a:pPr>
            <a:endParaRPr lang="en-US" sz="1100" b="1" baseline="0">
              <a:solidFill>
                <a:srgbClr val="0070C0"/>
              </a:solidFill>
              <a:latin typeface="Times New Roman" pitchFamily="18" charset="0"/>
              <a:cs typeface="Times New Roman" pitchFamily="18" charset="0"/>
            </a:endParaRPr>
          </a:p>
        </p:txBody>
      </p:sp>
      <p:sp>
        <p:nvSpPr>
          <p:cNvPr id="12" name="Rectangle 11"/>
          <p:cNvSpPr>
            <a:spLocks noChangeArrowheads="1"/>
          </p:cNvSpPr>
          <p:nvPr userDrawn="1"/>
        </p:nvSpPr>
        <p:spPr bwMode="auto">
          <a:xfrm>
            <a:off x="0" y="0"/>
            <a:ext cx="12192000" cy="400302"/>
          </a:xfrm>
          <a:prstGeom prst="rect">
            <a:avLst/>
          </a:prstGeom>
          <a:gradFill rotWithShape="1">
            <a:gsLst>
              <a:gs pos="0">
                <a:schemeClr val="bg1"/>
              </a:gs>
              <a:gs pos="100000">
                <a:srgbClr val="FF660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endParaRPr lang="en-US" sz="1300" b="1" baseline="0">
              <a:solidFill>
                <a:srgbClr val="0070C0"/>
              </a:solidFill>
              <a:latin typeface="Cambria" panose="02040503050406030204" pitchFamily="18" charset="0"/>
              <a:cs typeface="Times New Roman" pitchFamily="18" charset="0"/>
            </a:endParaRPr>
          </a:p>
        </p:txBody>
      </p:sp>
      <p:sp>
        <p:nvSpPr>
          <p:cNvPr id="11" name="Slide Number Placeholder 5"/>
          <p:cNvSpPr>
            <a:spLocks noGrp="1"/>
          </p:cNvSpPr>
          <p:nvPr>
            <p:ph type="sldNum" sz="quarter" idx="12"/>
          </p:nvPr>
        </p:nvSpPr>
        <p:spPr>
          <a:xfrm>
            <a:off x="9347200" y="6492875"/>
            <a:ext cx="2844800" cy="365125"/>
          </a:xfrm>
        </p:spPr>
        <p:txBody>
          <a:bodyPr/>
          <a:lstStyle>
            <a:lvl1pPr>
              <a:defRPr sz="1600" b="1">
                <a:solidFill>
                  <a:srgbClr val="002060"/>
                </a:solidFill>
              </a:defRPr>
            </a:lvl1pPr>
          </a:lstStyle>
          <a:p>
            <a:fld id="{78EE6887-2290-4B81-8A6D-75BA854EF4EB}" type="slidenum">
              <a:rPr lang="en-US" smtClean="0"/>
              <a:pPr/>
              <a:t>‹#›</a:t>
            </a:fld>
            <a:endParaRPr lang="en-US"/>
          </a:p>
        </p:txBody>
      </p:sp>
    </p:spTree>
    <p:extLst>
      <p:ext uri="{BB962C8B-B14F-4D97-AF65-F5344CB8AC3E}">
        <p14:creationId xmlns:p14="http://schemas.microsoft.com/office/powerpoint/2010/main" val="270987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16DB13-8D3C-56BD-7DC1-18D7681EC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4BDAD5D-20A7-AC6C-75B2-20DDB25ECD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2D07EBA-4455-2CEF-AFD1-5C3E174B3F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FC4BE-953B-4E71-AFAE-6DCD6475D8BC}" type="datetime1">
              <a:rPr lang="vi-VN" smtClean="0"/>
              <a:t>15/04/2026</a:t>
            </a:fld>
            <a:endParaRPr lang="vi-VN"/>
          </a:p>
        </p:txBody>
      </p:sp>
      <p:sp>
        <p:nvSpPr>
          <p:cNvPr id="5" name="Footer Placeholder 4">
            <a:extLst>
              <a:ext uri="{FF2B5EF4-FFF2-40B4-BE49-F238E27FC236}">
                <a16:creationId xmlns:a16="http://schemas.microsoft.com/office/drawing/2014/main" id="{22BBC054-E480-4B3C-9823-7F5EFCDAE8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479BB0C3-DBB6-3749-094C-4D8C5034F3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E9F20F-1548-4258-AF1E-704D70053264}" type="slidenum">
              <a:rPr lang="vi-VN" smtClean="0"/>
              <a:t>‹#›</a:t>
            </a:fld>
            <a:endParaRPr lang="vi-VN"/>
          </a:p>
        </p:txBody>
      </p:sp>
    </p:spTree>
    <p:extLst>
      <p:ext uri="{BB962C8B-B14F-4D97-AF65-F5344CB8AC3E}">
        <p14:creationId xmlns:p14="http://schemas.microsoft.com/office/powerpoint/2010/main" val="9187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787A-89F2-2A0E-1C05-2583C8D801FE}"/>
            </a:ext>
          </a:extLst>
        </p:cNvPr>
        <p:cNvGrpSpPr/>
        <p:nvPr/>
      </p:nvGrpSpPr>
      <p:grpSpPr>
        <a:xfrm>
          <a:off x="0" y="0"/>
          <a:ext cx="0" cy="0"/>
          <a:chOff x="0" y="0"/>
          <a:chExt cx="0" cy="0"/>
        </a:xfrm>
      </p:grpSpPr>
      <p:sp>
        <p:nvSpPr>
          <p:cNvPr id="107" name="Title 1">
            <a:extLst>
              <a:ext uri="{FF2B5EF4-FFF2-40B4-BE49-F238E27FC236}">
                <a16:creationId xmlns:a16="http://schemas.microsoft.com/office/drawing/2014/main" id="{4590E87A-A9EC-3FD7-ACB6-08547F05539A}"/>
              </a:ext>
            </a:extLst>
          </p:cNvPr>
          <p:cNvSpPr txBox="1">
            <a:spLocks/>
          </p:cNvSpPr>
          <p:nvPr/>
        </p:nvSpPr>
        <p:spPr bwMode="auto">
          <a:xfrm>
            <a:off x="1729509" y="15240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LẬP TRÌNH JAVA</a:t>
            </a:r>
            <a:endParaRPr lang="en-US" kern="0">
              <a:solidFill>
                <a:srgbClr val="002060"/>
              </a:solidFill>
              <a:latin typeface="Cambria" panose="02040503050406030204" pitchFamily="18" charset="0"/>
            </a:endParaRPr>
          </a:p>
        </p:txBody>
      </p:sp>
      <p:pic>
        <p:nvPicPr>
          <p:cNvPr id="3" name="Picture 2" descr="Image result for java.png">
            <a:extLst>
              <a:ext uri="{FF2B5EF4-FFF2-40B4-BE49-F238E27FC236}">
                <a16:creationId xmlns:a16="http://schemas.microsoft.com/office/drawing/2014/main" id="{641F9E0D-364D-18FC-7922-9B999F87A0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219200" y="3429000"/>
            <a:ext cx="1371600" cy="24384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19C305FB-5F40-A517-DED5-F46A02B6A316}"/>
              </a:ext>
            </a:extLst>
          </p:cNvPr>
          <p:cNvSpPr txBox="1">
            <a:spLocks/>
          </p:cNvSpPr>
          <p:nvPr/>
        </p:nvSpPr>
        <p:spPr bwMode="auto">
          <a:xfrm>
            <a:off x="6096000" y="5334000"/>
            <a:ext cx="6172200" cy="357678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0" indent="0" algn="just">
              <a:buClr>
                <a:srgbClr val="3DC5C5"/>
              </a:buClr>
              <a:buNone/>
              <a:defRPr/>
            </a:pPr>
            <a:r>
              <a:rPr lang="vi-VN" kern="0">
                <a:solidFill>
                  <a:srgbClr val="002060"/>
                </a:solidFill>
                <a:latin typeface="Cambria" panose="02040503050406030204" pitchFamily="18" charset="0"/>
              </a:rPr>
              <a:t>Giảng viên: ThS Huỳnh Vĩnh Phát</a:t>
            </a:r>
          </a:p>
          <a:p>
            <a:pPr marL="0" lvl="0" indent="0" algn="just">
              <a:buClr>
                <a:srgbClr val="3DC5C5"/>
              </a:buClr>
              <a:buNone/>
              <a:defRPr/>
            </a:pPr>
            <a:r>
              <a:rPr lang="vi-VN" kern="0">
                <a:solidFill>
                  <a:srgbClr val="002060"/>
                </a:solidFill>
                <a:latin typeface="Cambria" panose="02040503050406030204" pitchFamily="18" charset="0"/>
              </a:rPr>
              <a:t>Biên soạn: TS Trần Duy Thanh</a:t>
            </a:r>
            <a:endParaRPr lang="en-US" kern="0" dirty="0">
              <a:solidFill>
                <a:srgbClr val="002060"/>
              </a:solidFill>
              <a:latin typeface="Cambria" panose="02040503050406030204" pitchFamily="18" charset="0"/>
            </a:endParaRPr>
          </a:p>
        </p:txBody>
      </p:sp>
      <p:sp>
        <p:nvSpPr>
          <p:cNvPr id="2" name="Slide Number Placeholder 1">
            <a:extLst>
              <a:ext uri="{FF2B5EF4-FFF2-40B4-BE49-F238E27FC236}">
                <a16:creationId xmlns:a16="http://schemas.microsoft.com/office/drawing/2014/main" id="{74EF11D3-FC96-F656-EB56-983A5345DC9C}"/>
              </a:ext>
            </a:extLst>
          </p:cNvPr>
          <p:cNvSpPr>
            <a:spLocks noGrp="1"/>
          </p:cNvSpPr>
          <p:nvPr>
            <p:ph type="sldNum" sz="quarter" idx="12"/>
          </p:nvPr>
        </p:nvSpPr>
        <p:spPr/>
        <p:txBody>
          <a:bodyPr/>
          <a:lstStyle/>
          <a:p>
            <a:fld id="{78EE6887-2290-4B81-8A6D-75BA854EF4EB}" type="slidenum">
              <a:rPr lang="en-US" smtClean="0"/>
              <a:pPr/>
              <a:t>1</a:t>
            </a:fld>
            <a:endParaRPr lang="en-US"/>
          </a:p>
        </p:txBody>
      </p:sp>
    </p:spTree>
    <p:extLst>
      <p:ext uri="{BB962C8B-B14F-4D97-AF65-F5344CB8AC3E}">
        <p14:creationId xmlns:p14="http://schemas.microsoft.com/office/powerpoint/2010/main" val="4215983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Giới thiệu </a:t>
            </a:r>
            <a:endParaRPr lang="en-US" kern="0">
              <a:solidFill>
                <a:srgbClr val="002060"/>
              </a:solidFill>
              <a:latin typeface="Cambria" panose="02040503050406030204" pitchFamily="18" charset="0"/>
            </a:endParaRPr>
          </a:p>
          <a:p>
            <a:pPr lvl="0">
              <a:defRPr/>
            </a:pPr>
            <a:r>
              <a:rPr lang="en-US" kern="0">
                <a:solidFill>
                  <a:srgbClr val="002060"/>
                </a:solidFill>
                <a:latin typeface="Cambria" panose="02040503050406030204" pitchFamily="18" charset="0"/>
              </a:rPr>
              <a:t>N</a:t>
            </a:r>
            <a:r>
              <a:rPr lang="vi-VN" kern="0">
                <a:solidFill>
                  <a:srgbClr val="002060"/>
                </a:solidFill>
                <a:latin typeface="Cambria" panose="02040503050406030204" pitchFamily="18" charset="0"/>
              </a:rPr>
              <a:t>gôn ngữ lập trình java </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2A9BDDB-70B4-83A9-78D2-26AC9AE5E24A}"/>
              </a:ext>
            </a:extLst>
          </p:cNvPr>
          <p:cNvSpPr>
            <a:spLocks noGrp="1"/>
          </p:cNvSpPr>
          <p:nvPr>
            <p:ph type="sldNum" sz="quarter" idx="12"/>
          </p:nvPr>
        </p:nvSpPr>
        <p:spPr/>
        <p:txBody>
          <a:bodyPr/>
          <a:lstStyle/>
          <a:p>
            <a:fld id="{78EE6887-2290-4B81-8A6D-75BA854EF4EB}" type="slidenum">
              <a:rPr lang="en-US" smtClean="0"/>
              <a:pPr/>
              <a:t>2</a:t>
            </a:fld>
            <a:endParaRPr lang="en-US"/>
          </a:p>
        </p:txBody>
      </p:sp>
    </p:spTree>
    <p:extLst>
      <p:ext uri="{BB962C8B-B14F-4D97-AF65-F5344CB8AC3E}">
        <p14:creationId xmlns:p14="http://schemas.microsoft.com/office/powerpoint/2010/main" val="138145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Lịch sử ra đời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1992314" y="1066801"/>
            <a:ext cx="792003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5000"/>
              </a:lnSpc>
              <a:spcBef>
                <a:spcPct val="125000"/>
              </a:spcBef>
              <a:spcAft>
                <a:spcPct val="0"/>
              </a:spcAft>
              <a:buClr>
                <a:schemeClr val="tx2"/>
              </a:buClr>
              <a:buSzPct val="90000"/>
              <a:buFont typeface="Wingdings" pitchFamily="2" charset="2"/>
              <a:buChar char="q"/>
              <a:defRPr sz="3200" b="1">
                <a:solidFill>
                  <a:srgbClr val="333399"/>
                </a:solidFill>
                <a:latin typeface="+mn-lt"/>
                <a:ea typeface="+mn-ea"/>
                <a:cs typeface="+mn-cs"/>
              </a:defRPr>
            </a:lvl1pPr>
            <a:lvl2pPr marL="692150" indent="-234950" algn="l" rtl="0" eaLnBrk="0" fontAlgn="base" hangingPunct="0">
              <a:lnSpc>
                <a:spcPct val="125000"/>
              </a:lnSpc>
              <a:spcBef>
                <a:spcPct val="25000"/>
              </a:spcBef>
              <a:spcAft>
                <a:spcPct val="0"/>
              </a:spcAft>
              <a:buClr>
                <a:srgbClr val="333399"/>
              </a:buClr>
              <a:buFont typeface="Times New Roman" panose="02020603050405020304" pitchFamily="18" charset="0"/>
              <a:buChar char="●"/>
              <a:defRPr sz="2800">
                <a:solidFill>
                  <a:srgbClr val="333399"/>
                </a:solidFill>
                <a:latin typeface="+mn-lt"/>
              </a:defRPr>
            </a:lvl2pPr>
            <a:lvl3pPr marL="987425" indent="-180975" algn="l" rtl="0" eaLnBrk="0" fontAlgn="base" hangingPunct="0">
              <a:lnSpc>
                <a:spcPct val="125000"/>
              </a:lnSpc>
              <a:spcBef>
                <a:spcPct val="25000"/>
              </a:spcBef>
              <a:spcAft>
                <a:spcPct val="0"/>
              </a:spcAft>
              <a:buClr>
                <a:schemeClr val="accent2"/>
              </a:buClr>
              <a:buFont typeface="Wingdings" panose="05000000000000000000" pitchFamily="2" charset="2"/>
              <a:buChar char="§"/>
              <a:defRPr sz="2400">
                <a:solidFill>
                  <a:srgbClr val="3366FF"/>
                </a:solidFill>
                <a:latin typeface="+mn-lt"/>
              </a:defRPr>
            </a:lvl3pPr>
            <a:lvl4pPr marL="1281113" indent="-179388"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20320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a:lstStyle>
          <a:p>
            <a:pPr algn="just">
              <a:lnSpc>
                <a:spcPct val="150000"/>
              </a:lnSpc>
              <a:spcBef>
                <a:spcPts val="600"/>
              </a:spcBef>
              <a:spcAft>
                <a:spcPts val="600"/>
              </a:spcAft>
            </a:pPr>
            <a:r>
              <a:rPr lang="en-US" altLang="en-US" sz="2800" kern="0">
                <a:latin typeface="Cambria" panose="02040503050406030204" pitchFamily="18" charset="0"/>
                <a:cs typeface="Tahoma" panose="020B0604030504040204" pitchFamily="34" charset="0"/>
              </a:rPr>
              <a:t>Ngôn ngữ lập trình Java do hãng Sun Microsystem xây dựng và phát triển.</a:t>
            </a:r>
          </a:p>
          <a:p>
            <a:pPr algn="just">
              <a:lnSpc>
                <a:spcPct val="150000"/>
              </a:lnSpc>
              <a:spcBef>
                <a:spcPts val="600"/>
              </a:spcBef>
              <a:spcAft>
                <a:spcPts val="600"/>
              </a:spcAft>
            </a:pPr>
            <a:r>
              <a:rPr lang="en-US" altLang="en-US" sz="2800" kern="0">
                <a:latin typeface="Cambria" panose="02040503050406030204" pitchFamily="18" charset="0"/>
                <a:cs typeface="Tahoma" panose="020B0604030504040204" pitchFamily="34" charset="0"/>
              </a:rPr>
              <a:t>Java được xây dựng dựa trên ngôn ngữ C và C++</a:t>
            </a:r>
          </a:p>
          <a:p>
            <a:pPr algn="just">
              <a:lnSpc>
                <a:spcPct val="150000"/>
              </a:lnSpc>
              <a:spcBef>
                <a:spcPts val="600"/>
              </a:spcBef>
              <a:spcAft>
                <a:spcPts val="600"/>
              </a:spcAft>
            </a:pPr>
            <a:r>
              <a:rPr lang="en-US" altLang="en-US" sz="2800" kern="0">
                <a:latin typeface="Cambria" panose="02040503050406030204" pitchFamily="18" charset="0"/>
                <a:cs typeface="Tahoma" panose="020B0604030504040204" pitchFamily="34" charset="0"/>
              </a:rPr>
              <a:t>Java là ngôn ngữ lập trình hướng đối tượng và độc lập nền tảng</a:t>
            </a:r>
          </a:p>
        </p:txBody>
      </p:sp>
      <p:sp>
        <p:nvSpPr>
          <p:cNvPr id="8" name="Slide Number Placeholder 7">
            <a:extLst>
              <a:ext uri="{FF2B5EF4-FFF2-40B4-BE49-F238E27FC236}">
                <a16:creationId xmlns:a16="http://schemas.microsoft.com/office/drawing/2014/main" id="{C1C9B8A7-A7C5-8F83-32E4-56E33E72DF67}"/>
              </a:ext>
            </a:extLst>
          </p:cNvPr>
          <p:cNvSpPr>
            <a:spLocks noGrp="1"/>
          </p:cNvSpPr>
          <p:nvPr>
            <p:ph type="sldNum" sz="quarter" idx="12"/>
          </p:nvPr>
        </p:nvSpPr>
        <p:spPr/>
        <p:txBody>
          <a:bodyPr/>
          <a:lstStyle/>
          <a:p>
            <a:fld id="{78EE6887-2290-4B81-8A6D-75BA854EF4EB}" type="slidenum">
              <a:rPr lang="en-US" smtClean="0"/>
              <a:pPr/>
              <a:t>3</a:t>
            </a:fld>
            <a:endParaRPr lang="en-US"/>
          </a:p>
        </p:txBody>
      </p:sp>
    </p:spTree>
    <p:extLst>
      <p:ext uri="{BB962C8B-B14F-4D97-AF65-F5344CB8AC3E}">
        <p14:creationId xmlns:p14="http://schemas.microsoft.com/office/powerpoint/2010/main" val="1951435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Lịch sử ra đời</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p:cNvGraphicFramePr>
            <a:graphicFrameLocks noGrp="1"/>
          </p:cNvGraphicFramePr>
          <p:nvPr>
            <p:extLst>
              <p:ext uri="{D42A27DB-BD31-4B8C-83A1-F6EECF244321}">
                <p14:modId xmlns:p14="http://schemas.microsoft.com/office/powerpoint/2010/main" val="2488898909"/>
              </p:ext>
            </p:extLst>
          </p:nvPr>
        </p:nvGraphicFramePr>
        <p:xfrm>
          <a:off x="2029776" y="1094537"/>
          <a:ext cx="8229600" cy="5382468"/>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48539">
                <a:tc>
                  <a:txBody>
                    <a:bodyPr/>
                    <a:lstStyle/>
                    <a:p>
                      <a:pPr algn="ctr"/>
                      <a:r>
                        <a:rPr lang="en-US" sz="2000">
                          <a:effectLst/>
                          <a:latin typeface="Cambria" panose="02040503050406030204" pitchFamily="18" charset="0"/>
                        </a:rPr>
                        <a:t>Release</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US" sz="2000">
                          <a:effectLst/>
                          <a:latin typeface="Cambria" panose="02040503050406030204" pitchFamily="18" charset="0"/>
                        </a:rPr>
                        <a:t>Year</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48539">
                <a:tc>
                  <a:txBody>
                    <a:bodyPr/>
                    <a:lstStyle/>
                    <a:p>
                      <a:r>
                        <a:rPr lang="en-US" sz="2000">
                          <a:effectLst/>
                          <a:latin typeface="Cambria" panose="02040503050406030204" pitchFamily="18" charset="0"/>
                        </a:rPr>
                        <a:t>JDK Beta</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1994</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448539">
                <a:tc>
                  <a:txBody>
                    <a:bodyPr/>
                    <a:lstStyle/>
                    <a:p>
                      <a:r>
                        <a:rPr lang="en-US" sz="2000">
                          <a:effectLst/>
                          <a:latin typeface="Cambria" panose="02040503050406030204" pitchFamily="18" charset="0"/>
                        </a:rPr>
                        <a:t>JDK 1.0</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1996</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448539">
                <a:tc>
                  <a:txBody>
                    <a:bodyPr/>
                    <a:lstStyle/>
                    <a:p>
                      <a:r>
                        <a:rPr lang="en-US" sz="2000">
                          <a:effectLst/>
                          <a:latin typeface="Cambria" panose="02040503050406030204" pitchFamily="18" charset="0"/>
                        </a:rPr>
                        <a:t>JDK 1.1</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1997</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448539">
                <a:tc>
                  <a:txBody>
                    <a:bodyPr/>
                    <a:lstStyle/>
                    <a:p>
                      <a:r>
                        <a:rPr lang="en-US" sz="2000">
                          <a:effectLst/>
                          <a:latin typeface="Cambria" panose="02040503050406030204" pitchFamily="18" charset="0"/>
                        </a:rPr>
                        <a:t>J2SE 1.2</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1998</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448539">
                <a:tc>
                  <a:txBody>
                    <a:bodyPr/>
                    <a:lstStyle/>
                    <a:p>
                      <a:r>
                        <a:rPr lang="en-US" sz="2000">
                          <a:effectLst/>
                          <a:latin typeface="Cambria" panose="02040503050406030204" pitchFamily="18" charset="0"/>
                        </a:rPr>
                        <a:t>J2SE 1.3</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2000</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r h="448539">
                <a:tc>
                  <a:txBody>
                    <a:bodyPr/>
                    <a:lstStyle/>
                    <a:p>
                      <a:r>
                        <a:rPr lang="en-US" sz="2000">
                          <a:effectLst/>
                          <a:latin typeface="Cambria" panose="02040503050406030204" pitchFamily="18" charset="0"/>
                        </a:rPr>
                        <a:t>J2SE 1.4</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2002</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6"/>
                  </a:ext>
                </a:extLst>
              </a:tr>
              <a:tr h="448539">
                <a:tc>
                  <a:txBody>
                    <a:bodyPr/>
                    <a:lstStyle/>
                    <a:p>
                      <a:r>
                        <a:rPr lang="en-US" sz="2000">
                          <a:effectLst/>
                          <a:latin typeface="Cambria" panose="02040503050406030204" pitchFamily="18" charset="0"/>
                        </a:rPr>
                        <a:t>J2SE 5.0</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2005</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7"/>
                  </a:ext>
                </a:extLst>
              </a:tr>
              <a:tr h="448539">
                <a:tc>
                  <a:txBody>
                    <a:bodyPr/>
                    <a:lstStyle/>
                    <a:p>
                      <a:r>
                        <a:rPr lang="en-US" sz="2000">
                          <a:effectLst/>
                          <a:latin typeface="Cambria" panose="02040503050406030204" pitchFamily="18" charset="0"/>
                        </a:rPr>
                        <a:t>Java SE 6</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2006</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8"/>
                  </a:ext>
                </a:extLst>
              </a:tr>
              <a:tr h="448539">
                <a:tc>
                  <a:txBody>
                    <a:bodyPr/>
                    <a:lstStyle/>
                    <a:p>
                      <a:r>
                        <a:rPr lang="en-US" sz="2000">
                          <a:effectLst/>
                          <a:latin typeface="Cambria" panose="02040503050406030204" pitchFamily="18" charset="0"/>
                        </a:rPr>
                        <a:t>Java SE 7</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2011</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9"/>
                  </a:ext>
                </a:extLst>
              </a:tr>
              <a:tr h="448539">
                <a:tc>
                  <a:txBody>
                    <a:bodyPr/>
                    <a:lstStyle/>
                    <a:p>
                      <a:r>
                        <a:rPr lang="en-US" sz="2000">
                          <a:effectLst/>
                          <a:latin typeface="Cambria" panose="02040503050406030204" pitchFamily="18" charset="0"/>
                        </a:rPr>
                        <a:t>Java SE 8</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2014</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10"/>
                  </a:ext>
                </a:extLst>
              </a:tr>
              <a:tr h="4485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effectLst/>
                          <a:latin typeface="Cambria" panose="02040503050406030204" pitchFamily="18" charset="0"/>
                        </a:rPr>
                        <a:t>Java SE 9 - 26</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US" sz="2000">
                          <a:effectLst/>
                          <a:latin typeface="Cambria" panose="02040503050406030204" pitchFamily="18" charset="0"/>
                        </a:rPr>
                        <a:t>2015-2026</a:t>
                      </a:r>
                    </a:p>
                  </a:txBody>
                  <a:tcPr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3270350932"/>
                  </a:ext>
                </a:extLst>
              </a:tr>
            </a:tbl>
          </a:graphicData>
        </a:graphic>
      </p:graphicFrame>
      <p:sp>
        <p:nvSpPr>
          <p:cNvPr id="9" name="Slide Number Placeholder 8">
            <a:extLst>
              <a:ext uri="{FF2B5EF4-FFF2-40B4-BE49-F238E27FC236}">
                <a16:creationId xmlns:a16="http://schemas.microsoft.com/office/drawing/2014/main" id="{83352AEB-D692-2F54-A0F9-1C593A460D6C}"/>
              </a:ext>
            </a:extLst>
          </p:cNvPr>
          <p:cNvSpPr>
            <a:spLocks noGrp="1"/>
          </p:cNvSpPr>
          <p:nvPr>
            <p:ph type="sldNum" sz="quarter" idx="12"/>
          </p:nvPr>
        </p:nvSpPr>
        <p:spPr/>
        <p:txBody>
          <a:bodyPr/>
          <a:lstStyle/>
          <a:p>
            <a:fld id="{78EE6887-2290-4B81-8A6D-75BA854EF4EB}" type="slidenum">
              <a:rPr lang="en-US" smtClean="0"/>
              <a:pPr/>
              <a:t>4</a:t>
            </a:fld>
            <a:endParaRPr lang="en-US"/>
          </a:p>
        </p:txBody>
      </p:sp>
    </p:spTree>
    <p:extLst>
      <p:ext uri="{BB962C8B-B14F-4D97-AF65-F5344CB8AC3E}">
        <p14:creationId xmlns:p14="http://schemas.microsoft.com/office/powerpoint/2010/main" val="789919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91200" cy="508000"/>
            <a:chOff x="789624" y="1191463"/>
            <a:chExt cx="5791200" cy="508000"/>
          </a:xfrm>
        </p:grpSpPr>
        <p:sp>
          <p:nvSpPr>
            <p:cNvPr id="3" name="AutoShape 52"/>
            <p:cNvSpPr>
              <a:spLocks noChangeArrowheads="1"/>
            </p:cNvSpPr>
            <p:nvPr/>
          </p:nvSpPr>
          <p:spPr bwMode="gray">
            <a:xfrm>
              <a:off x="990600" y="1191463"/>
              <a:ext cx="5590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 đặc trưng điểm mạnh của Java</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1992314" y="990601"/>
            <a:ext cx="792003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5000"/>
              </a:lnSpc>
              <a:spcBef>
                <a:spcPct val="125000"/>
              </a:spcBef>
              <a:spcAft>
                <a:spcPct val="0"/>
              </a:spcAft>
              <a:buClr>
                <a:schemeClr val="tx2"/>
              </a:buClr>
              <a:buSzPct val="90000"/>
              <a:buFont typeface="Wingdings" pitchFamily="2" charset="2"/>
              <a:buChar char="q"/>
              <a:defRPr sz="3200" b="1">
                <a:solidFill>
                  <a:srgbClr val="333399"/>
                </a:solidFill>
                <a:latin typeface="+mn-lt"/>
                <a:ea typeface="+mn-ea"/>
                <a:cs typeface="+mn-cs"/>
              </a:defRPr>
            </a:lvl1pPr>
            <a:lvl2pPr marL="692150" indent="-234950" algn="l" rtl="0" eaLnBrk="0" fontAlgn="base" hangingPunct="0">
              <a:lnSpc>
                <a:spcPct val="125000"/>
              </a:lnSpc>
              <a:spcBef>
                <a:spcPct val="25000"/>
              </a:spcBef>
              <a:spcAft>
                <a:spcPct val="0"/>
              </a:spcAft>
              <a:buClr>
                <a:srgbClr val="333399"/>
              </a:buClr>
              <a:buFont typeface="Times New Roman" panose="02020603050405020304" pitchFamily="18" charset="0"/>
              <a:buChar char="●"/>
              <a:defRPr sz="2800">
                <a:solidFill>
                  <a:srgbClr val="333399"/>
                </a:solidFill>
                <a:latin typeface="+mn-lt"/>
              </a:defRPr>
            </a:lvl2pPr>
            <a:lvl3pPr marL="987425" indent="-180975" algn="l" rtl="0" eaLnBrk="0" fontAlgn="base" hangingPunct="0">
              <a:lnSpc>
                <a:spcPct val="125000"/>
              </a:lnSpc>
              <a:spcBef>
                <a:spcPct val="25000"/>
              </a:spcBef>
              <a:spcAft>
                <a:spcPct val="0"/>
              </a:spcAft>
              <a:buClr>
                <a:schemeClr val="accent2"/>
              </a:buClr>
              <a:buFont typeface="Wingdings" panose="05000000000000000000" pitchFamily="2" charset="2"/>
              <a:buChar char="§"/>
              <a:defRPr sz="2400">
                <a:solidFill>
                  <a:srgbClr val="3366FF"/>
                </a:solidFill>
                <a:latin typeface="+mn-lt"/>
              </a:defRPr>
            </a:lvl3pPr>
            <a:lvl4pPr marL="1281113" indent="-179388"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20320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a:lstStyle>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Hướng đối tượng</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Độc lập nền tảng</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Mạnh mẽ</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An toàn</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Phân tán</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Đa luồng</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Động</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Kiến trúc trung lập</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Khả  chuyển</a:t>
            </a:r>
          </a:p>
          <a:p>
            <a:pPr marL="685800" algn="just">
              <a:lnSpc>
                <a:spcPct val="150000"/>
              </a:lnSpc>
              <a:spcBef>
                <a:spcPct val="0"/>
              </a:spcBef>
            </a:pPr>
            <a:r>
              <a:rPr lang="en-US" altLang="en-US" sz="2400" kern="0">
                <a:latin typeface="Cambria" panose="02040503050406030204" pitchFamily="18" charset="0"/>
                <a:cs typeface="Tahoma" panose="020B0604030504040204" pitchFamily="34" charset="0"/>
              </a:rPr>
              <a:t>Hiệu suất cao</a:t>
            </a:r>
          </a:p>
        </p:txBody>
      </p:sp>
      <p:sp>
        <p:nvSpPr>
          <p:cNvPr id="8" name="Slide Number Placeholder 7">
            <a:extLst>
              <a:ext uri="{FF2B5EF4-FFF2-40B4-BE49-F238E27FC236}">
                <a16:creationId xmlns:a16="http://schemas.microsoft.com/office/drawing/2014/main" id="{D188C042-179B-BC73-88E3-EA1B95304008}"/>
              </a:ext>
            </a:extLst>
          </p:cNvPr>
          <p:cNvSpPr>
            <a:spLocks noGrp="1"/>
          </p:cNvSpPr>
          <p:nvPr>
            <p:ph type="sldNum" sz="quarter" idx="12"/>
          </p:nvPr>
        </p:nvSpPr>
        <p:spPr/>
        <p:txBody>
          <a:bodyPr/>
          <a:lstStyle/>
          <a:p>
            <a:fld id="{78EE6887-2290-4B81-8A6D-75BA854EF4EB}" type="slidenum">
              <a:rPr lang="en-US" smtClean="0"/>
              <a:pPr/>
              <a:t>5</a:t>
            </a:fld>
            <a:endParaRPr lang="en-US"/>
          </a:p>
        </p:txBody>
      </p:sp>
    </p:spTree>
    <p:extLst>
      <p:ext uri="{BB962C8B-B14F-4D97-AF65-F5344CB8AC3E}">
        <p14:creationId xmlns:p14="http://schemas.microsoft.com/office/powerpoint/2010/main" val="2792969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029200" cy="508000"/>
            <a:chOff x="789624" y="1191463"/>
            <a:chExt cx="5029200" cy="508000"/>
          </a:xfrm>
        </p:grpSpPr>
        <p:sp>
          <p:nvSpPr>
            <p:cNvPr id="3" name="AutoShape 52"/>
            <p:cNvSpPr>
              <a:spLocks noChangeArrowheads="1"/>
            </p:cNvSpPr>
            <p:nvPr/>
          </p:nvSpPr>
          <p:spPr bwMode="gray">
            <a:xfrm>
              <a:off x="990600" y="1191463"/>
              <a:ext cx="4828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Tại sao nên lập trình Java</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Content Placeholder 2"/>
          <p:cNvSpPr txBox="1">
            <a:spLocks/>
          </p:cNvSpPr>
          <p:nvPr/>
        </p:nvSpPr>
        <p:spPr bwMode="auto">
          <a:xfrm>
            <a:off x="277949" y="2454202"/>
            <a:ext cx="4711544" cy="2601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5000"/>
              </a:lnSpc>
              <a:spcBef>
                <a:spcPct val="125000"/>
              </a:spcBef>
              <a:spcAft>
                <a:spcPct val="0"/>
              </a:spcAft>
              <a:buClr>
                <a:schemeClr val="tx2"/>
              </a:buClr>
              <a:buSzPct val="90000"/>
              <a:buFont typeface="Wingdings" pitchFamily="2" charset="2"/>
              <a:buChar char="q"/>
              <a:defRPr sz="3200" b="1">
                <a:solidFill>
                  <a:srgbClr val="333399"/>
                </a:solidFill>
                <a:latin typeface="+mn-lt"/>
                <a:ea typeface="+mn-ea"/>
                <a:cs typeface="+mn-cs"/>
              </a:defRPr>
            </a:lvl1pPr>
            <a:lvl2pPr marL="692150" indent="-234950" algn="l" rtl="0" eaLnBrk="0" fontAlgn="base" hangingPunct="0">
              <a:lnSpc>
                <a:spcPct val="125000"/>
              </a:lnSpc>
              <a:spcBef>
                <a:spcPct val="25000"/>
              </a:spcBef>
              <a:spcAft>
                <a:spcPct val="0"/>
              </a:spcAft>
              <a:buClr>
                <a:srgbClr val="333399"/>
              </a:buClr>
              <a:buFont typeface="Times New Roman" panose="02020603050405020304" pitchFamily="18" charset="0"/>
              <a:buChar char="●"/>
              <a:defRPr sz="2800">
                <a:solidFill>
                  <a:srgbClr val="333399"/>
                </a:solidFill>
                <a:latin typeface="+mn-lt"/>
              </a:defRPr>
            </a:lvl2pPr>
            <a:lvl3pPr marL="987425" indent="-180975" algn="l" rtl="0" eaLnBrk="0" fontAlgn="base" hangingPunct="0">
              <a:lnSpc>
                <a:spcPct val="125000"/>
              </a:lnSpc>
              <a:spcBef>
                <a:spcPct val="25000"/>
              </a:spcBef>
              <a:spcAft>
                <a:spcPct val="0"/>
              </a:spcAft>
              <a:buClr>
                <a:schemeClr val="accent2"/>
              </a:buClr>
              <a:buFont typeface="Wingdings" panose="05000000000000000000" pitchFamily="2" charset="2"/>
              <a:buChar char="§"/>
              <a:defRPr sz="2400">
                <a:solidFill>
                  <a:srgbClr val="3366FF"/>
                </a:solidFill>
                <a:latin typeface="+mn-lt"/>
              </a:defRPr>
            </a:lvl3pPr>
            <a:lvl4pPr marL="1281113" indent="-179388"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20320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a:lstStyle>
          <a:p>
            <a:pPr marL="685800" algn="just">
              <a:lnSpc>
                <a:spcPct val="150000"/>
              </a:lnSpc>
              <a:spcBef>
                <a:spcPct val="0"/>
              </a:spcBef>
            </a:pPr>
            <a:r>
              <a:rPr lang="en-US" altLang="en-US" sz="1800" kern="0">
                <a:latin typeface="Cambria" panose="02040503050406030204" pitchFamily="18" charset="0"/>
                <a:cs typeface="Tahoma" panose="020B0604030504040204" pitchFamily="34" charset="0"/>
              </a:rPr>
              <a:t>Viết một lần sài mọi nền tảng</a:t>
            </a:r>
          </a:p>
          <a:p>
            <a:pPr marL="685800" algn="just">
              <a:lnSpc>
                <a:spcPct val="150000"/>
              </a:lnSpc>
              <a:spcBef>
                <a:spcPct val="0"/>
              </a:spcBef>
            </a:pPr>
            <a:r>
              <a:rPr lang="en-US" altLang="en-US" sz="1800" kern="0">
                <a:latin typeface="Cambria" panose="02040503050406030204" pitchFamily="18" charset="0"/>
                <a:cs typeface="Tahoma" panose="020B0604030504040204" pitchFamily="34" charset="0"/>
              </a:rPr>
              <a:t>Cộng đồng hỗ trợ Java khổng lồ</a:t>
            </a:r>
          </a:p>
          <a:p>
            <a:pPr marL="685800" algn="just">
              <a:lnSpc>
                <a:spcPct val="150000"/>
              </a:lnSpc>
              <a:spcBef>
                <a:spcPct val="0"/>
              </a:spcBef>
            </a:pPr>
            <a:r>
              <a:rPr lang="en-US" altLang="en-US" sz="1800" kern="0">
                <a:latin typeface="Cambria" panose="02040503050406030204" pitchFamily="18" charset="0"/>
                <a:cs typeface="Tahoma" panose="020B0604030504040204" pitchFamily="34" charset="0"/>
              </a:rPr>
              <a:t>Nhu cầu tuyển dụng rất nhiều</a:t>
            </a:r>
          </a:p>
          <a:p>
            <a:pPr marL="685800" algn="just">
              <a:lnSpc>
                <a:spcPct val="150000"/>
              </a:lnSpc>
              <a:spcBef>
                <a:spcPct val="0"/>
              </a:spcBef>
            </a:pPr>
            <a:r>
              <a:rPr lang="en-US" altLang="en-US" sz="1800" kern="0">
                <a:latin typeface="Cambria" panose="02040503050406030204" pitchFamily="18" charset="0"/>
                <a:cs typeface="Tahoma" panose="020B0604030504040204" pitchFamily="34" charset="0"/>
              </a:rPr>
              <a:t>Ngôn ngữ lập trình cho Android đã nổi tiếng</a:t>
            </a:r>
          </a:p>
        </p:txBody>
      </p:sp>
      <p:pic>
        <p:nvPicPr>
          <p:cNvPr id="9" name="Picture 8">
            <a:extLst>
              <a:ext uri="{FF2B5EF4-FFF2-40B4-BE49-F238E27FC236}">
                <a16:creationId xmlns:a16="http://schemas.microsoft.com/office/drawing/2014/main" id="{5A26C671-897F-E977-6AF9-43FAAC6C568A}"/>
              </a:ext>
            </a:extLst>
          </p:cNvPr>
          <p:cNvPicPr>
            <a:picLocks noChangeAspect="1"/>
          </p:cNvPicPr>
          <p:nvPr/>
        </p:nvPicPr>
        <p:blipFill>
          <a:blip r:embed="rId2"/>
          <a:stretch>
            <a:fillRect/>
          </a:stretch>
        </p:blipFill>
        <p:spPr>
          <a:xfrm>
            <a:off x="5389259" y="1951447"/>
            <a:ext cx="6524792" cy="3607015"/>
          </a:xfrm>
          <a:prstGeom prst="rect">
            <a:avLst/>
          </a:prstGeom>
        </p:spPr>
      </p:pic>
      <p:pic>
        <p:nvPicPr>
          <p:cNvPr id="12" name="Picture 11">
            <a:extLst>
              <a:ext uri="{FF2B5EF4-FFF2-40B4-BE49-F238E27FC236}">
                <a16:creationId xmlns:a16="http://schemas.microsoft.com/office/drawing/2014/main" id="{7BED8B32-C351-2350-006E-43277ADCB203}"/>
              </a:ext>
            </a:extLst>
          </p:cNvPr>
          <p:cNvPicPr>
            <a:picLocks noChangeAspect="1"/>
          </p:cNvPicPr>
          <p:nvPr/>
        </p:nvPicPr>
        <p:blipFill>
          <a:blip r:embed="rId3"/>
          <a:stretch>
            <a:fillRect/>
          </a:stretch>
        </p:blipFill>
        <p:spPr>
          <a:xfrm>
            <a:off x="5389259" y="1532289"/>
            <a:ext cx="6524792" cy="419158"/>
          </a:xfrm>
          <a:prstGeom prst="rect">
            <a:avLst/>
          </a:prstGeom>
        </p:spPr>
      </p:pic>
      <p:sp>
        <p:nvSpPr>
          <p:cNvPr id="8" name="Slide Number Placeholder 7">
            <a:extLst>
              <a:ext uri="{FF2B5EF4-FFF2-40B4-BE49-F238E27FC236}">
                <a16:creationId xmlns:a16="http://schemas.microsoft.com/office/drawing/2014/main" id="{3A7D32A0-6000-93FB-7A48-424089F01570}"/>
              </a:ext>
            </a:extLst>
          </p:cNvPr>
          <p:cNvSpPr>
            <a:spLocks noGrp="1"/>
          </p:cNvSpPr>
          <p:nvPr>
            <p:ph type="sldNum" sz="quarter" idx="12"/>
          </p:nvPr>
        </p:nvSpPr>
        <p:spPr/>
        <p:txBody>
          <a:bodyPr/>
          <a:lstStyle/>
          <a:p>
            <a:fld id="{78EE6887-2290-4B81-8A6D-75BA854EF4EB}" type="slidenum">
              <a:rPr lang="en-US" smtClean="0"/>
              <a:pPr/>
              <a:t>6</a:t>
            </a:fld>
            <a:endParaRPr lang="en-US"/>
          </a:p>
        </p:txBody>
      </p:sp>
    </p:spTree>
    <p:extLst>
      <p:ext uri="{BB962C8B-B14F-4D97-AF65-F5344CB8AC3E}">
        <p14:creationId xmlns:p14="http://schemas.microsoft.com/office/powerpoint/2010/main" val="3595368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JVM - Java Virtual Machine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2029777" y="1006523"/>
            <a:ext cx="792003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lnSpc>
                <a:spcPct val="125000"/>
              </a:lnSpc>
              <a:spcBef>
                <a:spcPct val="125000"/>
              </a:spcBef>
              <a:spcAft>
                <a:spcPct val="0"/>
              </a:spcAft>
              <a:buClr>
                <a:schemeClr val="tx2"/>
              </a:buClr>
              <a:buSzPct val="90000"/>
              <a:buFont typeface="Wingdings" pitchFamily="2" charset="2"/>
              <a:buChar char="q"/>
              <a:defRPr sz="3200" b="1">
                <a:solidFill>
                  <a:srgbClr val="333399"/>
                </a:solidFill>
                <a:latin typeface="+mn-lt"/>
                <a:ea typeface="+mn-ea"/>
                <a:cs typeface="+mn-cs"/>
              </a:defRPr>
            </a:lvl1pPr>
            <a:lvl2pPr marL="692150" indent="-234950" algn="l" rtl="0" eaLnBrk="0" fontAlgn="base" hangingPunct="0">
              <a:lnSpc>
                <a:spcPct val="125000"/>
              </a:lnSpc>
              <a:spcBef>
                <a:spcPct val="25000"/>
              </a:spcBef>
              <a:spcAft>
                <a:spcPct val="0"/>
              </a:spcAft>
              <a:buClr>
                <a:srgbClr val="333399"/>
              </a:buClr>
              <a:buFont typeface="Times New Roman" panose="02020603050405020304" pitchFamily="18" charset="0"/>
              <a:buChar char="●"/>
              <a:defRPr sz="2800">
                <a:solidFill>
                  <a:srgbClr val="333399"/>
                </a:solidFill>
                <a:latin typeface="+mn-lt"/>
              </a:defRPr>
            </a:lvl2pPr>
            <a:lvl3pPr marL="987425" indent="-180975" algn="l" rtl="0" eaLnBrk="0" fontAlgn="base" hangingPunct="0">
              <a:lnSpc>
                <a:spcPct val="125000"/>
              </a:lnSpc>
              <a:spcBef>
                <a:spcPct val="25000"/>
              </a:spcBef>
              <a:spcAft>
                <a:spcPct val="0"/>
              </a:spcAft>
              <a:buClr>
                <a:schemeClr val="accent2"/>
              </a:buClr>
              <a:buFont typeface="Wingdings" panose="05000000000000000000" pitchFamily="2" charset="2"/>
              <a:buChar char="§"/>
              <a:defRPr sz="2400">
                <a:solidFill>
                  <a:srgbClr val="3366FF"/>
                </a:solidFill>
                <a:latin typeface="+mn-lt"/>
              </a:defRPr>
            </a:lvl3pPr>
            <a:lvl4pPr marL="1281113" indent="-179388"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20320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203200"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a:lstStyle>
          <a:p>
            <a:pPr>
              <a:spcBef>
                <a:spcPts val="1800"/>
              </a:spcBef>
            </a:pPr>
            <a:r>
              <a:rPr lang="en-US" altLang="en-US" sz="2800" kern="0">
                <a:latin typeface="Cambria" panose="02040503050406030204" pitchFamily="18" charset="0"/>
                <a:cs typeface="Tahoma" panose="020B0604030504040204" pitchFamily="34" charset="0"/>
              </a:rPr>
              <a:t>Nạp tập tin .class</a:t>
            </a:r>
          </a:p>
          <a:p>
            <a:pPr>
              <a:spcBef>
                <a:spcPts val="1800"/>
              </a:spcBef>
            </a:pPr>
            <a:r>
              <a:rPr lang="en-US" altLang="en-US" sz="2800" kern="0">
                <a:latin typeface="Cambria" panose="02040503050406030204" pitchFamily="18" charset="0"/>
                <a:cs typeface="Tahoma" panose="020B0604030504040204" pitchFamily="34" charset="0"/>
              </a:rPr>
              <a:t>Quản lý bộ nhớ</a:t>
            </a:r>
          </a:p>
          <a:p>
            <a:pPr>
              <a:spcBef>
                <a:spcPts val="1800"/>
              </a:spcBef>
            </a:pPr>
            <a:r>
              <a:rPr lang="en-US" altLang="en-US" sz="2800" kern="0">
                <a:latin typeface="Cambria" panose="02040503050406030204" pitchFamily="18" charset="0"/>
                <a:cs typeface="Tahoma" panose="020B0604030504040204" pitchFamily="34" charset="0"/>
              </a:rPr>
              <a:t>Thực hiện thu gom rác</a:t>
            </a:r>
          </a:p>
        </p:txBody>
      </p:sp>
      <p:grpSp>
        <p:nvGrpSpPr>
          <p:cNvPr id="10" name="Group 5"/>
          <p:cNvGrpSpPr>
            <a:grpSpLocks noChangeAspect="1"/>
          </p:cNvGrpSpPr>
          <p:nvPr/>
        </p:nvGrpSpPr>
        <p:grpSpPr bwMode="auto">
          <a:xfrm>
            <a:off x="3143251" y="3429001"/>
            <a:ext cx="5967413" cy="3108325"/>
            <a:chOff x="0" y="0"/>
            <a:chExt cx="3381375" cy="1762125"/>
          </a:xfrm>
        </p:grpSpPr>
        <p:sp>
          <p:nvSpPr>
            <p:cNvPr id="11" name="Rectangle 10"/>
            <p:cNvSpPr/>
            <p:nvPr/>
          </p:nvSpPr>
          <p:spPr>
            <a:xfrm>
              <a:off x="114242" y="18899"/>
              <a:ext cx="1104636" cy="248389"/>
            </a:xfrm>
            <a:prstGeom prst="rect">
              <a:avLst/>
            </a:prstGeom>
            <a:noFill/>
            <a:ln w="25400" cap="flat" cmpd="sng" algn="ctr">
              <a:solidFill>
                <a:srgbClr val="000000"/>
              </a:solidFill>
              <a:prstDash val="solid"/>
            </a:ln>
            <a:effectLst/>
          </p:spPr>
          <p:txBody>
            <a:bodyPr anchor="ctr"/>
            <a:lstStyle/>
            <a:p>
              <a:pPr algn="ctr" fontAlgn="base">
                <a:lnSpc>
                  <a:spcPct val="107000"/>
                </a:lnSpc>
                <a:spcBef>
                  <a:spcPct val="50000"/>
                </a:spcBef>
                <a:spcAft>
                  <a:spcPts val="800"/>
                </a:spcAft>
                <a:buClr>
                  <a:srgbClr val="330066"/>
                </a:buClr>
                <a:buSzPct val="70000"/>
                <a:defRPr/>
              </a:pPr>
              <a:r>
                <a:rPr lang="en-US" sz="1100" b="1" kern="0">
                  <a:solidFill>
                    <a:srgbClr val="000000"/>
                  </a:solidFill>
                  <a:latin typeface="Arial"/>
                  <a:ea typeface="Calibri" panose="020F0502020204030204" pitchFamily="34" charset="0"/>
                  <a:cs typeface="Times New Roman" panose="02020603050405020304" pitchFamily="18" charset="0"/>
                </a:rPr>
                <a:t>Source code</a:t>
              </a:r>
              <a:endParaRPr lang="en-US" sz="1100" b="1" kern="0">
                <a:solidFill>
                  <a:srgbClr val="FFFFFF"/>
                </a:solidFill>
                <a:latin typeface="Arial"/>
                <a:ea typeface="Calibri" panose="020F0502020204030204" pitchFamily="34" charset="0"/>
                <a:cs typeface="Times New Roman" panose="02020603050405020304" pitchFamily="18" charset="0"/>
              </a:endParaRPr>
            </a:p>
          </p:txBody>
        </p:sp>
        <p:sp>
          <p:nvSpPr>
            <p:cNvPr id="12" name="Oval 11"/>
            <p:cNvSpPr/>
            <p:nvPr/>
          </p:nvSpPr>
          <p:spPr>
            <a:xfrm>
              <a:off x="0" y="599374"/>
              <a:ext cx="1409581" cy="410383"/>
            </a:xfrm>
            <a:prstGeom prst="ellipse">
              <a:avLst/>
            </a:prstGeom>
            <a:noFill/>
            <a:ln w="25400" cap="flat" cmpd="sng" algn="ctr">
              <a:solidFill>
                <a:srgbClr val="000000"/>
              </a:solidFill>
              <a:prstDash val="solid"/>
            </a:ln>
            <a:effectLst/>
          </p:spPr>
          <p:txBody>
            <a:bodyPr anchor="ctr"/>
            <a:lstStyle/>
            <a:p>
              <a:pPr algn="ctr" fontAlgn="base">
                <a:lnSpc>
                  <a:spcPct val="107000"/>
                </a:lnSpc>
                <a:spcBef>
                  <a:spcPct val="50000"/>
                </a:spcBef>
                <a:spcAft>
                  <a:spcPts val="800"/>
                </a:spcAft>
                <a:buClr>
                  <a:srgbClr val="330066"/>
                </a:buClr>
                <a:buSzPct val="70000"/>
                <a:defRPr/>
              </a:pPr>
              <a:r>
                <a:rPr lang="en-US" sz="1100" b="1" kern="0">
                  <a:solidFill>
                    <a:srgbClr val="000000"/>
                  </a:solidFill>
                  <a:latin typeface="Arial"/>
                  <a:ea typeface="Calibri" panose="020F0502020204030204" pitchFamily="34" charset="0"/>
                  <a:cs typeface="Times New Roman" panose="02020603050405020304" pitchFamily="18" charset="0"/>
                </a:rPr>
                <a:t>Java Compiler</a:t>
              </a:r>
              <a:endParaRPr lang="en-US" sz="1100" b="1" kern="0">
                <a:solidFill>
                  <a:srgbClr val="FFFFFF"/>
                </a:solidFill>
                <a:latin typeface="Arial"/>
                <a:ea typeface="Calibri" panose="020F0502020204030204" pitchFamily="34" charset="0"/>
                <a:cs typeface="Times New Roman" panose="02020603050405020304" pitchFamily="18" charset="0"/>
              </a:endParaRPr>
            </a:p>
          </p:txBody>
        </p:sp>
        <p:sp>
          <p:nvSpPr>
            <p:cNvPr id="13" name="Rectangle 12"/>
            <p:cNvSpPr/>
            <p:nvPr/>
          </p:nvSpPr>
          <p:spPr>
            <a:xfrm>
              <a:off x="181707" y="1428239"/>
              <a:ext cx="1103737" cy="248389"/>
            </a:xfrm>
            <a:prstGeom prst="rect">
              <a:avLst/>
            </a:prstGeom>
            <a:noFill/>
            <a:ln w="25400" cap="flat" cmpd="sng" algn="ctr">
              <a:solidFill>
                <a:srgbClr val="000000"/>
              </a:solidFill>
              <a:prstDash val="solid"/>
            </a:ln>
            <a:effectLst/>
          </p:spPr>
          <p:txBody>
            <a:bodyPr anchor="ctr"/>
            <a:lstStyle/>
            <a:p>
              <a:pPr algn="ctr" fontAlgn="base">
                <a:lnSpc>
                  <a:spcPct val="107000"/>
                </a:lnSpc>
                <a:spcBef>
                  <a:spcPct val="50000"/>
                </a:spcBef>
                <a:spcAft>
                  <a:spcPts val="800"/>
                </a:spcAft>
                <a:buClr>
                  <a:srgbClr val="330066"/>
                </a:buClr>
                <a:buSzPct val="70000"/>
                <a:defRPr/>
              </a:pPr>
              <a:r>
                <a:rPr lang="en-US" sz="1100" b="1" kern="0">
                  <a:solidFill>
                    <a:srgbClr val="000000"/>
                  </a:solidFill>
                  <a:latin typeface="Arial"/>
                  <a:ea typeface="Calibri" panose="020F0502020204030204" pitchFamily="34" charset="0"/>
                  <a:cs typeface="Times New Roman" panose="02020603050405020304" pitchFamily="18" charset="0"/>
                </a:rPr>
                <a:t>Bytecodes</a:t>
              </a:r>
              <a:endParaRPr lang="en-US" sz="1100" b="1" kern="0">
                <a:solidFill>
                  <a:srgbClr val="FFFFFF"/>
                </a:solidFill>
                <a:latin typeface="Arial"/>
                <a:ea typeface="Calibri" panose="020F0502020204030204" pitchFamily="34" charset="0"/>
                <a:cs typeface="Times New Roman" panose="02020603050405020304" pitchFamily="18" charset="0"/>
              </a:endParaRPr>
            </a:p>
          </p:txBody>
        </p:sp>
        <p:sp>
          <p:nvSpPr>
            <p:cNvPr id="14" name="Rectangle 13"/>
            <p:cNvSpPr/>
            <p:nvPr/>
          </p:nvSpPr>
          <p:spPr>
            <a:xfrm>
              <a:off x="2152602" y="1304944"/>
              <a:ext cx="1105536" cy="457181"/>
            </a:xfrm>
            <a:prstGeom prst="rect">
              <a:avLst/>
            </a:prstGeom>
            <a:noFill/>
            <a:ln w="25400" cap="flat" cmpd="sng" algn="ctr">
              <a:solidFill>
                <a:srgbClr val="000000"/>
              </a:solidFill>
              <a:prstDash val="solid"/>
            </a:ln>
            <a:effectLst/>
          </p:spPr>
          <p:txBody>
            <a:bodyPr anchor="ctr"/>
            <a:lstStyle/>
            <a:p>
              <a:pPr algn="ctr" fontAlgn="base">
                <a:lnSpc>
                  <a:spcPct val="107000"/>
                </a:lnSpc>
                <a:spcBef>
                  <a:spcPct val="50000"/>
                </a:spcBef>
                <a:spcAft>
                  <a:spcPts val="800"/>
                </a:spcAft>
                <a:buClr>
                  <a:srgbClr val="330066"/>
                </a:buClr>
                <a:buSzPct val="70000"/>
                <a:defRPr/>
              </a:pPr>
              <a:r>
                <a:rPr lang="en-US" sz="1100" b="1" kern="0">
                  <a:solidFill>
                    <a:srgbClr val="000000"/>
                  </a:solidFill>
                  <a:latin typeface="Arial"/>
                  <a:ea typeface="Calibri" panose="020F0502020204030204" pitchFamily="34" charset="0"/>
                  <a:cs typeface="Times New Roman" panose="02020603050405020304" pitchFamily="18" charset="0"/>
                </a:rPr>
                <a:t>Java Virtual Machine</a:t>
              </a:r>
              <a:endParaRPr lang="en-US" sz="1100" b="1" kern="0">
                <a:solidFill>
                  <a:srgbClr val="FFFFFF"/>
                </a:solidFill>
                <a:latin typeface="Arial"/>
                <a:ea typeface="Calibri" panose="020F0502020204030204" pitchFamily="34" charset="0"/>
                <a:cs typeface="Times New Roman" panose="02020603050405020304" pitchFamily="18" charset="0"/>
              </a:endParaRPr>
            </a:p>
          </p:txBody>
        </p:sp>
        <p:sp>
          <p:nvSpPr>
            <p:cNvPr id="15" name="Oval 14"/>
            <p:cNvSpPr/>
            <p:nvPr/>
          </p:nvSpPr>
          <p:spPr>
            <a:xfrm>
              <a:off x="1971794" y="561576"/>
              <a:ext cx="1409581" cy="409483"/>
            </a:xfrm>
            <a:prstGeom prst="ellipse">
              <a:avLst/>
            </a:prstGeom>
            <a:noFill/>
            <a:ln w="25400" cap="flat" cmpd="sng" algn="ctr">
              <a:solidFill>
                <a:srgbClr val="000000"/>
              </a:solidFill>
              <a:prstDash val="solid"/>
            </a:ln>
            <a:effectLst/>
          </p:spPr>
          <p:txBody>
            <a:bodyPr anchor="ctr"/>
            <a:lstStyle/>
            <a:p>
              <a:pPr algn="ctr" fontAlgn="base">
                <a:lnSpc>
                  <a:spcPct val="107000"/>
                </a:lnSpc>
                <a:spcBef>
                  <a:spcPct val="50000"/>
                </a:spcBef>
                <a:spcAft>
                  <a:spcPts val="800"/>
                </a:spcAft>
                <a:buClr>
                  <a:srgbClr val="330066"/>
                </a:buClr>
                <a:buSzPct val="70000"/>
                <a:defRPr/>
              </a:pPr>
              <a:r>
                <a:rPr lang="en-US" sz="1100" b="1" kern="0">
                  <a:solidFill>
                    <a:srgbClr val="000000"/>
                  </a:solidFill>
                  <a:latin typeface="Arial"/>
                  <a:ea typeface="Calibri" panose="020F0502020204030204" pitchFamily="34" charset="0"/>
                  <a:cs typeface="Times New Roman" panose="02020603050405020304" pitchFamily="18" charset="0"/>
                </a:rPr>
                <a:t>JIT Compiler</a:t>
              </a:r>
              <a:endParaRPr lang="en-US" sz="1100" b="1" kern="0">
                <a:solidFill>
                  <a:srgbClr val="FFFFFF"/>
                </a:solidFill>
                <a:latin typeface="Arial"/>
                <a:ea typeface="Calibri" panose="020F0502020204030204" pitchFamily="34" charset="0"/>
                <a:cs typeface="Times New Roman" panose="02020603050405020304" pitchFamily="18" charset="0"/>
              </a:endParaRPr>
            </a:p>
          </p:txBody>
        </p:sp>
        <p:sp>
          <p:nvSpPr>
            <p:cNvPr id="16" name="Rectangle 15"/>
            <p:cNvSpPr/>
            <p:nvPr/>
          </p:nvSpPr>
          <p:spPr>
            <a:xfrm>
              <a:off x="2077041" y="0"/>
              <a:ext cx="1103737" cy="248389"/>
            </a:xfrm>
            <a:prstGeom prst="rect">
              <a:avLst/>
            </a:prstGeom>
            <a:noFill/>
            <a:ln w="25400" cap="flat" cmpd="sng" algn="ctr">
              <a:solidFill>
                <a:srgbClr val="000000"/>
              </a:solidFill>
              <a:prstDash val="solid"/>
            </a:ln>
            <a:effectLst/>
          </p:spPr>
          <p:txBody>
            <a:bodyPr anchor="ctr"/>
            <a:lstStyle/>
            <a:p>
              <a:pPr algn="ctr" fontAlgn="base">
                <a:lnSpc>
                  <a:spcPct val="107000"/>
                </a:lnSpc>
                <a:spcBef>
                  <a:spcPct val="50000"/>
                </a:spcBef>
                <a:spcAft>
                  <a:spcPts val="800"/>
                </a:spcAft>
                <a:buClr>
                  <a:srgbClr val="330066"/>
                </a:buClr>
                <a:buSzPct val="70000"/>
                <a:defRPr/>
              </a:pPr>
              <a:r>
                <a:rPr lang="en-US" sz="1100" b="1" kern="0">
                  <a:solidFill>
                    <a:srgbClr val="000000"/>
                  </a:solidFill>
                  <a:latin typeface="Arial"/>
                  <a:ea typeface="Calibri" panose="020F0502020204030204" pitchFamily="34" charset="0"/>
                  <a:cs typeface="Times New Roman" panose="02020603050405020304" pitchFamily="18" charset="0"/>
                </a:rPr>
                <a:t>Native code</a:t>
              </a:r>
              <a:endParaRPr lang="en-US" sz="1100" b="1" kern="0">
                <a:solidFill>
                  <a:srgbClr val="FFFFFF"/>
                </a:solidFill>
                <a:latin typeface="Arial"/>
                <a:ea typeface="Calibri" panose="020F0502020204030204" pitchFamily="34" charset="0"/>
                <a:cs typeface="Times New Roman" panose="02020603050405020304" pitchFamily="18" charset="0"/>
              </a:endParaRPr>
            </a:p>
          </p:txBody>
        </p:sp>
        <p:cxnSp>
          <p:nvCxnSpPr>
            <p:cNvPr id="17" name="Straight Arrow Connector 16"/>
            <p:cNvCxnSpPr/>
            <p:nvPr/>
          </p:nvCxnSpPr>
          <p:spPr>
            <a:xfrm>
              <a:off x="686350" y="276289"/>
              <a:ext cx="0" cy="332986"/>
            </a:xfrm>
            <a:prstGeom prst="straightConnector1">
              <a:avLst/>
            </a:prstGeom>
            <a:noFill/>
            <a:ln w="9525" cap="flat" cmpd="sng" algn="ctr">
              <a:solidFill>
                <a:srgbClr val="000000"/>
              </a:solidFill>
              <a:prstDash val="solid"/>
              <a:tailEnd type="triangle"/>
            </a:ln>
            <a:effectLst/>
          </p:spPr>
        </p:cxnSp>
        <p:cxnSp>
          <p:nvCxnSpPr>
            <p:cNvPr id="18" name="Straight Arrow Connector 17"/>
            <p:cNvCxnSpPr/>
            <p:nvPr/>
          </p:nvCxnSpPr>
          <p:spPr>
            <a:xfrm>
              <a:off x="2638354" y="248389"/>
              <a:ext cx="0" cy="332086"/>
            </a:xfrm>
            <a:prstGeom prst="straightConnector1">
              <a:avLst/>
            </a:prstGeom>
            <a:noFill/>
            <a:ln w="9525" cap="flat" cmpd="sng" algn="ctr">
              <a:solidFill>
                <a:srgbClr val="000000"/>
              </a:solidFill>
              <a:prstDash val="solid"/>
              <a:headEnd type="triangle"/>
              <a:tailEnd type="none"/>
            </a:ln>
            <a:effectLst/>
          </p:spPr>
        </p:cxnSp>
        <p:cxnSp>
          <p:nvCxnSpPr>
            <p:cNvPr id="19" name="Straight Arrow Connector 18"/>
            <p:cNvCxnSpPr/>
            <p:nvPr/>
          </p:nvCxnSpPr>
          <p:spPr>
            <a:xfrm>
              <a:off x="2667139" y="971059"/>
              <a:ext cx="0" cy="333886"/>
            </a:xfrm>
            <a:prstGeom prst="straightConnector1">
              <a:avLst/>
            </a:prstGeom>
            <a:noFill/>
            <a:ln w="9525" cap="flat" cmpd="sng" algn="ctr">
              <a:solidFill>
                <a:srgbClr val="000000"/>
              </a:solidFill>
              <a:prstDash val="solid"/>
              <a:headEnd type="triangle"/>
              <a:tailEnd type="none"/>
            </a:ln>
            <a:effectLst/>
          </p:spPr>
        </p:cxnSp>
        <p:cxnSp>
          <p:nvCxnSpPr>
            <p:cNvPr id="20" name="Straight Arrow Connector 19"/>
            <p:cNvCxnSpPr/>
            <p:nvPr/>
          </p:nvCxnSpPr>
          <p:spPr>
            <a:xfrm>
              <a:off x="714236" y="1018757"/>
              <a:ext cx="0" cy="409483"/>
            </a:xfrm>
            <a:prstGeom prst="straightConnector1">
              <a:avLst/>
            </a:prstGeom>
            <a:noFill/>
            <a:ln w="9525" cap="flat" cmpd="sng" algn="ctr">
              <a:solidFill>
                <a:srgbClr val="000000"/>
              </a:solidFill>
              <a:prstDash val="solid"/>
              <a:tailEnd type="triangle"/>
            </a:ln>
            <a:effectLst/>
          </p:spPr>
        </p:cxnSp>
        <p:cxnSp>
          <p:nvCxnSpPr>
            <p:cNvPr id="21" name="Straight Arrow Connector 20"/>
            <p:cNvCxnSpPr/>
            <p:nvPr/>
          </p:nvCxnSpPr>
          <p:spPr>
            <a:xfrm>
              <a:off x="1295339" y="1553334"/>
              <a:ext cx="857263" cy="0"/>
            </a:xfrm>
            <a:prstGeom prst="straightConnector1">
              <a:avLst/>
            </a:prstGeom>
            <a:noFill/>
            <a:ln w="9525" cap="flat" cmpd="sng" algn="ctr">
              <a:solidFill>
                <a:srgbClr val="000000"/>
              </a:solidFill>
              <a:prstDash val="solid"/>
              <a:tailEnd type="triangle"/>
            </a:ln>
            <a:effectLst/>
          </p:spPr>
        </p:cxnSp>
      </p:grpSp>
      <p:sp>
        <p:nvSpPr>
          <p:cNvPr id="8" name="Slide Number Placeholder 7">
            <a:extLst>
              <a:ext uri="{FF2B5EF4-FFF2-40B4-BE49-F238E27FC236}">
                <a16:creationId xmlns:a16="http://schemas.microsoft.com/office/drawing/2014/main" id="{8C6254ED-1201-776F-C151-57918A8D10B3}"/>
              </a:ext>
            </a:extLst>
          </p:cNvPr>
          <p:cNvSpPr>
            <a:spLocks noGrp="1"/>
          </p:cNvSpPr>
          <p:nvPr>
            <p:ph type="sldNum" sz="quarter" idx="12"/>
          </p:nvPr>
        </p:nvSpPr>
        <p:spPr/>
        <p:txBody>
          <a:bodyPr/>
          <a:lstStyle/>
          <a:p>
            <a:fld id="{78EE6887-2290-4B81-8A6D-75BA854EF4EB}" type="slidenum">
              <a:rPr lang="en-US" smtClean="0"/>
              <a:pPr/>
              <a:t>7</a:t>
            </a:fld>
            <a:endParaRPr lang="en-US"/>
          </a:p>
        </p:txBody>
      </p:sp>
    </p:spTree>
    <p:extLst>
      <p:ext uri="{BB962C8B-B14F-4D97-AF65-F5344CB8AC3E}">
        <p14:creationId xmlns:p14="http://schemas.microsoft.com/office/powerpoint/2010/main" val="3228207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Các công cụ lập trình với java</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CB66333-C296-4E0B-2414-5747911F14FC}"/>
              </a:ext>
            </a:extLst>
          </p:cNvPr>
          <p:cNvSpPr>
            <a:spLocks noGrp="1"/>
          </p:cNvSpPr>
          <p:nvPr>
            <p:ph type="sldNum" sz="quarter" idx="12"/>
          </p:nvPr>
        </p:nvSpPr>
        <p:spPr/>
        <p:txBody>
          <a:bodyPr/>
          <a:lstStyle/>
          <a:p>
            <a:fld id="{78EE6887-2290-4B81-8A6D-75BA854EF4EB}" type="slidenum">
              <a:rPr lang="en-US" smtClean="0"/>
              <a:pPr/>
              <a:t>8</a:t>
            </a:fld>
            <a:endParaRPr lang="en-US"/>
          </a:p>
        </p:txBody>
      </p:sp>
    </p:spTree>
    <p:extLst>
      <p:ext uri="{BB962C8B-B14F-4D97-AF65-F5344CB8AC3E}">
        <p14:creationId xmlns:p14="http://schemas.microsoft.com/office/powerpoint/2010/main" val="1613312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3962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Notepad</a:t>
            </a:r>
          </a:p>
          <a:p>
            <a:pPr lvl="0" algn="just">
              <a:buClr>
                <a:srgbClr val="3DC5C5"/>
              </a:buClr>
              <a:defRPr/>
            </a:pPr>
            <a:r>
              <a:rPr lang="vi-VN" kern="0">
                <a:solidFill>
                  <a:srgbClr val="002060"/>
                </a:solidFill>
                <a:latin typeface="Cambria" panose="02040503050406030204" pitchFamily="18" charset="0"/>
              </a:rPr>
              <a:t>Eclipse</a:t>
            </a:r>
          </a:p>
          <a:p>
            <a:pPr lvl="0" algn="just">
              <a:buClr>
                <a:srgbClr val="3DC5C5"/>
              </a:buClr>
              <a:defRPr/>
            </a:pPr>
            <a:r>
              <a:rPr lang="vi-VN" kern="0">
                <a:solidFill>
                  <a:srgbClr val="002060"/>
                </a:solidFill>
                <a:latin typeface="Cambria" panose="02040503050406030204" pitchFamily="18" charset="0"/>
              </a:rPr>
              <a:t>Netbean</a:t>
            </a:r>
          </a:p>
          <a:p>
            <a:pPr lvl="0" algn="just">
              <a:buClr>
                <a:srgbClr val="3DC5C5"/>
              </a:buClr>
              <a:defRPr/>
            </a:pPr>
            <a:r>
              <a:rPr lang="vi-VN" kern="0">
                <a:solidFill>
                  <a:srgbClr val="002060"/>
                </a:solidFill>
                <a:latin typeface="Cambria" panose="02040503050406030204" pitchFamily="18" charset="0"/>
              </a:rPr>
              <a:t>Android Studio</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A84A1470-B7E1-5A04-6ABC-7A85CD186BFE}"/>
              </a:ext>
            </a:extLst>
          </p:cNvPr>
          <p:cNvSpPr>
            <a:spLocks noGrp="1"/>
          </p:cNvSpPr>
          <p:nvPr>
            <p:ph type="sldNum" sz="quarter" idx="12"/>
          </p:nvPr>
        </p:nvSpPr>
        <p:spPr/>
        <p:txBody>
          <a:bodyPr/>
          <a:lstStyle/>
          <a:p>
            <a:fld id="{78EE6887-2290-4B81-8A6D-75BA854EF4EB}" type="slidenum">
              <a:rPr lang="en-US" smtClean="0"/>
              <a:pPr/>
              <a:t>9</a:t>
            </a:fld>
            <a:endParaRPr lang="en-US"/>
          </a:p>
        </p:txBody>
      </p:sp>
    </p:spTree>
    <p:extLst>
      <p:ext uri="{BB962C8B-B14F-4D97-AF65-F5344CB8AC3E}">
        <p14:creationId xmlns:p14="http://schemas.microsoft.com/office/powerpoint/2010/main" val="2743365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Notepad/Notepad++</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121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Notepad/Notepad++</a:t>
            </a:r>
            <a:r>
              <a:rPr lang="en-US" kern="0">
                <a:solidFill>
                  <a:srgbClr val="002060"/>
                </a:solidFill>
                <a:latin typeface="Cambria" panose="02040503050406030204" pitchFamily="18" charset="0"/>
              </a:rPr>
              <a:t> là công cụ đơn giản nhất để soạn thảo coding java:</a:t>
            </a:r>
            <a:endParaRPr lang="vi-VN" kern="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3CF5B371-9ABA-CF2E-7FDF-B8ACBC77A73E}"/>
              </a:ext>
            </a:extLst>
          </p:cNvPr>
          <p:cNvSpPr>
            <a:spLocks noGrp="1"/>
          </p:cNvSpPr>
          <p:nvPr>
            <p:ph type="sldNum" sz="quarter" idx="12"/>
          </p:nvPr>
        </p:nvSpPr>
        <p:spPr/>
        <p:txBody>
          <a:bodyPr/>
          <a:lstStyle/>
          <a:p>
            <a:fld id="{78EE6887-2290-4B81-8A6D-75BA854EF4EB}" type="slidenum">
              <a:rPr lang="en-US" smtClean="0"/>
              <a:pPr/>
              <a:t>10</a:t>
            </a:fld>
            <a:endParaRPr lang="en-US"/>
          </a:p>
        </p:txBody>
      </p:sp>
      <p:pic>
        <p:nvPicPr>
          <p:cNvPr id="18" name="Picture 17">
            <a:extLst>
              <a:ext uri="{FF2B5EF4-FFF2-40B4-BE49-F238E27FC236}">
                <a16:creationId xmlns:a16="http://schemas.microsoft.com/office/drawing/2014/main" id="{E128E108-FDF2-399A-3DB6-DA93DFE6CE27}"/>
              </a:ext>
            </a:extLst>
          </p:cNvPr>
          <p:cNvPicPr>
            <a:picLocks noChangeAspect="1"/>
          </p:cNvPicPr>
          <p:nvPr/>
        </p:nvPicPr>
        <p:blipFill>
          <a:blip r:embed="rId2"/>
          <a:stretch>
            <a:fillRect/>
          </a:stretch>
        </p:blipFill>
        <p:spPr>
          <a:xfrm>
            <a:off x="902682" y="2601864"/>
            <a:ext cx="2553056" cy="2762636"/>
          </a:xfrm>
          <a:prstGeom prst="rect">
            <a:avLst/>
          </a:prstGeom>
        </p:spPr>
      </p:pic>
      <p:pic>
        <p:nvPicPr>
          <p:cNvPr id="9" name="Picture 8">
            <a:extLst>
              <a:ext uri="{FF2B5EF4-FFF2-40B4-BE49-F238E27FC236}">
                <a16:creationId xmlns:a16="http://schemas.microsoft.com/office/drawing/2014/main" id="{1E6CCB4A-8989-B592-F552-2EE9F30E5C36}"/>
              </a:ext>
            </a:extLst>
          </p:cNvPr>
          <p:cNvPicPr>
            <a:picLocks noChangeAspect="1"/>
          </p:cNvPicPr>
          <p:nvPr/>
        </p:nvPicPr>
        <p:blipFill>
          <a:blip r:embed="rId3"/>
          <a:stretch>
            <a:fillRect/>
          </a:stretch>
        </p:blipFill>
        <p:spPr>
          <a:xfrm>
            <a:off x="3845391" y="2547905"/>
            <a:ext cx="7360701" cy="2816595"/>
          </a:xfrm>
          <a:prstGeom prst="rect">
            <a:avLst/>
          </a:prstGeom>
        </p:spPr>
      </p:pic>
    </p:spTree>
    <p:extLst>
      <p:ext uri="{BB962C8B-B14F-4D97-AF65-F5344CB8AC3E}">
        <p14:creationId xmlns:p14="http://schemas.microsoft.com/office/powerpoint/2010/main" val="1784755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Eclipse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Slide Number Placeholder 9">
            <a:extLst>
              <a:ext uri="{FF2B5EF4-FFF2-40B4-BE49-F238E27FC236}">
                <a16:creationId xmlns:a16="http://schemas.microsoft.com/office/drawing/2014/main" id="{3304A3AF-491F-05C4-D977-E76AA5FDCF82}"/>
              </a:ext>
            </a:extLst>
          </p:cNvPr>
          <p:cNvSpPr>
            <a:spLocks noGrp="1"/>
          </p:cNvSpPr>
          <p:nvPr>
            <p:ph type="sldNum" sz="quarter" idx="12"/>
          </p:nvPr>
        </p:nvSpPr>
        <p:spPr/>
        <p:txBody>
          <a:bodyPr/>
          <a:lstStyle/>
          <a:p>
            <a:fld id="{78EE6887-2290-4B81-8A6D-75BA854EF4EB}" type="slidenum">
              <a:rPr lang="en-US" smtClean="0"/>
              <a:pPr/>
              <a:t>11</a:t>
            </a:fld>
            <a:endParaRPr lang="en-US"/>
          </a:p>
        </p:txBody>
      </p:sp>
      <p:pic>
        <p:nvPicPr>
          <p:cNvPr id="12" name="Picture 11">
            <a:extLst>
              <a:ext uri="{FF2B5EF4-FFF2-40B4-BE49-F238E27FC236}">
                <a16:creationId xmlns:a16="http://schemas.microsoft.com/office/drawing/2014/main" id="{0CEF14CE-0404-A082-AE0D-001739BA7416}"/>
              </a:ext>
            </a:extLst>
          </p:cNvPr>
          <p:cNvPicPr>
            <a:picLocks noChangeAspect="1"/>
          </p:cNvPicPr>
          <p:nvPr/>
        </p:nvPicPr>
        <p:blipFill>
          <a:blip r:embed="rId2"/>
          <a:stretch>
            <a:fillRect/>
          </a:stretch>
        </p:blipFill>
        <p:spPr>
          <a:xfrm>
            <a:off x="1526141" y="1547425"/>
            <a:ext cx="8652332" cy="4591033"/>
          </a:xfrm>
          <a:prstGeom prst="rect">
            <a:avLst/>
          </a:prstGeom>
        </p:spPr>
      </p:pic>
    </p:spTree>
    <p:extLst>
      <p:ext uri="{BB962C8B-B14F-4D97-AF65-F5344CB8AC3E}">
        <p14:creationId xmlns:p14="http://schemas.microsoft.com/office/powerpoint/2010/main" val="2182596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Netbean</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Slide Number Placeholder 8">
            <a:extLst>
              <a:ext uri="{FF2B5EF4-FFF2-40B4-BE49-F238E27FC236}">
                <a16:creationId xmlns:a16="http://schemas.microsoft.com/office/drawing/2014/main" id="{0DB13102-9C04-20C6-5FBE-0235B210D484}"/>
              </a:ext>
            </a:extLst>
          </p:cNvPr>
          <p:cNvSpPr>
            <a:spLocks noGrp="1"/>
          </p:cNvSpPr>
          <p:nvPr>
            <p:ph type="sldNum" sz="quarter" idx="12"/>
          </p:nvPr>
        </p:nvSpPr>
        <p:spPr/>
        <p:txBody>
          <a:bodyPr/>
          <a:lstStyle/>
          <a:p>
            <a:fld id="{78EE6887-2290-4B81-8A6D-75BA854EF4EB}" type="slidenum">
              <a:rPr lang="en-US" smtClean="0"/>
              <a:pPr/>
              <a:t>12</a:t>
            </a:fld>
            <a:endParaRPr lang="en-US"/>
          </a:p>
        </p:txBody>
      </p:sp>
      <p:pic>
        <p:nvPicPr>
          <p:cNvPr id="13" name="Picture 12">
            <a:extLst>
              <a:ext uri="{FF2B5EF4-FFF2-40B4-BE49-F238E27FC236}">
                <a16:creationId xmlns:a16="http://schemas.microsoft.com/office/drawing/2014/main" id="{BAC84A60-6A6E-854B-5564-50DDE4D6275D}"/>
              </a:ext>
            </a:extLst>
          </p:cNvPr>
          <p:cNvPicPr>
            <a:picLocks noChangeAspect="1"/>
          </p:cNvPicPr>
          <p:nvPr/>
        </p:nvPicPr>
        <p:blipFill>
          <a:blip r:embed="rId2"/>
          <a:stretch>
            <a:fillRect/>
          </a:stretch>
        </p:blipFill>
        <p:spPr>
          <a:xfrm>
            <a:off x="1753359" y="1113546"/>
            <a:ext cx="7760096" cy="5379329"/>
          </a:xfrm>
          <a:prstGeom prst="rect">
            <a:avLst/>
          </a:prstGeom>
        </p:spPr>
      </p:pic>
    </p:spTree>
    <p:extLst>
      <p:ext uri="{BB962C8B-B14F-4D97-AF65-F5344CB8AC3E}">
        <p14:creationId xmlns:p14="http://schemas.microsoft.com/office/powerpoint/2010/main" val="277453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Android Studio</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1143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Android Studio</a:t>
            </a:r>
            <a:r>
              <a:rPr lang="en-US" kern="0">
                <a:solidFill>
                  <a:srgbClr val="002060"/>
                </a:solidFill>
                <a:latin typeface="Cambria" panose="02040503050406030204" pitchFamily="18" charset="0"/>
              </a:rPr>
              <a:t> là công cụ rất nổi tiếng để lập trình Android, viết mã nguồn bằng java</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2590801" y="2209800"/>
            <a:ext cx="7362825" cy="4362450"/>
          </a:xfrm>
          <a:prstGeom prst="rect">
            <a:avLst/>
          </a:prstGeom>
        </p:spPr>
      </p:pic>
      <p:sp>
        <p:nvSpPr>
          <p:cNvPr id="10" name="Slide Number Placeholder 9">
            <a:extLst>
              <a:ext uri="{FF2B5EF4-FFF2-40B4-BE49-F238E27FC236}">
                <a16:creationId xmlns:a16="http://schemas.microsoft.com/office/drawing/2014/main" id="{BC446D4E-BD88-CA72-015E-A8FED404CD1C}"/>
              </a:ext>
            </a:extLst>
          </p:cNvPr>
          <p:cNvSpPr>
            <a:spLocks noGrp="1"/>
          </p:cNvSpPr>
          <p:nvPr>
            <p:ph type="sldNum" sz="quarter" idx="12"/>
          </p:nvPr>
        </p:nvSpPr>
        <p:spPr/>
        <p:txBody>
          <a:bodyPr/>
          <a:lstStyle/>
          <a:p>
            <a:fld id="{78EE6887-2290-4B81-8A6D-75BA854EF4EB}" type="slidenum">
              <a:rPr lang="en-US" smtClean="0"/>
              <a:pPr/>
              <a:t>13</a:t>
            </a:fld>
            <a:endParaRPr lang="en-US"/>
          </a:p>
        </p:txBody>
      </p:sp>
    </p:spTree>
    <p:extLst>
      <p:ext uri="{BB962C8B-B14F-4D97-AF65-F5344CB8AC3E}">
        <p14:creationId xmlns:p14="http://schemas.microsoft.com/office/powerpoint/2010/main" val="3625893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en-US" kern="0">
                <a:solidFill>
                  <a:srgbClr val="002060"/>
                </a:solidFill>
                <a:latin typeface="Cambria" panose="02040503050406030204" pitchFamily="18" charset="0"/>
              </a:rPr>
              <a:t>Cài đặt JDK</a:t>
            </a: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A316045-76A2-3647-9EB8-9A25FB3C7EDE}"/>
              </a:ext>
            </a:extLst>
          </p:cNvPr>
          <p:cNvSpPr>
            <a:spLocks noGrp="1"/>
          </p:cNvSpPr>
          <p:nvPr>
            <p:ph type="sldNum" sz="quarter" idx="12"/>
          </p:nvPr>
        </p:nvSpPr>
        <p:spPr/>
        <p:txBody>
          <a:bodyPr/>
          <a:lstStyle/>
          <a:p>
            <a:fld id="{78EE6887-2290-4B81-8A6D-75BA854EF4EB}" type="slidenum">
              <a:rPr lang="en-US" smtClean="0"/>
              <a:pPr/>
              <a:t>14</a:t>
            </a:fld>
            <a:endParaRPr lang="en-US"/>
          </a:p>
        </p:txBody>
      </p:sp>
    </p:spTree>
    <p:extLst>
      <p:ext uri="{BB962C8B-B14F-4D97-AF65-F5344CB8AC3E}">
        <p14:creationId xmlns:p14="http://schemas.microsoft.com/office/powerpoint/2010/main" val="1590900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3962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Kiểm tra cấu hình máy để quyết định lựa chọn tải phiên bản JDK phù hợp</a:t>
            </a:r>
          </a:p>
          <a:p>
            <a:pPr lvl="0" algn="just">
              <a:buClr>
                <a:srgbClr val="3DC5C5"/>
              </a:buClr>
              <a:defRPr/>
            </a:pPr>
            <a:r>
              <a:rPr lang="vi-VN" kern="0">
                <a:solidFill>
                  <a:srgbClr val="002060"/>
                </a:solidFill>
                <a:latin typeface="Cambria" panose="02040503050406030204" pitchFamily="18" charset="0"/>
              </a:rPr>
              <a:t>Cách tải JDK phù hợp</a:t>
            </a:r>
          </a:p>
          <a:p>
            <a:pPr lvl="0" algn="just">
              <a:buClr>
                <a:srgbClr val="3DC5C5"/>
              </a:buClr>
              <a:defRPr/>
            </a:pPr>
            <a:r>
              <a:rPr lang="vi-VN" kern="0">
                <a:solidFill>
                  <a:srgbClr val="002060"/>
                </a:solidFill>
                <a:latin typeface="Cambria" panose="02040503050406030204" pitchFamily="18" charset="0"/>
              </a:rPr>
              <a:t>Cách cài đặt JDK</a:t>
            </a:r>
          </a:p>
          <a:p>
            <a:pPr lvl="0" algn="just">
              <a:buClr>
                <a:srgbClr val="3DC5C5"/>
              </a:buClr>
              <a:defRPr/>
            </a:pPr>
            <a:r>
              <a:rPr lang="vi-VN" kern="0">
                <a:solidFill>
                  <a:srgbClr val="002060"/>
                </a:solidFill>
                <a:latin typeface="Cambria" panose="02040503050406030204" pitchFamily="18" charset="0"/>
              </a:rPr>
              <a:t>Các cách kiểm tra JDK trong máy: Command line, Control panel</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3FF81C07-517D-4C83-5894-BBC20CB5CEC1}"/>
              </a:ext>
            </a:extLst>
          </p:cNvPr>
          <p:cNvSpPr>
            <a:spLocks noGrp="1"/>
          </p:cNvSpPr>
          <p:nvPr>
            <p:ph type="sldNum" sz="quarter" idx="12"/>
          </p:nvPr>
        </p:nvSpPr>
        <p:spPr/>
        <p:txBody>
          <a:bodyPr/>
          <a:lstStyle/>
          <a:p>
            <a:fld id="{78EE6887-2290-4B81-8A6D-75BA854EF4EB}" type="slidenum">
              <a:rPr lang="en-US" smtClean="0"/>
              <a:pPr/>
              <a:t>15</a:t>
            </a:fld>
            <a:endParaRPr lang="en-US"/>
          </a:p>
        </p:txBody>
      </p:sp>
    </p:spTree>
    <p:extLst>
      <p:ext uri="{BB962C8B-B14F-4D97-AF65-F5344CB8AC3E}">
        <p14:creationId xmlns:p14="http://schemas.microsoft.com/office/powerpoint/2010/main" val="3450523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cấu hình máy</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29776" y="967585"/>
            <a:ext cx="8229600" cy="165959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Máy tính bây giờ thường có 64bit hoặc 32bit, do đó phải kiểm tra cấu hình chính xác thì mới lựa chọn tải JDK đúng.</a:t>
            </a:r>
            <a:endParaRPr lang="vi-VN" kern="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2175507" y="2779541"/>
            <a:ext cx="3200400" cy="3238500"/>
          </a:xfrm>
          <a:prstGeom prst="rect">
            <a:avLst/>
          </a:prstGeom>
        </p:spPr>
      </p:pic>
      <p:sp>
        <p:nvSpPr>
          <p:cNvPr id="10" name="Content Placeholder 2"/>
          <p:cNvSpPr txBox="1">
            <a:spLocks/>
          </p:cNvSpPr>
          <p:nvPr/>
        </p:nvSpPr>
        <p:spPr bwMode="auto">
          <a:xfrm>
            <a:off x="5375907" y="3147419"/>
            <a:ext cx="5042848" cy="167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a:t>
            </a:r>
            <a:r>
              <a:rPr lang="en-US" kern="0">
                <a:solidFill>
                  <a:srgbClr val="002060"/>
                </a:solidFill>
                <a:latin typeface="Cambria" panose="02040503050406030204" pitchFamily="18" charset="0"/>
              </a:rPr>
              <a:t>Bấm chuột phải vào biểu tượng This PC/ chọn Properties</a:t>
            </a:r>
            <a:endParaRPr lang="vi-VN" kern="0">
              <a:solidFill>
                <a:srgbClr val="002060"/>
              </a:solidFill>
              <a:latin typeface="Cambria" panose="02040503050406030204" pitchFamily="18" charset="0"/>
            </a:endParaRPr>
          </a:p>
        </p:txBody>
      </p:sp>
      <p:sp>
        <p:nvSpPr>
          <p:cNvPr id="11" name="Slide Number Placeholder 10">
            <a:extLst>
              <a:ext uri="{FF2B5EF4-FFF2-40B4-BE49-F238E27FC236}">
                <a16:creationId xmlns:a16="http://schemas.microsoft.com/office/drawing/2014/main" id="{F2ABCEF8-02E3-29D3-8C2D-F042EAD6F491}"/>
              </a:ext>
            </a:extLst>
          </p:cNvPr>
          <p:cNvSpPr>
            <a:spLocks noGrp="1"/>
          </p:cNvSpPr>
          <p:nvPr>
            <p:ph type="sldNum" sz="quarter" idx="12"/>
          </p:nvPr>
        </p:nvSpPr>
        <p:spPr/>
        <p:txBody>
          <a:bodyPr/>
          <a:lstStyle/>
          <a:p>
            <a:fld id="{78EE6887-2290-4B81-8A6D-75BA854EF4EB}" type="slidenum">
              <a:rPr lang="en-US" smtClean="0"/>
              <a:pPr/>
              <a:t>16</a:t>
            </a:fld>
            <a:endParaRPr lang="en-US"/>
          </a:p>
        </p:txBody>
      </p:sp>
    </p:spTree>
    <p:extLst>
      <p:ext uri="{BB962C8B-B14F-4D97-AF65-F5344CB8AC3E}">
        <p14:creationId xmlns:p14="http://schemas.microsoft.com/office/powerpoint/2010/main" val="4172975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cấu hình máy</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Slide Number Placeholder 8">
            <a:extLst>
              <a:ext uri="{FF2B5EF4-FFF2-40B4-BE49-F238E27FC236}">
                <a16:creationId xmlns:a16="http://schemas.microsoft.com/office/drawing/2014/main" id="{4ADA667A-7149-9613-1D39-CEA2AE28F822}"/>
              </a:ext>
            </a:extLst>
          </p:cNvPr>
          <p:cNvSpPr>
            <a:spLocks noGrp="1"/>
          </p:cNvSpPr>
          <p:nvPr>
            <p:ph type="sldNum" sz="quarter" idx="12"/>
          </p:nvPr>
        </p:nvSpPr>
        <p:spPr/>
        <p:txBody>
          <a:bodyPr/>
          <a:lstStyle/>
          <a:p>
            <a:fld id="{78EE6887-2290-4B81-8A6D-75BA854EF4EB}" type="slidenum">
              <a:rPr lang="en-US" smtClean="0"/>
              <a:pPr/>
              <a:t>17</a:t>
            </a:fld>
            <a:endParaRPr lang="en-US"/>
          </a:p>
        </p:txBody>
      </p:sp>
      <p:pic>
        <p:nvPicPr>
          <p:cNvPr id="15" name="Picture 14">
            <a:extLst>
              <a:ext uri="{FF2B5EF4-FFF2-40B4-BE49-F238E27FC236}">
                <a16:creationId xmlns:a16="http://schemas.microsoft.com/office/drawing/2014/main" id="{FF1A5930-B63B-2DEF-FB1F-37390FEF470B}"/>
              </a:ext>
            </a:extLst>
          </p:cNvPr>
          <p:cNvPicPr>
            <a:picLocks noChangeAspect="1"/>
          </p:cNvPicPr>
          <p:nvPr/>
        </p:nvPicPr>
        <p:blipFill>
          <a:blip r:embed="rId2"/>
          <a:srcRect b="20866"/>
          <a:stretch>
            <a:fillRect/>
          </a:stretch>
        </p:blipFill>
        <p:spPr>
          <a:xfrm>
            <a:off x="2179210" y="1094537"/>
            <a:ext cx="7436768" cy="5398338"/>
          </a:xfrm>
          <a:prstGeom prst="rect">
            <a:avLst/>
          </a:prstGeom>
        </p:spPr>
      </p:pic>
      <p:sp>
        <p:nvSpPr>
          <p:cNvPr id="12" name="Rectangle 11"/>
          <p:cNvSpPr/>
          <p:nvPr/>
        </p:nvSpPr>
        <p:spPr>
          <a:xfrm>
            <a:off x="2753484" y="4795101"/>
            <a:ext cx="4304145" cy="29556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0488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Cách tải JDK phù hợp</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969818" y="1066800"/>
            <a:ext cx="10861963" cy="167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Link tải: </a:t>
            </a:r>
          </a:p>
          <a:p>
            <a:pPr lvl="0" algn="just">
              <a:buClr>
                <a:srgbClr val="3DC5C5"/>
              </a:buClr>
              <a:defRPr/>
            </a:pPr>
            <a:r>
              <a:rPr lang="en-US" kern="0">
                <a:solidFill>
                  <a:srgbClr val="002060"/>
                </a:solidFill>
                <a:latin typeface="Cambria" panose="02040503050406030204" pitchFamily="18" charset="0"/>
              </a:rPr>
              <a:t>https://www.oracle.com/java/technologies/downloads/</a:t>
            </a:r>
            <a:endParaRPr lang="vi-VN" kern="0">
              <a:solidFill>
                <a:srgbClr val="002060"/>
              </a:solidFill>
              <a:latin typeface="Cambria" panose="02040503050406030204" pitchFamily="18" charset="0"/>
            </a:endParaRPr>
          </a:p>
        </p:txBody>
      </p:sp>
      <p:cxnSp>
        <p:nvCxnSpPr>
          <p:cNvPr id="12" name="Straight Arrow Connector 11"/>
          <p:cNvCxnSpPr/>
          <p:nvPr/>
        </p:nvCxnSpPr>
        <p:spPr>
          <a:xfrm flipH="1">
            <a:off x="7239000" y="4572000"/>
            <a:ext cx="838200" cy="6096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Content Placeholder 2"/>
          <p:cNvSpPr txBox="1">
            <a:spLocks/>
          </p:cNvSpPr>
          <p:nvPr/>
        </p:nvSpPr>
        <p:spPr bwMode="auto">
          <a:xfrm>
            <a:off x="1600200" y="5990488"/>
            <a:ext cx="8981124" cy="486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400" kern="0">
                <a:solidFill>
                  <a:srgbClr val="FF0000"/>
                </a:solidFill>
                <a:latin typeface="Cambria" panose="02040503050406030204" pitchFamily="18" charset="0"/>
              </a:rPr>
              <a:t>Chú ý version có thể bị thay đổi, bạn tự kiểm tra lấy cái mới nhất</a:t>
            </a:r>
            <a:endParaRPr lang="vi-VN" sz="2400" kern="0">
              <a:solidFill>
                <a:srgbClr val="FF000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9242C870-A3B2-01C7-65CA-621426A493BF}"/>
              </a:ext>
            </a:extLst>
          </p:cNvPr>
          <p:cNvSpPr>
            <a:spLocks noGrp="1"/>
          </p:cNvSpPr>
          <p:nvPr>
            <p:ph type="sldNum" sz="quarter" idx="12"/>
          </p:nvPr>
        </p:nvSpPr>
        <p:spPr/>
        <p:txBody>
          <a:bodyPr/>
          <a:lstStyle/>
          <a:p>
            <a:fld id="{78EE6887-2290-4B81-8A6D-75BA854EF4EB}" type="slidenum">
              <a:rPr lang="en-US" smtClean="0"/>
              <a:pPr/>
              <a:t>18</a:t>
            </a:fld>
            <a:endParaRPr lang="en-US"/>
          </a:p>
        </p:txBody>
      </p:sp>
      <p:pic>
        <p:nvPicPr>
          <p:cNvPr id="13" name="Picture 12">
            <a:extLst>
              <a:ext uri="{FF2B5EF4-FFF2-40B4-BE49-F238E27FC236}">
                <a16:creationId xmlns:a16="http://schemas.microsoft.com/office/drawing/2014/main" id="{3E9B2092-A97B-6850-8F43-AFBEDA3DB010}"/>
              </a:ext>
            </a:extLst>
          </p:cNvPr>
          <p:cNvPicPr>
            <a:picLocks noChangeAspect="1"/>
          </p:cNvPicPr>
          <p:nvPr/>
        </p:nvPicPr>
        <p:blipFill>
          <a:blip r:embed="rId2"/>
          <a:stretch>
            <a:fillRect/>
          </a:stretch>
        </p:blipFill>
        <p:spPr>
          <a:xfrm>
            <a:off x="1610676" y="2377477"/>
            <a:ext cx="8469745" cy="3613011"/>
          </a:xfrm>
          <a:prstGeom prst="rect">
            <a:avLst/>
          </a:prstGeom>
        </p:spPr>
      </p:pic>
    </p:spTree>
    <p:extLst>
      <p:ext uri="{BB962C8B-B14F-4D97-AF65-F5344CB8AC3E}">
        <p14:creationId xmlns:p14="http://schemas.microsoft.com/office/powerpoint/2010/main" val="924577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E5A1B-BBA8-4946-D71C-F5C3417951F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155AA62-B0EA-F92D-2CEF-1E3B3A49703A}"/>
              </a:ext>
            </a:extLst>
          </p:cNvPr>
          <p:cNvGrpSpPr/>
          <p:nvPr/>
        </p:nvGrpSpPr>
        <p:grpSpPr>
          <a:xfrm>
            <a:off x="1828800" y="482600"/>
            <a:ext cx="4620576" cy="508000"/>
            <a:chOff x="789624" y="1191463"/>
            <a:chExt cx="4620576" cy="508000"/>
          </a:xfrm>
        </p:grpSpPr>
        <p:sp>
          <p:nvSpPr>
            <p:cNvPr id="3" name="AutoShape 52">
              <a:extLst>
                <a:ext uri="{FF2B5EF4-FFF2-40B4-BE49-F238E27FC236}">
                  <a16:creationId xmlns:a16="http://schemas.microsoft.com/office/drawing/2014/main" id="{AA8A21B9-2724-D605-3B5B-64F1E3C4E29A}"/>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Cách cài đặt JDK</a:t>
              </a:r>
            </a:p>
          </p:txBody>
        </p:sp>
        <p:grpSp>
          <p:nvGrpSpPr>
            <p:cNvPr id="4" name="Group 17">
              <a:extLst>
                <a:ext uri="{FF2B5EF4-FFF2-40B4-BE49-F238E27FC236}">
                  <a16:creationId xmlns:a16="http://schemas.microsoft.com/office/drawing/2014/main" id="{A820BFE9-7612-8AC1-20F2-FF49F1DE64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A624DE3-2BFD-C61D-A1ED-CFA56BBF318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1F2B63E-C085-AEDE-5712-2C49975033D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596DAE8-C5DA-0BF2-9B41-7999F2A5AA8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CC91240B-3694-3F0D-4BB9-FC3781CFCEAA}"/>
              </a:ext>
            </a:extLst>
          </p:cNvPr>
          <p:cNvSpPr txBox="1">
            <a:spLocks/>
          </p:cNvSpPr>
          <p:nvPr/>
        </p:nvSpPr>
        <p:spPr bwMode="auto">
          <a:xfrm>
            <a:off x="2003321" y="1066800"/>
            <a:ext cx="8229600" cy="1295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Ta nhấn double click vào tập tin JDK mới tải về để cài đặt:</a:t>
            </a:r>
            <a:endParaRPr lang="vi-VN"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38EC222D-6423-F6D0-0CF5-FB706AF5FE85}"/>
              </a:ext>
            </a:extLst>
          </p:cNvPr>
          <p:cNvSpPr>
            <a:spLocks noGrp="1"/>
          </p:cNvSpPr>
          <p:nvPr>
            <p:ph type="sldNum" sz="quarter" idx="12"/>
          </p:nvPr>
        </p:nvSpPr>
        <p:spPr/>
        <p:txBody>
          <a:bodyPr/>
          <a:lstStyle/>
          <a:p>
            <a:fld id="{78EE6887-2290-4B81-8A6D-75BA854EF4EB}" type="slidenum">
              <a:rPr lang="en-US" smtClean="0"/>
              <a:pPr/>
              <a:t>19</a:t>
            </a:fld>
            <a:endParaRPr lang="en-US"/>
          </a:p>
        </p:txBody>
      </p:sp>
      <p:pic>
        <p:nvPicPr>
          <p:cNvPr id="15" name="Picture 14">
            <a:extLst>
              <a:ext uri="{FF2B5EF4-FFF2-40B4-BE49-F238E27FC236}">
                <a16:creationId xmlns:a16="http://schemas.microsoft.com/office/drawing/2014/main" id="{93D87975-080B-E1FF-66EF-0ADA9EC6C684}"/>
              </a:ext>
            </a:extLst>
          </p:cNvPr>
          <p:cNvPicPr>
            <a:picLocks noChangeAspect="1"/>
          </p:cNvPicPr>
          <p:nvPr/>
        </p:nvPicPr>
        <p:blipFill>
          <a:blip r:embed="rId2"/>
          <a:stretch>
            <a:fillRect/>
          </a:stretch>
        </p:blipFill>
        <p:spPr>
          <a:xfrm>
            <a:off x="3436027" y="3121672"/>
            <a:ext cx="4772691" cy="3639058"/>
          </a:xfrm>
          <a:prstGeom prst="rect">
            <a:avLst/>
          </a:prstGeom>
        </p:spPr>
      </p:pic>
      <p:cxnSp>
        <p:nvCxnSpPr>
          <p:cNvPr id="14" name="Straight Arrow Connector 13">
            <a:extLst>
              <a:ext uri="{FF2B5EF4-FFF2-40B4-BE49-F238E27FC236}">
                <a16:creationId xmlns:a16="http://schemas.microsoft.com/office/drawing/2014/main" id="{C0905659-48DC-9415-9891-9AA6A65BB650}"/>
              </a:ext>
            </a:extLst>
          </p:cNvPr>
          <p:cNvCxnSpPr/>
          <p:nvPr/>
        </p:nvCxnSpPr>
        <p:spPr>
          <a:xfrm flipH="1">
            <a:off x="6795655" y="6111875"/>
            <a:ext cx="533400" cy="381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9808221F-BD13-364C-B0A7-C534C2DAD378}"/>
              </a:ext>
            </a:extLst>
          </p:cNvPr>
          <p:cNvPicPr>
            <a:picLocks noChangeAspect="1"/>
          </p:cNvPicPr>
          <p:nvPr/>
        </p:nvPicPr>
        <p:blipFill>
          <a:blip r:embed="rId3"/>
          <a:stretch>
            <a:fillRect/>
          </a:stretch>
        </p:blipFill>
        <p:spPr>
          <a:xfrm>
            <a:off x="2484280" y="2065279"/>
            <a:ext cx="6392167" cy="838317"/>
          </a:xfrm>
          <a:prstGeom prst="rect">
            <a:avLst/>
          </a:prstGeom>
        </p:spPr>
      </p:pic>
      <p:cxnSp>
        <p:nvCxnSpPr>
          <p:cNvPr id="12" name="Straight Arrow Connector 11">
            <a:extLst>
              <a:ext uri="{FF2B5EF4-FFF2-40B4-BE49-F238E27FC236}">
                <a16:creationId xmlns:a16="http://schemas.microsoft.com/office/drawing/2014/main" id="{F089946C-A325-DAFA-BF82-C4F280260FA4}"/>
              </a:ext>
            </a:extLst>
          </p:cNvPr>
          <p:cNvCxnSpPr/>
          <p:nvPr/>
        </p:nvCxnSpPr>
        <p:spPr>
          <a:xfrm>
            <a:off x="2869144" y="2830946"/>
            <a:ext cx="838200" cy="838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14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AB970-65C0-0EDC-F1C1-030052D2E50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8CE7961-92FF-5158-AE44-3D86151477E7}"/>
              </a:ext>
            </a:extLst>
          </p:cNvPr>
          <p:cNvGrpSpPr/>
          <p:nvPr/>
        </p:nvGrpSpPr>
        <p:grpSpPr>
          <a:xfrm>
            <a:off x="1828800" y="482600"/>
            <a:ext cx="4620576" cy="508000"/>
            <a:chOff x="789624" y="1191463"/>
            <a:chExt cx="4620576" cy="508000"/>
          </a:xfrm>
        </p:grpSpPr>
        <p:sp>
          <p:nvSpPr>
            <p:cNvPr id="3" name="AutoShape 52">
              <a:extLst>
                <a:ext uri="{FF2B5EF4-FFF2-40B4-BE49-F238E27FC236}">
                  <a16:creationId xmlns:a16="http://schemas.microsoft.com/office/drawing/2014/main" id="{1702ABF6-133E-272F-3E7F-19277CC68685}"/>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Cách tải JDK phù hợp</a:t>
              </a:r>
            </a:p>
          </p:txBody>
        </p:sp>
        <p:grpSp>
          <p:nvGrpSpPr>
            <p:cNvPr id="4" name="Group 17">
              <a:extLst>
                <a:ext uri="{FF2B5EF4-FFF2-40B4-BE49-F238E27FC236}">
                  <a16:creationId xmlns:a16="http://schemas.microsoft.com/office/drawing/2014/main" id="{A7188B86-EC2D-06A0-D931-F76FD93166E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FC0F1C4-A423-C4BC-6AD0-524D5FA5F8B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5D884BC-664B-B656-1655-BBE83A9E1F5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9E8B4CA-9461-7D20-EFA8-0F953A910D7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C4E85EC3-8997-010F-93DA-A27206FE70DC}"/>
              </a:ext>
            </a:extLst>
          </p:cNvPr>
          <p:cNvSpPr txBox="1">
            <a:spLocks/>
          </p:cNvSpPr>
          <p:nvPr/>
        </p:nvSpPr>
        <p:spPr bwMode="auto">
          <a:xfrm>
            <a:off x="2003321" y="1066800"/>
            <a:ext cx="82296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Chọn thư mục cài đặt:</a:t>
            </a:r>
          </a:p>
        </p:txBody>
      </p:sp>
      <p:sp>
        <p:nvSpPr>
          <p:cNvPr id="9" name="Slide Number Placeholder 8">
            <a:extLst>
              <a:ext uri="{FF2B5EF4-FFF2-40B4-BE49-F238E27FC236}">
                <a16:creationId xmlns:a16="http://schemas.microsoft.com/office/drawing/2014/main" id="{0CCB5FE7-8302-D1DA-8568-1C4F9A587A6F}"/>
              </a:ext>
            </a:extLst>
          </p:cNvPr>
          <p:cNvSpPr>
            <a:spLocks noGrp="1"/>
          </p:cNvSpPr>
          <p:nvPr>
            <p:ph type="sldNum" sz="quarter" idx="12"/>
          </p:nvPr>
        </p:nvSpPr>
        <p:spPr/>
        <p:txBody>
          <a:bodyPr/>
          <a:lstStyle/>
          <a:p>
            <a:fld id="{78EE6887-2290-4B81-8A6D-75BA854EF4EB}" type="slidenum">
              <a:rPr lang="en-US" smtClean="0"/>
              <a:pPr/>
              <a:t>20</a:t>
            </a:fld>
            <a:endParaRPr lang="en-US"/>
          </a:p>
        </p:txBody>
      </p:sp>
      <p:pic>
        <p:nvPicPr>
          <p:cNvPr id="12" name="Picture 11">
            <a:extLst>
              <a:ext uri="{FF2B5EF4-FFF2-40B4-BE49-F238E27FC236}">
                <a16:creationId xmlns:a16="http://schemas.microsoft.com/office/drawing/2014/main" id="{D0E46F26-1C27-3080-4F1E-6AF1C42A529A}"/>
              </a:ext>
            </a:extLst>
          </p:cNvPr>
          <p:cNvPicPr>
            <a:picLocks noChangeAspect="1"/>
          </p:cNvPicPr>
          <p:nvPr/>
        </p:nvPicPr>
        <p:blipFill>
          <a:blip r:embed="rId2"/>
          <a:stretch>
            <a:fillRect/>
          </a:stretch>
        </p:blipFill>
        <p:spPr>
          <a:xfrm>
            <a:off x="3299072" y="2027381"/>
            <a:ext cx="4744112" cy="3648584"/>
          </a:xfrm>
          <a:prstGeom prst="rect">
            <a:avLst/>
          </a:prstGeom>
        </p:spPr>
      </p:pic>
    </p:spTree>
    <p:extLst>
      <p:ext uri="{BB962C8B-B14F-4D97-AF65-F5344CB8AC3E}">
        <p14:creationId xmlns:p14="http://schemas.microsoft.com/office/powerpoint/2010/main" val="3171264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2C43B-6968-B9C8-2CAF-2D7DB0BF4DE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D7A07CA-53D7-FFC1-C6D0-707145B3A24B}"/>
              </a:ext>
            </a:extLst>
          </p:cNvPr>
          <p:cNvGrpSpPr/>
          <p:nvPr/>
        </p:nvGrpSpPr>
        <p:grpSpPr>
          <a:xfrm>
            <a:off x="1828800" y="482600"/>
            <a:ext cx="4620576" cy="508000"/>
            <a:chOff x="789624" y="1191463"/>
            <a:chExt cx="4620576" cy="508000"/>
          </a:xfrm>
        </p:grpSpPr>
        <p:sp>
          <p:nvSpPr>
            <p:cNvPr id="3" name="AutoShape 52">
              <a:extLst>
                <a:ext uri="{FF2B5EF4-FFF2-40B4-BE49-F238E27FC236}">
                  <a16:creationId xmlns:a16="http://schemas.microsoft.com/office/drawing/2014/main" id="{460347D3-2ACD-A793-1DE0-16CB9947E21D}"/>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Cách tải JDK phù hợp</a:t>
              </a:r>
            </a:p>
          </p:txBody>
        </p:sp>
        <p:grpSp>
          <p:nvGrpSpPr>
            <p:cNvPr id="4" name="Group 17">
              <a:extLst>
                <a:ext uri="{FF2B5EF4-FFF2-40B4-BE49-F238E27FC236}">
                  <a16:creationId xmlns:a16="http://schemas.microsoft.com/office/drawing/2014/main" id="{8C08715B-52C8-8EA2-733E-6C06B6036A0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1825CF-564E-C991-42F2-55756C56A30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41763D0-38B5-E2EC-2736-308E18189D5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97A57C5-5E27-A316-61FA-34E0395E922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0009B970-344B-1D37-8927-52A6A9AFB4AA}"/>
              </a:ext>
            </a:extLst>
          </p:cNvPr>
          <p:cNvSpPr txBox="1">
            <a:spLocks/>
          </p:cNvSpPr>
          <p:nvPr/>
        </p:nvSpPr>
        <p:spPr bwMode="auto">
          <a:xfrm>
            <a:off x="2003321" y="1066800"/>
            <a:ext cx="82296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Cài đặt JDK:</a:t>
            </a:r>
          </a:p>
        </p:txBody>
      </p:sp>
      <p:sp>
        <p:nvSpPr>
          <p:cNvPr id="9" name="Slide Number Placeholder 8">
            <a:extLst>
              <a:ext uri="{FF2B5EF4-FFF2-40B4-BE49-F238E27FC236}">
                <a16:creationId xmlns:a16="http://schemas.microsoft.com/office/drawing/2014/main" id="{7BC73C5E-EC50-0795-2743-9F7ABD77A781}"/>
              </a:ext>
            </a:extLst>
          </p:cNvPr>
          <p:cNvSpPr>
            <a:spLocks noGrp="1"/>
          </p:cNvSpPr>
          <p:nvPr>
            <p:ph type="sldNum" sz="quarter" idx="12"/>
          </p:nvPr>
        </p:nvSpPr>
        <p:spPr/>
        <p:txBody>
          <a:bodyPr/>
          <a:lstStyle/>
          <a:p>
            <a:fld id="{78EE6887-2290-4B81-8A6D-75BA854EF4EB}" type="slidenum">
              <a:rPr lang="en-US" smtClean="0"/>
              <a:pPr/>
              <a:t>21</a:t>
            </a:fld>
            <a:endParaRPr lang="en-US"/>
          </a:p>
        </p:txBody>
      </p:sp>
      <p:pic>
        <p:nvPicPr>
          <p:cNvPr id="11" name="Picture 10">
            <a:extLst>
              <a:ext uri="{FF2B5EF4-FFF2-40B4-BE49-F238E27FC236}">
                <a16:creationId xmlns:a16="http://schemas.microsoft.com/office/drawing/2014/main" id="{E33C8552-DFEC-66C4-80C4-2462AE57EF45}"/>
              </a:ext>
            </a:extLst>
          </p:cNvPr>
          <p:cNvPicPr>
            <a:picLocks noChangeAspect="1"/>
          </p:cNvPicPr>
          <p:nvPr/>
        </p:nvPicPr>
        <p:blipFill>
          <a:blip r:embed="rId2"/>
          <a:stretch>
            <a:fillRect/>
          </a:stretch>
        </p:blipFill>
        <p:spPr>
          <a:xfrm>
            <a:off x="1086818" y="1990437"/>
            <a:ext cx="4753638" cy="3639058"/>
          </a:xfrm>
          <a:prstGeom prst="rect">
            <a:avLst/>
          </a:prstGeom>
        </p:spPr>
      </p:pic>
      <p:pic>
        <p:nvPicPr>
          <p:cNvPr id="12" name="Picture 11">
            <a:extLst>
              <a:ext uri="{FF2B5EF4-FFF2-40B4-BE49-F238E27FC236}">
                <a16:creationId xmlns:a16="http://schemas.microsoft.com/office/drawing/2014/main" id="{B974B198-73BE-C94F-024B-B72437E8E908}"/>
              </a:ext>
            </a:extLst>
          </p:cNvPr>
          <p:cNvPicPr>
            <a:picLocks noChangeAspect="1"/>
          </p:cNvPicPr>
          <p:nvPr/>
        </p:nvPicPr>
        <p:blipFill>
          <a:blip r:embed="rId3"/>
          <a:stretch>
            <a:fillRect/>
          </a:stretch>
        </p:blipFill>
        <p:spPr>
          <a:xfrm>
            <a:off x="6665581" y="1990437"/>
            <a:ext cx="4753638" cy="3639058"/>
          </a:xfrm>
          <a:prstGeom prst="rect">
            <a:avLst/>
          </a:prstGeom>
        </p:spPr>
      </p:pic>
    </p:spTree>
    <p:extLst>
      <p:ext uri="{BB962C8B-B14F-4D97-AF65-F5344CB8AC3E}">
        <p14:creationId xmlns:p14="http://schemas.microsoft.com/office/powerpoint/2010/main" val="2662432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Cách tải JDK phù hợp</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Kiểm tra sau khi cài đặt:</a:t>
            </a:r>
          </a:p>
        </p:txBody>
      </p:sp>
      <p:sp>
        <p:nvSpPr>
          <p:cNvPr id="9" name="Slide Number Placeholder 8">
            <a:extLst>
              <a:ext uri="{FF2B5EF4-FFF2-40B4-BE49-F238E27FC236}">
                <a16:creationId xmlns:a16="http://schemas.microsoft.com/office/drawing/2014/main" id="{4027ED03-0F71-3BF7-59DB-3A35598D7EB9}"/>
              </a:ext>
            </a:extLst>
          </p:cNvPr>
          <p:cNvSpPr>
            <a:spLocks noGrp="1"/>
          </p:cNvSpPr>
          <p:nvPr>
            <p:ph type="sldNum" sz="quarter" idx="12"/>
          </p:nvPr>
        </p:nvSpPr>
        <p:spPr/>
        <p:txBody>
          <a:bodyPr/>
          <a:lstStyle/>
          <a:p>
            <a:fld id="{78EE6887-2290-4B81-8A6D-75BA854EF4EB}" type="slidenum">
              <a:rPr lang="en-US" smtClean="0"/>
              <a:pPr/>
              <a:t>22</a:t>
            </a:fld>
            <a:endParaRPr lang="en-US"/>
          </a:p>
        </p:txBody>
      </p:sp>
      <p:pic>
        <p:nvPicPr>
          <p:cNvPr id="15" name="Picture 14">
            <a:extLst>
              <a:ext uri="{FF2B5EF4-FFF2-40B4-BE49-F238E27FC236}">
                <a16:creationId xmlns:a16="http://schemas.microsoft.com/office/drawing/2014/main" id="{451BE6E5-E7C6-2B85-92AE-5AF5D7CEA871}"/>
              </a:ext>
            </a:extLst>
          </p:cNvPr>
          <p:cNvPicPr>
            <a:picLocks noChangeAspect="1"/>
          </p:cNvPicPr>
          <p:nvPr/>
        </p:nvPicPr>
        <p:blipFill>
          <a:blip r:embed="rId2"/>
          <a:stretch>
            <a:fillRect/>
          </a:stretch>
        </p:blipFill>
        <p:spPr>
          <a:xfrm>
            <a:off x="599390" y="2360426"/>
            <a:ext cx="10993220" cy="2633260"/>
          </a:xfrm>
          <a:prstGeom prst="rect">
            <a:avLst/>
          </a:prstGeom>
        </p:spPr>
      </p:pic>
    </p:spTree>
    <p:extLst>
      <p:ext uri="{BB962C8B-B14F-4D97-AF65-F5344CB8AC3E}">
        <p14:creationId xmlns:p14="http://schemas.microsoft.com/office/powerpoint/2010/main" val="2262579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Cài đặt biến môi trường cho Java</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96E0149-8C51-E6EF-E9E8-D9668863C00B}"/>
              </a:ext>
            </a:extLst>
          </p:cNvPr>
          <p:cNvSpPr>
            <a:spLocks noGrp="1"/>
          </p:cNvSpPr>
          <p:nvPr>
            <p:ph type="sldNum" sz="quarter" idx="12"/>
          </p:nvPr>
        </p:nvSpPr>
        <p:spPr/>
        <p:txBody>
          <a:bodyPr/>
          <a:lstStyle/>
          <a:p>
            <a:fld id="{78EE6887-2290-4B81-8A6D-75BA854EF4EB}" type="slidenum">
              <a:rPr lang="en-US" smtClean="0"/>
              <a:pPr/>
              <a:t>23</a:t>
            </a:fld>
            <a:endParaRPr lang="en-US"/>
          </a:p>
        </p:txBody>
      </p:sp>
    </p:spTree>
    <p:extLst>
      <p:ext uri="{BB962C8B-B14F-4D97-AF65-F5344CB8AC3E}">
        <p14:creationId xmlns:p14="http://schemas.microsoft.com/office/powerpoint/2010/main" val="1214053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3962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Các bước cài đặt biến môi trường</a:t>
            </a:r>
          </a:p>
          <a:p>
            <a:pPr lvl="0" algn="just">
              <a:buClr>
                <a:srgbClr val="3DC5C5"/>
              </a:buClr>
              <a:defRPr/>
            </a:pPr>
            <a:r>
              <a:rPr lang="vi-VN" kern="0">
                <a:solidFill>
                  <a:srgbClr val="002060"/>
                </a:solidFill>
                <a:latin typeface="Cambria" panose="02040503050406030204" pitchFamily="18" charset="0"/>
              </a:rPr>
              <a:t>Kiểm tra phiên bản javac và phiên bản java trong máy</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BE079AA7-9387-42D7-26D2-BBAA370FB78D}"/>
              </a:ext>
            </a:extLst>
          </p:cNvPr>
          <p:cNvSpPr>
            <a:spLocks noGrp="1"/>
          </p:cNvSpPr>
          <p:nvPr>
            <p:ph type="sldNum" sz="quarter" idx="12"/>
          </p:nvPr>
        </p:nvSpPr>
        <p:spPr/>
        <p:txBody>
          <a:bodyPr/>
          <a:lstStyle/>
          <a:p>
            <a:fld id="{78EE6887-2290-4B81-8A6D-75BA854EF4EB}" type="slidenum">
              <a:rPr lang="en-US" smtClean="0"/>
              <a:pPr/>
              <a:t>24</a:t>
            </a:fld>
            <a:endParaRPr lang="en-US"/>
          </a:p>
        </p:txBody>
      </p:sp>
    </p:spTree>
    <p:extLst>
      <p:ext uri="{BB962C8B-B14F-4D97-AF65-F5344CB8AC3E}">
        <p14:creationId xmlns:p14="http://schemas.microsoft.com/office/powerpoint/2010/main" val="2466466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1:</a:t>
            </a:r>
            <a:r>
              <a:rPr lang="en-US" kern="0">
                <a:solidFill>
                  <a:srgbClr val="002060"/>
                </a:solidFill>
                <a:latin typeface="Cambria" panose="02040503050406030204" pitchFamily="18" charset="0"/>
              </a:rPr>
              <a:t> Bấm chuột phải vào biểu tượng máy tính:</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4302031" y="1752601"/>
            <a:ext cx="3209925" cy="3209925"/>
          </a:xfrm>
          <a:prstGeom prst="rect">
            <a:avLst/>
          </a:prstGeom>
        </p:spPr>
      </p:pic>
      <p:sp>
        <p:nvSpPr>
          <p:cNvPr id="10" name="Content Placeholder 2"/>
          <p:cNvSpPr txBox="1">
            <a:spLocks/>
          </p:cNvSpPr>
          <p:nvPr/>
        </p:nvSpPr>
        <p:spPr bwMode="auto">
          <a:xfrm>
            <a:off x="1828800" y="5050098"/>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chọn Properties</a:t>
            </a:r>
            <a:endParaRPr lang="en-US" kern="0" dirty="0">
              <a:solidFill>
                <a:srgbClr val="002060"/>
              </a:solidFill>
              <a:latin typeface="Cambria" panose="02040503050406030204" pitchFamily="18" charset="0"/>
            </a:endParaRPr>
          </a:p>
        </p:txBody>
      </p:sp>
      <p:sp>
        <p:nvSpPr>
          <p:cNvPr id="11" name="Slide Number Placeholder 10">
            <a:extLst>
              <a:ext uri="{FF2B5EF4-FFF2-40B4-BE49-F238E27FC236}">
                <a16:creationId xmlns:a16="http://schemas.microsoft.com/office/drawing/2014/main" id="{A07268A3-4EA7-5D3A-74BD-78082E49AE50}"/>
              </a:ext>
            </a:extLst>
          </p:cNvPr>
          <p:cNvSpPr>
            <a:spLocks noGrp="1"/>
          </p:cNvSpPr>
          <p:nvPr>
            <p:ph type="sldNum" sz="quarter" idx="12"/>
          </p:nvPr>
        </p:nvSpPr>
        <p:spPr/>
        <p:txBody>
          <a:bodyPr/>
          <a:lstStyle/>
          <a:p>
            <a:fld id="{78EE6887-2290-4B81-8A6D-75BA854EF4EB}" type="slidenum">
              <a:rPr lang="en-US" smtClean="0"/>
              <a:pPr/>
              <a:t>25</a:t>
            </a:fld>
            <a:endParaRPr lang="en-US"/>
          </a:p>
        </p:txBody>
      </p:sp>
    </p:spTree>
    <p:extLst>
      <p:ext uri="{BB962C8B-B14F-4D97-AF65-F5344CB8AC3E}">
        <p14:creationId xmlns:p14="http://schemas.microsoft.com/office/powerpoint/2010/main" val="1382999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2:</a:t>
            </a:r>
            <a:r>
              <a:rPr lang="en-US" kern="0">
                <a:solidFill>
                  <a:srgbClr val="002060"/>
                </a:solidFill>
                <a:latin typeface="Cambria" panose="02040503050406030204" pitchFamily="18" charset="0"/>
              </a:rPr>
              <a:t> Chọn Advanced system settings</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480585EA-D9E1-DF87-C5D1-3B3BE259D660}"/>
              </a:ext>
            </a:extLst>
          </p:cNvPr>
          <p:cNvSpPr>
            <a:spLocks noGrp="1"/>
          </p:cNvSpPr>
          <p:nvPr>
            <p:ph type="sldNum" sz="quarter" idx="12"/>
          </p:nvPr>
        </p:nvSpPr>
        <p:spPr/>
        <p:txBody>
          <a:bodyPr/>
          <a:lstStyle/>
          <a:p>
            <a:fld id="{78EE6887-2290-4B81-8A6D-75BA854EF4EB}" type="slidenum">
              <a:rPr lang="en-US" smtClean="0"/>
              <a:pPr/>
              <a:t>26</a:t>
            </a:fld>
            <a:endParaRPr lang="en-US"/>
          </a:p>
        </p:txBody>
      </p:sp>
      <p:pic>
        <p:nvPicPr>
          <p:cNvPr id="10" name="Picture 9">
            <a:extLst>
              <a:ext uri="{FF2B5EF4-FFF2-40B4-BE49-F238E27FC236}">
                <a16:creationId xmlns:a16="http://schemas.microsoft.com/office/drawing/2014/main" id="{2269CECD-6A61-B29E-3640-FE7A7BFF96CF}"/>
              </a:ext>
            </a:extLst>
          </p:cNvPr>
          <p:cNvPicPr>
            <a:picLocks noChangeAspect="1"/>
          </p:cNvPicPr>
          <p:nvPr/>
        </p:nvPicPr>
        <p:blipFill>
          <a:blip r:embed="rId2"/>
          <a:srcRect b="20866"/>
          <a:stretch>
            <a:fillRect/>
          </a:stretch>
        </p:blipFill>
        <p:spPr>
          <a:xfrm>
            <a:off x="2584561" y="1709715"/>
            <a:ext cx="6427463" cy="4665685"/>
          </a:xfrm>
          <a:prstGeom prst="rect">
            <a:avLst/>
          </a:prstGeom>
        </p:spPr>
      </p:pic>
      <p:cxnSp>
        <p:nvCxnSpPr>
          <p:cNvPr id="13" name="Straight Arrow Connector 12"/>
          <p:cNvCxnSpPr/>
          <p:nvPr/>
        </p:nvCxnSpPr>
        <p:spPr>
          <a:xfrm flipH="1">
            <a:off x="5829300" y="5001705"/>
            <a:ext cx="533400" cy="457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133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3:</a:t>
            </a:r>
            <a:r>
              <a:rPr lang="en-US" kern="0">
                <a:solidFill>
                  <a:srgbClr val="002060"/>
                </a:solidFill>
                <a:latin typeface="Cambria" panose="02040503050406030204" pitchFamily="18" charset="0"/>
              </a:rPr>
              <a:t> Chọn Environment Variables…</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4038600" y="1824251"/>
            <a:ext cx="3924300" cy="4457700"/>
          </a:xfrm>
          <a:prstGeom prst="rect">
            <a:avLst/>
          </a:prstGeom>
        </p:spPr>
      </p:pic>
      <p:cxnSp>
        <p:nvCxnSpPr>
          <p:cNvPr id="12" name="Straight Arrow Connector 11"/>
          <p:cNvCxnSpPr/>
          <p:nvPr/>
        </p:nvCxnSpPr>
        <p:spPr>
          <a:xfrm flipH="1">
            <a:off x="7696200" y="4953000"/>
            <a:ext cx="533400" cy="457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Slide Number Placeholder 9">
            <a:extLst>
              <a:ext uri="{FF2B5EF4-FFF2-40B4-BE49-F238E27FC236}">
                <a16:creationId xmlns:a16="http://schemas.microsoft.com/office/drawing/2014/main" id="{47405A3F-AD86-7F9D-6939-0C313779379D}"/>
              </a:ext>
            </a:extLst>
          </p:cNvPr>
          <p:cNvSpPr>
            <a:spLocks noGrp="1"/>
          </p:cNvSpPr>
          <p:nvPr>
            <p:ph type="sldNum" sz="quarter" idx="12"/>
          </p:nvPr>
        </p:nvSpPr>
        <p:spPr/>
        <p:txBody>
          <a:bodyPr/>
          <a:lstStyle/>
          <a:p>
            <a:fld id="{78EE6887-2290-4B81-8A6D-75BA854EF4EB}" type="slidenum">
              <a:rPr lang="en-US" smtClean="0"/>
              <a:pPr/>
              <a:t>27</a:t>
            </a:fld>
            <a:endParaRPr lang="en-US"/>
          </a:p>
        </p:txBody>
      </p:sp>
    </p:spTree>
    <p:extLst>
      <p:ext uri="{BB962C8B-B14F-4D97-AF65-F5344CB8AC3E}">
        <p14:creationId xmlns:p14="http://schemas.microsoft.com/office/powerpoint/2010/main" val="2087796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4:</a:t>
            </a:r>
            <a:r>
              <a:rPr lang="en-US" kern="0">
                <a:solidFill>
                  <a:srgbClr val="002060"/>
                </a:solidFill>
                <a:latin typeface="Cambria" panose="02040503050406030204" pitchFamily="18" charset="0"/>
              </a:rPr>
              <a:t> Tạo biến JAVA_HOME</a:t>
            </a:r>
            <a:endParaRPr lang="en-US" kern="0" dirty="0">
              <a:solidFill>
                <a:srgbClr val="002060"/>
              </a:solidFill>
              <a:latin typeface="Cambria" panose="02040503050406030204" pitchFamily="18" charset="0"/>
            </a:endParaRPr>
          </a:p>
        </p:txBody>
      </p:sp>
      <p:sp>
        <p:nvSpPr>
          <p:cNvPr id="14" name="Content Placeholder 2"/>
          <p:cNvSpPr txBox="1">
            <a:spLocks/>
          </p:cNvSpPr>
          <p:nvPr/>
        </p:nvSpPr>
        <p:spPr bwMode="auto">
          <a:xfrm>
            <a:off x="1866392" y="3886200"/>
            <a:ext cx="3315208"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sz="2400" kern="0">
                <a:solidFill>
                  <a:srgbClr val="002060"/>
                </a:solidFill>
                <a:latin typeface="Cambria" panose="02040503050406030204" pitchFamily="18" charset="0"/>
              </a:rPr>
              <a:t>Kiểm tra trong System variables chưa có JAVA_HOME thì bấm New.</a:t>
            </a:r>
            <a:endParaRPr lang="en-US" sz="2400"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4B6CDA89-7B84-02F4-5EB4-9535C81B0636}"/>
              </a:ext>
            </a:extLst>
          </p:cNvPr>
          <p:cNvSpPr>
            <a:spLocks noGrp="1"/>
          </p:cNvSpPr>
          <p:nvPr>
            <p:ph type="sldNum" sz="quarter" idx="12"/>
          </p:nvPr>
        </p:nvSpPr>
        <p:spPr/>
        <p:txBody>
          <a:bodyPr/>
          <a:lstStyle/>
          <a:p>
            <a:fld id="{78EE6887-2290-4B81-8A6D-75BA854EF4EB}" type="slidenum">
              <a:rPr lang="en-US" smtClean="0"/>
              <a:pPr/>
              <a:t>28</a:t>
            </a:fld>
            <a:endParaRPr lang="en-US"/>
          </a:p>
        </p:txBody>
      </p:sp>
      <p:pic>
        <p:nvPicPr>
          <p:cNvPr id="12" name="Picture 11">
            <a:extLst>
              <a:ext uri="{FF2B5EF4-FFF2-40B4-BE49-F238E27FC236}">
                <a16:creationId xmlns:a16="http://schemas.microsoft.com/office/drawing/2014/main" id="{9099A443-534B-974F-78AA-6B06C678C365}"/>
              </a:ext>
            </a:extLst>
          </p:cNvPr>
          <p:cNvPicPr>
            <a:picLocks noChangeAspect="1"/>
          </p:cNvPicPr>
          <p:nvPr/>
        </p:nvPicPr>
        <p:blipFill>
          <a:blip r:embed="rId2"/>
          <a:stretch>
            <a:fillRect/>
          </a:stretch>
        </p:blipFill>
        <p:spPr>
          <a:xfrm>
            <a:off x="5899774" y="1599419"/>
            <a:ext cx="5144832" cy="4893456"/>
          </a:xfrm>
          <a:prstGeom prst="rect">
            <a:avLst/>
          </a:prstGeom>
        </p:spPr>
      </p:pic>
      <p:cxnSp>
        <p:nvCxnSpPr>
          <p:cNvPr id="13" name="Straight Arrow Connector 12"/>
          <p:cNvCxnSpPr/>
          <p:nvPr/>
        </p:nvCxnSpPr>
        <p:spPr>
          <a:xfrm>
            <a:off x="7828280" y="5810054"/>
            <a:ext cx="838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907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4:</a:t>
            </a:r>
            <a:r>
              <a:rPr lang="en-US" kern="0">
                <a:solidFill>
                  <a:srgbClr val="002060"/>
                </a:solidFill>
                <a:latin typeface="Cambria" panose="02040503050406030204" pitchFamily="18" charset="0"/>
              </a:rPr>
              <a:t> Tạo biến JAVA_HOME</a:t>
            </a:r>
            <a:endParaRPr lang="en-US" kern="0" dirty="0">
              <a:solidFill>
                <a:srgbClr val="002060"/>
              </a:solidFill>
              <a:latin typeface="Cambria" panose="02040503050406030204" pitchFamily="18" charset="0"/>
            </a:endParaRPr>
          </a:p>
        </p:txBody>
      </p:sp>
      <p:sp>
        <p:nvSpPr>
          <p:cNvPr id="15" name="Content Placeholder 2"/>
          <p:cNvSpPr txBox="1">
            <a:spLocks/>
          </p:cNvSpPr>
          <p:nvPr/>
        </p:nvSpPr>
        <p:spPr bwMode="auto">
          <a:xfrm>
            <a:off x="2073209" y="36576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sz="2400" u="sng" kern="0">
                <a:solidFill>
                  <a:srgbClr val="002060"/>
                </a:solidFill>
                <a:latin typeface="Cambria" panose="02040503050406030204" pitchFamily="18" charset="0"/>
              </a:rPr>
              <a:t>Variable name:</a:t>
            </a:r>
            <a:r>
              <a:rPr lang="en-US" sz="2400" kern="0">
                <a:solidFill>
                  <a:srgbClr val="002060"/>
                </a:solidFill>
                <a:latin typeface="Cambria" panose="02040503050406030204" pitchFamily="18" charset="0"/>
              </a:rPr>
              <a:t> đặt tên là </a:t>
            </a:r>
            <a:r>
              <a:rPr lang="en-US" sz="2400" kern="0">
                <a:solidFill>
                  <a:srgbClr val="FF0000"/>
                </a:solidFill>
                <a:latin typeface="Cambria" panose="02040503050406030204" pitchFamily="18" charset="0"/>
              </a:rPr>
              <a:t>JAVA_HOME</a:t>
            </a:r>
          </a:p>
          <a:p>
            <a:pPr marL="0" indent="0" algn="just">
              <a:buClr>
                <a:srgbClr val="3DC5C5"/>
              </a:buClr>
              <a:buNone/>
              <a:defRPr/>
            </a:pPr>
            <a:r>
              <a:rPr lang="en-US" sz="2400" u="sng" kern="0">
                <a:solidFill>
                  <a:srgbClr val="002060"/>
                </a:solidFill>
                <a:latin typeface="Cambria" panose="02040503050406030204" pitchFamily="18" charset="0"/>
              </a:rPr>
              <a:t>Variable value:</a:t>
            </a:r>
            <a:r>
              <a:rPr lang="en-US" sz="2400" kern="0">
                <a:solidFill>
                  <a:srgbClr val="002060"/>
                </a:solidFill>
                <a:latin typeface="Cambria" panose="02040503050406030204" pitchFamily="18" charset="0"/>
              </a:rPr>
              <a:t> trỏ tới đường dẫn JDK mà ta vừa cài đặt xong</a:t>
            </a:r>
          </a:p>
          <a:p>
            <a:pPr marL="0" indent="0" algn="just">
              <a:buClr>
                <a:srgbClr val="3DC5C5"/>
              </a:buClr>
              <a:buNone/>
              <a:defRPr/>
            </a:pPr>
            <a:r>
              <a:rPr lang="en-US" sz="2400" kern="0">
                <a:solidFill>
                  <a:srgbClr val="002060"/>
                </a:solidFill>
                <a:latin typeface="Cambria" panose="02040503050406030204" pitchFamily="18" charset="0"/>
              </a:rPr>
              <a:t>Sau đó bấm OK</a:t>
            </a:r>
            <a:endParaRPr lang="en-US" sz="2400" kern="0" dirty="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17325363-BC75-7F6F-8FEC-2FAF50C7F958}"/>
              </a:ext>
            </a:extLst>
          </p:cNvPr>
          <p:cNvSpPr>
            <a:spLocks noGrp="1"/>
          </p:cNvSpPr>
          <p:nvPr>
            <p:ph type="sldNum" sz="quarter" idx="12"/>
          </p:nvPr>
        </p:nvSpPr>
        <p:spPr/>
        <p:txBody>
          <a:bodyPr/>
          <a:lstStyle/>
          <a:p>
            <a:fld id="{78EE6887-2290-4B81-8A6D-75BA854EF4EB}" type="slidenum">
              <a:rPr lang="en-US" smtClean="0"/>
              <a:pPr/>
              <a:t>29</a:t>
            </a:fld>
            <a:endParaRPr lang="en-US"/>
          </a:p>
        </p:txBody>
      </p:sp>
      <p:pic>
        <p:nvPicPr>
          <p:cNvPr id="12" name="Picture 11">
            <a:extLst>
              <a:ext uri="{FF2B5EF4-FFF2-40B4-BE49-F238E27FC236}">
                <a16:creationId xmlns:a16="http://schemas.microsoft.com/office/drawing/2014/main" id="{F06CD347-2FA4-77AA-7D3F-F7A8B93D3A43}"/>
              </a:ext>
            </a:extLst>
          </p:cNvPr>
          <p:cNvPicPr>
            <a:picLocks noChangeAspect="1"/>
          </p:cNvPicPr>
          <p:nvPr/>
        </p:nvPicPr>
        <p:blipFill>
          <a:blip r:embed="rId2"/>
          <a:stretch>
            <a:fillRect/>
          </a:stretch>
        </p:blipFill>
        <p:spPr>
          <a:xfrm>
            <a:off x="2716841" y="1914414"/>
            <a:ext cx="6249272" cy="1581371"/>
          </a:xfrm>
          <a:prstGeom prst="rect">
            <a:avLst/>
          </a:prstGeom>
        </p:spPr>
      </p:pic>
    </p:spTree>
    <p:extLst>
      <p:ext uri="{BB962C8B-B14F-4D97-AF65-F5344CB8AC3E}">
        <p14:creationId xmlns:p14="http://schemas.microsoft.com/office/powerpoint/2010/main" val="3908411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4:</a:t>
            </a:r>
            <a:r>
              <a:rPr lang="en-US" kern="0">
                <a:solidFill>
                  <a:srgbClr val="002060"/>
                </a:solidFill>
                <a:latin typeface="Cambria" panose="02040503050406030204" pitchFamily="18" charset="0"/>
              </a:rPr>
              <a:t> kết quả:</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EF5C8603-7231-FA5D-F168-75A2BCCE3BB7}"/>
              </a:ext>
            </a:extLst>
          </p:cNvPr>
          <p:cNvSpPr>
            <a:spLocks noGrp="1"/>
          </p:cNvSpPr>
          <p:nvPr>
            <p:ph type="sldNum" sz="quarter" idx="12"/>
          </p:nvPr>
        </p:nvSpPr>
        <p:spPr/>
        <p:txBody>
          <a:bodyPr/>
          <a:lstStyle/>
          <a:p>
            <a:fld id="{78EE6887-2290-4B81-8A6D-75BA854EF4EB}" type="slidenum">
              <a:rPr lang="en-US" smtClean="0"/>
              <a:pPr/>
              <a:t>30</a:t>
            </a:fld>
            <a:endParaRPr lang="en-US"/>
          </a:p>
        </p:txBody>
      </p:sp>
      <p:pic>
        <p:nvPicPr>
          <p:cNvPr id="19" name="Picture 18">
            <a:extLst>
              <a:ext uri="{FF2B5EF4-FFF2-40B4-BE49-F238E27FC236}">
                <a16:creationId xmlns:a16="http://schemas.microsoft.com/office/drawing/2014/main" id="{832788D0-9A82-CCF2-D0C9-E722B830726C}"/>
              </a:ext>
            </a:extLst>
          </p:cNvPr>
          <p:cNvPicPr>
            <a:picLocks noChangeAspect="1"/>
          </p:cNvPicPr>
          <p:nvPr/>
        </p:nvPicPr>
        <p:blipFill>
          <a:blip r:embed="rId2"/>
          <a:stretch>
            <a:fillRect/>
          </a:stretch>
        </p:blipFill>
        <p:spPr>
          <a:xfrm>
            <a:off x="5235589" y="1329414"/>
            <a:ext cx="5329662" cy="5045986"/>
          </a:xfrm>
          <a:prstGeom prst="rect">
            <a:avLst/>
          </a:prstGeom>
        </p:spPr>
      </p:pic>
      <p:cxnSp>
        <p:nvCxnSpPr>
          <p:cNvPr id="12" name="Straight Arrow Connector 11"/>
          <p:cNvCxnSpPr/>
          <p:nvPr/>
        </p:nvCxnSpPr>
        <p:spPr>
          <a:xfrm>
            <a:off x="3578586" y="4706332"/>
            <a:ext cx="19050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531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5:</a:t>
            </a:r>
            <a:r>
              <a:rPr lang="en-US" kern="0">
                <a:solidFill>
                  <a:srgbClr val="002060"/>
                </a:solidFill>
                <a:latin typeface="Cambria" panose="02040503050406030204" pitchFamily="18" charset="0"/>
              </a:rPr>
              <a:t> Cấu hình cho Path</a:t>
            </a:r>
            <a:endParaRPr lang="en-US" kern="0" dirty="0">
              <a:solidFill>
                <a:srgbClr val="002060"/>
              </a:solidFill>
              <a:latin typeface="Cambria" panose="02040503050406030204" pitchFamily="18" charset="0"/>
            </a:endParaRPr>
          </a:p>
        </p:txBody>
      </p:sp>
      <p:sp>
        <p:nvSpPr>
          <p:cNvPr id="13" name="Content Placeholder 2"/>
          <p:cNvSpPr txBox="1">
            <a:spLocks/>
          </p:cNvSpPr>
          <p:nvPr/>
        </p:nvSpPr>
        <p:spPr bwMode="auto">
          <a:xfrm>
            <a:off x="7106601" y="4724400"/>
            <a:ext cx="38100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sz="2400" kern="0">
                <a:solidFill>
                  <a:srgbClr val="002060"/>
                </a:solidFill>
                <a:latin typeface="Cambria" panose="02040503050406030204" pitchFamily="18" charset="0"/>
              </a:rPr>
              <a:t>Chọn Path sau đó bấm Edit</a:t>
            </a:r>
            <a:endParaRPr lang="en-US" sz="2400" kern="0" dirty="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1FC29C55-9915-542C-D1C2-AA06B65F2D16}"/>
              </a:ext>
            </a:extLst>
          </p:cNvPr>
          <p:cNvSpPr>
            <a:spLocks noGrp="1"/>
          </p:cNvSpPr>
          <p:nvPr>
            <p:ph type="sldNum" sz="quarter" idx="12"/>
          </p:nvPr>
        </p:nvSpPr>
        <p:spPr/>
        <p:txBody>
          <a:bodyPr/>
          <a:lstStyle/>
          <a:p>
            <a:fld id="{78EE6887-2290-4B81-8A6D-75BA854EF4EB}" type="slidenum">
              <a:rPr lang="en-US" smtClean="0"/>
              <a:pPr/>
              <a:t>31</a:t>
            </a:fld>
            <a:endParaRPr lang="en-US"/>
          </a:p>
        </p:txBody>
      </p:sp>
      <p:pic>
        <p:nvPicPr>
          <p:cNvPr id="14" name="Picture 13">
            <a:extLst>
              <a:ext uri="{FF2B5EF4-FFF2-40B4-BE49-F238E27FC236}">
                <a16:creationId xmlns:a16="http://schemas.microsoft.com/office/drawing/2014/main" id="{F9021E98-4B51-00B3-64EB-6F103F06B324}"/>
              </a:ext>
            </a:extLst>
          </p:cNvPr>
          <p:cNvPicPr>
            <a:picLocks noChangeAspect="1"/>
          </p:cNvPicPr>
          <p:nvPr/>
        </p:nvPicPr>
        <p:blipFill>
          <a:blip r:embed="rId2"/>
          <a:stretch>
            <a:fillRect/>
          </a:stretch>
        </p:blipFill>
        <p:spPr>
          <a:xfrm>
            <a:off x="1828800" y="1698464"/>
            <a:ext cx="5057119" cy="4794411"/>
          </a:xfrm>
          <a:prstGeom prst="rect">
            <a:avLst/>
          </a:prstGeom>
        </p:spPr>
      </p:pic>
      <p:sp>
        <p:nvSpPr>
          <p:cNvPr id="11" name="Freeform 10"/>
          <p:cNvSpPr/>
          <p:nvPr/>
        </p:nvSpPr>
        <p:spPr>
          <a:xfrm>
            <a:off x="4097082" y="5371707"/>
            <a:ext cx="1587282" cy="418076"/>
          </a:xfrm>
          <a:custGeom>
            <a:avLst/>
            <a:gdLst>
              <a:gd name="connsiteX0" fmla="*/ 0 w 2485825"/>
              <a:gd name="connsiteY0" fmla="*/ 27295 h 668740"/>
              <a:gd name="connsiteX1" fmla="*/ 218364 w 2485825"/>
              <a:gd name="connsiteY1" fmla="*/ 13647 h 668740"/>
              <a:gd name="connsiteX2" fmla="*/ 286603 w 2485825"/>
              <a:gd name="connsiteY2" fmla="*/ 0 h 668740"/>
              <a:gd name="connsiteX3" fmla="*/ 2047164 w 2485825"/>
              <a:gd name="connsiteY3" fmla="*/ 13647 h 668740"/>
              <a:gd name="connsiteX4" fmla="*/ 2197290 w 2485825"/>
              <a:gd name="connsiteY4" fmla="*/ 54591 h 668740"/>
              <a:gd name="connsiteX5" fmla="*/ 2251881 w 2485825"/>
              <a:gd name="connsiteY5" fmla="*/ 81886 h 668740"/>
              <a:gd name="connsiteX6" fmla="*/ 2306472 w 2485825"/>
              <a:gd name="connsiteY6" fmla="*/ 95534 h 668740"/>
              <a:gd name="connsiteX7" fmla="*/ 2388358 w 2485825"/>
              <a:gd name="connsiteY7" fmla="*/ 122829 h 668740"/>
              <a:gd name="connsiteX8" fmla="*/ 2429302 w 2485825"/>
              <a:gd name="connsiteY8" fmla="*/ 150125 h 668740"/>
              <a:gd name="connsiteX9" fmla="*/ 2470245 w 2485825"/>
              <a:gd name="connsiteY9" fmla="*/ 245659 h 668740"/>
              <a:gd name="connsiteX10" fmla="*/ 2483893 w 2485825"/>
              <a:gd name="connsiteY10" fmla="*/ 668740 h 66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5825" h="668740">
                <a:moveTo>
                  <a:pt x="0" y="27295"/>
                </a:moveTo>
                <a:cubicBezTo>
                  <a:pt x="72788" y="22746"/>
                  <a:pt x="145762" y="20561"/>
                  <a:pt x="218364" y="13647"/>
                </a:cubicBezTo>
                <a:cubicBezTo>
                  <a:pt x="241456" y="11448"/>
                  <a:pt x="263406" y="0"/>
                  <a:pt x="286603" y="0"/>
                </a:cubicBezTo>
                <a:lnTo>
                  <a:pt x="2047164" y="13647"/>
                </a:lnTo>
                <a:cubicBezTo>
                  <a:pt x="2063866" y="17822"/>
                  <a:pt x="2161574" y="39285"/>
                  <a:pt x="2197290" y="54591"/>
                </a:cubicBezTo>
                <a:cubicBezTo>
                  <a:pt x="2215990" y="62605"/>
                  <a:pt x="2232832" y="74743"/>
                  <a:pt x="2251881" y="81886"/>
                </a:cubicBezTo>
                <a:cubicBezTo>
                  <a:pt x="2269444" y="88472"/>
                  <a:pt x="2288506" y="90144"/>
                  <a:pt x="2306472" y="95534"/>
                </a:cubicBezTo>
                <a:cubicBezTo>
                  <a:pt x="2334030" y="103801"/>
                  <a:pt x="2388358" y="122829"/>
                  <a:pt x="2388358" y="122829"/>
                </a:cubicBezTo>
                <a:cubicBezTo>
                  <a:pt x="2402006" y="131928"/>
                  <a:pt x="2418801" y="137524"/>
                  <a:pt x="2429302" y="150125"/>
                </a:cubicBezTo>
                <a:cubicBezTo>
                  <a:pt x="2448039" y="172609"/>
                  <a:pt x="2460764" y="217217"/>
                  <a:pt x="2470245" y="245659"/>
                </a:cubicBezTo>
                <a:cubicBezTo>
                  <a:pt x="2493399" y="477197"/>
                  <a:pt x="2483893" y="336417"/>
                  <a:pt x="2483893" y="668740"/>
                </a:cubicBezTo>
              </a:path>
            </a:pathLst>
          </a:custGeom>
          <a:noFill/>
          <a:ln w="571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5877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5:</a:t>
            </a:r>
            <a:r>
              <a:rPr lang="en-US" kern="0">
                <a:solidFill>
                  <a:srgbClr val="002060"/>
                </a:solidFill>
                <a:latin typeface="Cambria" panose="02040503050406030204" pitchFamily="18" charset="0"/>
              </a:rPr>
              <a:t> Cấu hình cho Path</a:t>
            </a:r>
            <a:endParaRPr lang="en-US" kern="0" dirty="0">
              <a:solidFill>
                <a:srgbClr val="002060"/>
              </a:solidFill>
              <a:latin typeface="Cambria" panose="02040503050406030204" pitchFamily="18" charset="0"/>
            </a:endParaRPr>
          </a:p>
        </p:txBody>
      </p:sp>
      <p:sp>
        <p:nvSpPr>
          <p:cNvPr id="14" name="Content Placeholder 2"/>
          <p:cNvSpPr txBox="1">
            <a:spLocks/>
          </p:cNvSpPr>
          <p:nvPr/>
        </p:nvSpPr>
        <p:spPr bwMode="auto">
          <a:xfrm>
            <a:off x="7620000" y="4495800"/>
            <a:ext cx="2337488"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sz="2400" kern="0">
                <a:solidFill>
                  <a:srgbClr val="002060"/>
                </a:solidFill>
                <a:latin typeface="Cambria" panose="02040503050406030204" pitchFamily="18" charset="0"/>
              </a:rPr>
              <a:t>Bấm Edit Text…</a:t>
            </a:r>
            <a:endParaRPr lang="en-US" sz="2400"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DAD7516E-4C75-B94A-3A7D-DEDF093B246D}"/>
              </a:ext>
            </a:extLst>
          </p:cNvPr>
          <p:cNvSpPr>
            <a:spLocks noGrp="1"/>
          </p:cNvSpPr>
          <p:nvPr>
            <p:ph type="sldNum" sz="quarter" idx="12"/>
          </p:nvPr>
        </p:nvSpPr>
        <p:spPr/>
        <p:txBody>
          <a:bodyPr/>
          <a:lstStyle/>
          <a:p>
            <a:fld id="{78EE6887-2290-4B81-8A6D-75BA854EF4EB}" type="slidenum">
              <a:rPr lang="en-US" smtClean="0"/>
              <a:pPr/>
              <a:t>32</a:t>
            </a:fld>
            <a:endParaRPr lang="en-US"/>
          </a:p>
        </p:txBody>
      </p:sp>
      <p:pic>
        <p:nvPicPr>
          <p:cNvPr id="12" name="Picture 11">
            <a:extLst>
              <a:ext uri="{FF2B5EF4-FFF2-40B4-BE49-F238E27FC236}">
                <a16:creationId xmlns:a16="http://schemas.microsoft.com/office/drawing/2014/main" id="{AC597E3E-EAAC-BA4B-F32A-4C943F739DC3}"/>
              </a:ext>
            </a:extLst>
          </p:cNvPr>
          <p:cNvPicPr>
            <a:picLocks noChangeAspect="1"/>
          </p:cNvPicPr>
          <p:nvPr/>
        </p:nvPicPr>
        <p:blipFill>
          <a:blip r:embed="rId2"/>
          <a:stretch>
            <a:fillRect/>
          </a:stretch>
        </p:blipFill>
        <p:spPr>
          <a:xfrm>
            <a:off x="2179210" y="1750682"/>
            <a:ext cx="4991797" cy="4744112"/>
          </a:xfrm>
          <a:prstGeom prst="rect">
            <a:avLst/>
          </a:prstGeom>
        </p:spPr>
      </p:pic>
      <p:cxnSp>
        <p:nvCxnSpPr>
          <p:cNvPr id="15" name="Straight Arrow Connector 14"/>
          <p:cNvCxnSpPr>
            <a:cxnSpLocks/>
          </p:cNvCxnSpPr>
          <p:nvPr/>
        </p:nvCxnSpPr>
        <p:spPr>
          <a:xfrm flipV="1">
            <a:off x="7053464" y="4722829"/>
            <a:ext cx="667089" cy="997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1860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5:</a:t>
            </a:r>
            <a:r>
              <a:rPr lang="en-US" kern="0">
                <a:solidFill>
                  <a:srgbClr val="002060"/>
                </a:solidFill>
                <a:latin typeface="Cambria" panose="02040503050406030204" pitchFamily="18" charset="0"/>
              </a:rPr>
              <a:t> Cấu hình cho Path</a:t>
            </a:r>
            <a:endParaRPr lang="en-US" kern="0" dirty="0">
              <a:solidFill>
                <a:srgbClr val="002060"/>
              </a:solidFill>
              <a:latin typeface="Cambria" panose="02040503050406030204" pitchFamily="18" charset="0"/>
            </a:endParaRPr>
          </a:p>
        </p:txBody>
      </p:sp>
      <p:sp>
        <p:nvSpPr>
          <p:cNvPr id="12" name="Rectangle 11"/>
          <p:cNvSpPr/>
          <p:nvPr/>
        </p:nvSpPr>
        <p:spPr>
          <a:xfrm>
            <a:off x="3733801" y="3657600"/>
            <a:ext cx="3684407" cy="523220"/>
          </a:xfrm>
          <a:prstGeom prst="rect">
            <a:avLst/>
          </a:prstGeom>
        </p:spPr>
        <p:txBody>
          <a:bodyPr wrap="none">
            <a:spAutoFit/>
          </a:bodyPr>
          <a:lstStyle/>
          <a:p>
            <a:r>
              <a:rPr lang="en-US" sz="2800">
                <a:latin typeface="Cambria" panose="02040503050406030204" pitchFamily="18" charset="0"/>
              </a:rPr>
              <a:t>;%JAVA_HOME%\bin;.;</a:t>
            </a:r>
          </a:p>
        </p:txBody>
      </p:sp>
      <p:sp>
        <p:nvSpPr>
          <p:cNvPr id="16" name="Rectangle 15"/>
          <p:cNvSpPr/>
          <p:nvPr/>
        </p:nvSpPr>
        <p:spPr>
          <a:xfrm>
            <a:off x="2099874" y="4572000"/>
            <a:ext cx="8036495" cy="523220"/>
          </a:xfrm>
          <a:prstGeom prst="rect">
            <a:avLst/>
          </a:prstGeom>
        </p:spPr>
        <p:txBody>
          <a:bodyPr wrap="none">
            <a:spAutoFit/>
          </a:bodyPr>
          <a:lstStyle/>
          <a:p>
            <a:r>
              <a:rPr lang="en-US" sz="2800">
                <a:latin typeface="Cambria" panose="02040503050406030204" pitchFamily="18" charset="0"/>
              </a:rPr>
              <a:t>Thêm lệnh trên đằng sau Variable Value rồi bấm OK</a:t>
            </a:r>
          </a:p>
        </p:txBody>
      </p:sp>
      <p:sp>
        <p:nvSpPr>
          <p:cNvPr id="10" name="Slide Number Placeholder 9">
            <a:extLst>
              <a:ext uri="{FF2B5EF4-FFF2-40B4-BE49-F238E27FC236}">
                <a16:creationId xmlns:a16="http://schemas.microsoft.com/office/drawing/2014/main" id="{64D19642-9927-6CE6-3B6A-EF28453F7A8F}"/>
              </a:ext>
            </a:extLst>
          </p:cNvPr>
          <p:cNvSpPr>
            <a:spLocks noGrp="1"/>
          </p:cNvSpPr>
          <p:nvPr>
            <p:ph type="sldNum" sz="quarter" idx="12"/>
          </p:nvPr>
        </p:nvSpPr>
        <p:spPr/>
        <p:txBody>
          <a:bodyPr/>
          <a:lstStyle/>
          <a:p>
            <a:fld id="{78EE6887-2290-4B81-8A6D-75BA854EF4EB}" type="slidenum">
              <a:rPr lang="en-US" smtClean="0"/>
              <a:pPr/>
              <a:t>33</a:t>
            </a:fld>
            <a:endParaRPr lang="en-US"/>
          </a:p>
        </p:txBody>
      </p:sp>
      <p:pic>
        <p:nvPicPr>
          <p:cNvPr id="13" name="Picture 12">
            <a:extLst>
              <a:ext uri="{FF2B5EF4-FFF2-40B4-BE49-F238E27FC236}">
                <a16:creationId xmlns:a16="http://schemas.microsoft.com/office/drawing/2014/main" id="{0898C663-8684-B120-4FB8-FFAC714AD9E8}"/>
              </a:ext>
            </a:extLst>
          </p:cNvPr>
          <p:cNvPicPr>
            <a:picLocks noChangeAspect="1"/>
          </p:cNvPicPr>
          <p:nvPr/>
        </p:nvPicPr>
        <p:blipFill>
          <a:blip r:embed="rId2"/>
          <a:stretch>
            <a:fillRect/>
          </a:stretch>
        </p:blipFill>
        <p:spPr>
          <a:xfrm>
            <a:off x="2636862" y="1871113"/>
            <a:ext cx="6220693" cy="1590897"/>
          </a:xfrm>
          <a:prstGeom prst="rect">
            <a:avLst/>
          </a:prstGeom>
        </p:spPr>
      </p:pic>
    </p:spTree>
    <p:extLst>
      <p:ext uri="{BB962C8B-B14F-4D97-AF65-F5344CB8AC3E}">
        <p14:creationId xmlns:p14="http://schemas.microsoft.com/office/powerpoint/2010/main" val="1549527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15000" cy="508000"/>
            <a:chOff x="789624" y="1191463"/>
            <a:chExt cx="5715000" cy="508000"/>
          </a:xfrm>
        </p:grpSpPr>
        <p:sp>
          <p:nvSpPr>
            <p:cNvPr id="3" name="AutoShape 52"/>
            <p:cNvSpPr>
              <a:spLocks noChangeArrowheads="1"/>
            </p:cNvSpPr>
            <p:nvPr/>
          </p:nvSpPr>
          <p:spPr bwMode="gray">
            <a:xfrm>
              <a:off x="990600" y="1191463"/>
              <a:ext cx="5514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Các bước cài đặt biến môi trường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u="sng" kern="0">
                <a:solidFill>
                  <a:srgbClr val="002060"/>
                </a:solidFill>
                <a:latin typeface="Cambria" panose="02040503050406030204" pitchFamily="18" charset="0"/>
              </a:rPr>
              <a:t>Bước 5:</a:t>
            </a:r>
            <a:r>
              <a:rPr lang="en-US" kern="0">
                <a:solidFill>
                  <a:srgbClr val="002060"/>
                </a:solidFill>
                <a:latin typeface="Cambria" panose="02040503050406030204" pitchFamily="18" charset="0"/>
              </a:rPr>
              <a:t> Cấu hình cho Path – kết quả:</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ED4C080C-0072-1AB9-EF5C-BE663211225D}"/>
              </a:ext>
            </a:extLst>
          </p:cNvPr>
          <p:cNvSpPr>
            <a:spLocks noGrp="1"/>
          </p:cNvSpPr>
          <p:nvPr>
            <p:ph type="sldNum" sz="quarter" idx="12"/>
          </p:nvPr>
        </p:nvSpPr>
        <p:spPr/>
        <p:txBody>
          <a:bodyPr/>
          <a:lstStyle/>
          <a:p>
            <a:fld id="{78EE6887-2290-4B81-8A6D-75BA854EF4EB}" type="slidenum">
              <a:rPr lang="en-US" smtClean="0"/>
              <a:pPr/>
              <a:t>34</a:t>
            </a:fld>
            <a:endParaRPr lang="en-US"/>
          </a:p>
        </p:txBody>
      </p:sp>
      <p:pic>
        <p:nvPicPr>
          <p:cNvPr id="12" name="Picture 11">
            <a:extLst>
              <a:ext uri="{FF2B5EF4-FFF2-40B4-BE49-F238E27FC236}">
                <a16:creationId xmlns:a16="http://schemas.microsoft.com/office/drawing/2014/main" id="{E1CAE692-0670-C8A5-8D22-DC964BE0EB3D}"/>
              </a:ext>
            </a:extLst>
          </p:cNvPr>
          <p:cNvPicPr>
            <a:picLocks noChangeAspect="1"/>
          </p:cNvPicPr>
          <p:nvPr/>
        </p:nvPicPr>
        <p:blipFill>
          <a:blip r:embed="rId2"/>
          <a:stretch>
            <a:fillRect/>
          </a:stretch>
        </p:blipFill>
        <p:spPr>
          <a:xfrm>
            <a:off x="3585812" y="1672552"/>
            <a:ext cx="5020376" cy="4820323"/>
          </a:xfrm>
          <a:prstGeom prst="rect">
            <a:avLst/>
          </a:prstGeom>
        </p:spPr>
      </p:pic>
      <p:cxnSp>
        <p:nvCxnSpPr>
          <p:cNvPr id="13" name="Straight Arrow Connector 12"/>
          <p:cNvCxnSpPr>
            <a:cxnSpLocks/>
          </p:cNvCxnSpPr>
          <p:nvPr/>
        </p:nvCxnSpPr>
        <p:spPr>
          <a:xfrm>
            <a:off x="2620652" y="4779390"/>
            <a:ext cx="1074655" cy="1508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a:off x="2595212" y="5033048"/>
            <a:ext cx="1143000" cy="152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799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867400" cy="508000"/>
            <a:chOff x="789624" y="1191463"/>
            <a:chExt cx="5867400" cy="508000"/>
          </a:xfrm>
        </p:grpSpPr>
        <p:sp>
          <p:nvSpPr>
            <p:cNvPr id="3" name="AutoShape 52"/>
            <p:cNvSpPr>
              <a:spLocks noChangeArrowheads="1"/>
            </p:cNvSpPr>
            <p:nvPr/>
          </p:nvSpPr>
          <p:spPr bwMode="gray">
            <a:xfrm>
              <a:off x="990600" y="1191463"/>
              <a:ext cx="566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phiên bản javac</a:t>
              </a:r>
              <a:r>
                <a:rPr lang="en-US" sz="2400" b="1" kern="0">
                  <a:solidFill>
                    <a:srgbClr val="002060"/>
                  </a:solidFill>
                  <a:latin typeface="Cambria" panose="02040503050406030204" pitchFamily="18" charset="0"/>
                </a:rPr>
                <a:t>, java</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Mở cửa sổ run lên rồi gõ </a:t>
            </a:r>
            <a:r>
              <a:rPr lang="en-US" b="1" kern="0">
                <a:solidFill>
                  <a:srgbClr val="FF0000"/>
                </a:solidFill>
                <a:latin typeface="Cambria" panose="02040503050406030204" pitchFamily="18" charset="0"/>
              </a:rPr>
              <a:t>cmd</a:t>
            </a:r>
            <a:r>
              <a:rPr lang="en-US" kern="0">
                <a:solidFill>
                  <a:srgbClr val="002060"/>
                </a:solidFill>
                <a:latin typeface="Cambria" panose="02040503050406030204" pitchFamily="18" charset="0"/>
              </a:rPr>
              <a:t>:</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3657601" y="2286000"/>
            <a:ext cx="3800475" cy="1962150"/>
          </a:xfrm>
          <a:prstGeom prst="rect">
            <a:avLst/>
          </a:prstGeom>
        </p:spPr>
      </p:pic>
      <p:sp>
        <p:nvSpPr>
          <p:cNvPr id="10" name="Slide Number Placeholder 9">
            <a:extLst>
              <a:ext uri="{FF2B5EF4-FFF2-40B4-BE49-F238E27FC236}">
                <a16:creationId xmlns:a16="http://schemas.microsoft.com/office/drawing/2014/main" id="{5E1EEC93-D795-8E1D-407C-999E02E6B467}"/>
              </a:ext>
            </a:extLst>
          </p:cNvPr>
          <p:cNvSpPr>
            <a:spLocks noGrp="1"/>
          </p:cNvSpPr>
          <p:nvPr>
            <p:ph type="sldNum" sz="quarter" idx="12"/>
          </p:nvPr>
        </p:nvSpPr>
        <p:spPr/>
        <p:txBody>
          <a:bodyPr/>
          <a:lstStyle/>
          <a:p>
            <a:fld id="{78EE6887-2290-4B81-8A6D-75BA854EF4EB}" type="slidenum">
              <a:rPr lang="en-US" smtClean="0"/>
              <a:pPr/>
              <a:t>35</a:t>
            </a:fld>
            <a:endParaRPr lang="en-US"/>
          </a:p>
        </p:txBody>
      </p:sp>
    </p:spTree>
    <p:extLst>
      <p:ext uri="{BB962C8B-B14F-4D97-AF65-F5344CB8AC3E}">
        <p14:creationId xmlns:p14="http://schemas.microsoft.com/office/powerpoint/2010/main" val="988445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867400" cy="508000"/>
            <a:chOff x="789624" y="1191463"/>
            <a:chExt cx="5867400" cy="508000"/>
          </a:xfrm>
        </p:grpSpPr>
        <p:sp>
          <p:nvSpPr>
            <p:cNvPr id="3" name="AutoShape 52"/>
            <p:cNvSpPr>
              <a:spLocks noChangeArrowheads="1"/>
            </p:cNvSpPr>
            <p:nvPr/>
          </p:nvSpPr>
          <p:spPr bwMode="gray">
            <a:xfrm>
              <a:off x="990600" y="1191463"/>
              <a:ext cx="566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phiên bản javac</a:t>
              </a:r>
              <a:r>
                <a:rPr lang="en-US" sz="2400" b="1" kern="0">
                  <a:solidFill>
                    <a:srgbClr val="002060"/>
                  </a:solidFill>
                  <a:latin typeface="Cambria" panose="02040503050406030204" pitchFamily="18" charset="0"/>
                </a:rPr>
                <a:t>, java</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Kiểm tra lệnh </a:t>
            </a:r>
            <a:r>
              <a:rPr lang="en-US" kern="0">
                <a:solidFill>
                  <a:srgbClr val="FF0000"/>
                </a:solidFill>
                <a:latin typeface="Cambria" panose="02040503050406030204" pitchFamily="18" charset="0"/>
              </a:rPr>
              <a:t>javac </a:t>
            </a:r>
            <a:r>
              <a:rPr lang="en-US" kern="0">
                <a:solidFill>
                  <a:srgbClr val="002060"/>
                </a:solidFill>
                <a:latin typeface="Cambria" panose="02040503050406030204" pitchFamily="18" charset="0"/>
              </a:rPr>
              <a:t>để biên dịch source .java thành .class</a:t>
            </a:r>
            <a:endParaRPr lang="en-US" kern="0" dirty="0">
              <a:solidFill>
                <a:srgbClr val="002060"/>
              </a:solidFill>
              <a:latin typeface="Cambria" panose="02040503050406030204" pitchFamily="18" charset="0"/>
            </a:endParaRPr>
          </a:p>
        </p:txBody>
      </p:sp>
      <p:sp>
        <p:nvSpPr>
          <p:cNvPr id="11" name="Content Placeholder 2"/>
          <p:cNvSpPr txBox="1">
            <a:spLocks/>
          </p:cNvSpPr>
          <p:nvPr/>
        </p:nvSpPr>
        <p:spPr bwMode="auto">
          <a:xfrm>
            <a:off x="2029776" y="20193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kern="0">
                <a:solidFill>
                  <a:srgbClr val="FF0000"/>
                </a:solidFill>
                <a:latin typeface="Cambria" panose="02040503050406030204" pitchFamily="18" charset="0"/>
              </a:rPr>
              <a:t>javac   -version</a:t>
            </a:r>
            <a:endParaRPr lang="en-US" kern="0" dirty="0">
              <a:solidFill>
                <a:srgbClr val="FF000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DFC9F649-A540-649E-7901-3F5EBD115309}"/>
              </a:ext>
            </a:extLst>
          </p:cNvPr>
          <p:cNvSpPr>
            <a:spLocks noGrp="1"/>
          </p:cNvSpPr>
          <p:nvPr>
            <p:ph type="sldNum" sz="quarter" idx="12"/>
          </p:nvPr>
        </p:nvSpPr>
        <p:spPr/>
        <p:txBody>
          <a:bodyPr/>
          <a:lstStyle/>
          <a:p>
            <a:fld id="{78EE6887-2290-4B81-8A6D-75BA854EF4EB}" type="slidenum">
              <a:rPr lang="en-US" smtClean="0"/>
              <a:pPr/>
              <a:t>36</a:t>
            </a:fld>
            <a:endParaRPr lang="en-US"/>
          </a:p>
        </p:txBody>
      </p:sp>
      <p:pic>
        <p:nvPicPr>
          <p:cNvPr id="15" name="Picture 14">
            <a:extLst>
              <a:ext uri="{FF2B5EF4-FFF2-40B4-BE49-F238E27FC236}">
                <a16:creationId xmlns:a16="http://schemas.microsoft.com/office/drawing/2014/main" id="{2FDEA5FD-DCFC-E7B8-0398-EF1617D364B9}"/>
              </a:ext>
            </a:extLst>
          </p:cNvPr>
          <p:cNvPicPr>
            <a:picLocks noChangeAspect="1"/>
          </p:cNvPicPr>
          <p:nvPr/>
        </p:nvPicPr>
        <p:blipFill>
          <a:blip r:embed="rId2"/>
          <a:stretch>
            <a:fillRect/>
          </a:stretch>
        </p:blipFill>
        <p:spPr>
          <a:xfrm>
            <a:off x="3218825" y="3429000"/>
            <a:ext cx="6154234" cy="2566447"/>
          </a:xfrm>
          <a:prstGeom prst="rect">
            <a:avLst/>
          </a:prstGeom>
        </p:spPr>
      </p:pic>
      <p:cxnSp>
        <p:nvCxnSpPr>
          <p:cNvPr id="17" name="Straight Arrow Connector 16"/>
          <p:cNvCxnSpPr>
            <a:cxnSpLocks/>
          </p:cNvCxnSpPr>
          <p:nvPr/>
        </p:nvCxnSpPr>
        <p:spPr>
          <a:xfrm flipH="1">
            <a:off x="7553556" y="4909017"/>
            <a:ext cx="15810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853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867400" cy="508000"/>
            <a:chOff x="789624" y="1191463"/>
            <a:chExt cx="5867400" cy="508000"/>
          </a:xfrm>
        </p:grpSpPr>
        <p:sp>
          <p:nvSpPr>
            <p:cNvPr id="3" name="AutoShape 52"/>
            <p:cNvSpPr>
              <a:spLocks noChangeArrowheads="1"/>
            </p:cNvSpPr>
            <p:nvPr/>
          </p:nvSpPr>
          <p:spPr bwMode="gray">
            <a:xfrm>
              <a:off x="990600" y="1191463"/>
              <a:ext cx="566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phiên bản javac</a:t>
              </a:r>
              <a:r>
                <a:rPr lang="en-US" sz="2400" b="1" kern="0">
                  <a:solidFill>
                    <a:srgbClr val="002060"/>
                  </a:solidFill>
                  <a:latin typeface="Cambria" panose="02040503050406030204" pitchFamily="18" charset="0"/>
                </a:rPr>
                <a:t>, java</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Kiểm tra lệnh </a:t>
            </a:r>
            <a:r>
              <a:rPr lang="en-US" b="1" kern="0">
                <a:solidFill>
                  <a:srgbClr val="FF0000"/>
                </a:solidFill>
                <a:latin typeface="Cambria" panose="02040503050406030204" pitchFamily="18" charset="0"/>
              </a:rPr>
              <a:t>java</a:t>
            </a:r>
            <a:r>
              <a:rPr lang="en-US" kern="0">
                <a:solidFill>
                  <a:srgbClr val="002060"/>
                </a:solidFill>
                <a:latin typeface="Cambria" panose="02040503050406030204" pitchFamily="18" charset="0"/>
              </a:rPr>
              <a:t> để đưa.class thành mã máy có thể hiểu được</a:t>
            </a:r>
            <a:endParaRPr lang="en-US" kern="0" dirty="0">
              <a:solidFill>
                <a:srgbClr val="002060"/>
              </a:solidFill>
              <a:latin typeface="Cambria" panose="02040503050406030204" pitchFamily="18" charset="0"/>
            </a:endParaRPr>
          </a:p>
        </p:txBody>
      </p:sp>
      <p:sp>
        <p:nvSpPr>
          <p:cNvPr id="11" name="Content Placeholder 2"/>
          <p:cNvSpPr txBox="1">
            <a:spLocks/>
          </p:cNvSpPr>
          <p:nvPr/>
        </p:nvSpPr>
        <p:spPr bwMode="auto">
          <a:xfrm>
            <a:off x="2029776" y="20193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kern="0">
                <a:solidFill>
                  <a:srgbClr val="FF0000"/>
                </a:solidFill>
                <a:latin typeface="Cambria" panose="02040503050406030204" pitchFamily="18" charset="0"/>
              </a:rPr>
              <a:t>java   -version</a:t>
            </a:r>
            <a:endParaRPr lang="en-US" kern="0" dirty="0">
              <a:solidFill>
                <a:srgbClr val="FF000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FCC5B601-EC09-77F4-6534-306235DA9A69}"/>
              </a:ext>
            </a:extLst>
          </p:cNvPr>
          <p:cNvSpPr>
            <a:spLocks noGrp="1"/>
          </p:cNvSpPr>
          <p:nvPr>
            <p:ph type="sldNum" sz="quarter" idx="12"/>
          </p:nvPr>
        </p:nvSpPr>
        <p:spPr/>
        <p:txBody>
          <a:bodyPr/>
          <a:lstStyle/>
          <a:p>
            <a:fld id="{78EE6887-2290-4B81-8A6D-75BA854EF4EB}" type="slidenum">
              <a:rPr lang="en-US" smtClean="0"/>
              <a:pPr/>
              <a:t>37</a:t>
            </a:fld>
            <a:endParaRPr lang="en-US"/>
          </a:p>
        </p:txBody>
      </p:sp>
      <p:pic>
        <p:nvPicPr>
          <p:cNvPr id="13" name="Picture 12">
            <a:extLst>
              <a:ext uri="{FF2B5EF4-FFF2-40B4-BE49-F238E27FC236}">
                <a16:creationId xmlns:a16="http://schemas.microsoft.com/office/drawing/2014/main" id="{A8C79810-846F-5DA6-FE7E-73E9CFFEAC51}"/>
              </a:ext>
            </a:extLst>
          </p:cNvPr>
          <p:cNvPicPr>
            <a:picLocks noChangeAspect="1"/>
          </p:cNvPicPr>
          <p:nvPr/>
        </p:nvPicPr>
        <p:blipFill>
          <a:blip r:embed="rId2"/>
          <a:stretch>
            <a:fillRect/>
          </a:stretch>
        </p:blipFill>
        <p:spPr>
          <a:xfrm>
            <a:off x="2546708" y="3052610"/>
            <a:ext cx="7934974" cy="2641180"/>
          </a:xfrm>
          <a:prstGeom prst="rect">
            <a:avLst/>
          </a:prstGeom>
        </p:spPr>
      </p:pic>
      <p:cxnSp>
        <p:nvCxnSpPr>
          <p:cNvPr id="17" name="Straight Arrow Connector 16"/>
          <p:cNvCxnSpPr>
            <a:cxnSpLocks/>
          </p:cNvCxnSpPr>
          <p:nvPr/>
        </p:nvCxnSpPr>
        <p:spPr>
          <a:xfrm flipH="1">
            <a:off x="5910606" y="4337960"/>
            <a:ext cx="134803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769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Cách chạy chương trình Java bằng lệnh Command line</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963CF60-E70F-B0E5-3CD0-CC76571EA1E2}"/>
              </a:ext>
            </a:extLst>
          </p:cNvPr>
          <p:cNvSpPr>
            <a:spLocks noGrp="1"/>
          </p:cNvSpPr>
          <p:nvPr>
            <p:ph type="sldNum" sz="quarter" idx="12"/>
          </p:nvPr>
        </p:nvSpPr>
        <p:spPr/>
        <p:txBody>
          <a:bodyPr/>
          <a:lstStyle/>
          <a:p>
            <a:fld id="{78EE6887-2290-4B81-8A6D-75BA854EF4EB}" type="slidenum">
              <a:rPr lang="en-US" smtClean="0"/>
              <a:pPr/>
              <a:t>38</a:t>
            </a:fld>
            <a:endParaRPr lang="en-US"/>
          </a:p>
        </p:txBody>
      </p:sp>
    </p:spTree>
    <p:extLst>
      <p:ext uri="{BB962C8B-B14F-4D97-AF65-F5344CB8AC3E}">
        <p14:creationId xmlns:p14="http://schemas.microsoft.com/office/powerpoint/2010/main" val="3204233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3962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 Tạo một lớp Java trong Notepad: Quy tắc đặt tên lớp + tên file, cách viết hàm main để chạy</a:t>
            </a:r>
          </a:p>
          <a:p>
            <a:pPr lvl="0" algn="just">
              <a:buClr>
                <a:srgbClr val="3DC5C5"/>
              </a:buClr>
              <a:defRPr/>
            </a:pPr>
            <a:r>
              <a:rPr lang="vi-VN" kern="0">
                <a:solidFill>
                  <a:srgbClr val="002060"/>
                </a:solidFill>
                <a:latin typeface="Cambria" panose="02040503050406030204" pitchFamily="18" charset="0"/>
              </a:rPr>
              <a:t>Cách sử dụng lệnh javac để biên dịch source code</a:t>
            </a:r>
          </a:p>
          <a:p>
            <a:pPr lvl="0" algn="just">
              <a:buClr>
                <a:srgbClr val="3DC5C5"/>
              </a:buClr>
              <a:defRPr/>
            </a:pPr>
            <a:r>
              <a:rPr lang="vi-VN" kern="0">
                <a:solidFill>
                  <a:srgbClr val="002060"/>
                </a:solidFill>
                <a:latin typeface="Cambria" panose="02040503050406030204" pitchFamily="18" charset="0"/>
              </a:rPr>
              <a:t>Cách sử dụng lệnh java để thực thi bytecode</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9FE502DD-46CF-190D-9AE7-4EDECBF7DEED}"/>
              </a:ext>
            </a:extLst>
          </p:cNvPr>
          <p:cNvSpPr>
            <a:spLocks noGrp="1"/>
          </p:cNvSpPr>
          <p:nvPr>
            <p:ph type="sldNum" sz="quarter" idx="12"/>
          </p:nvPr>
        </p:nvSpPr>
        <p:spPr/>
        <p:txBody>
          <a:bodyPr/>
          <a:lstStyle/>
          <a:p>
            <a:fld id="{78EE6887-2290-4B81-8A6D-75BA854EF4EB}" type="slidenum">
              <a:rPr lang="en-US" smtClean="0"/>
              <a:pPr/>
              <a:t>39</a:t>
            </a:fld>
            <a:endParaRPr lang="en-US"/>
          </a:p>
        </p:txBody>
      </p:sp>
    </p:spTree>
    <p:extLst>
      <p:ext uri="{BB962C8B-B14F-4D97-AF65-F5344CB8AC3E}">
        <p14:creationId xmlns:p14="http://schemas.microsoft.com/office/powerpoint/2010/main" val="3162248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791200" cy="508000"/>
            <a:chOff x="789624" y="1191463"/>
            <a:chExt cx="5791200" cy="508000"/>
          </a:xfrm>
        </p:grpSpPr>
        <p:sp>
          <p:nvSpPr>
            <p:cNvPr id="3" name="AutoShape 52"/>
            <p:cNvSpPr>
              <a:spLocks noChangeArrowheads="1"/>
            </p:cNvSpPr>
            <p:nvPr/>
          </p:nvSpPr>
          <p:spPr bwMode="gray">
            <a:xfrm>
              <a:off x="990600" y="1191463"/>
              <a:ext cx="5590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Tạo một lớp Java trong Notepad</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229600" cy="3962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Tên lớp trùng với tên File, phần mở rộng là .java</a:t>
            </a:r>
            <a:endParaRPr lang="vi-VN" kern="0">
              <a:solidFill>
                <a:srgbClr val="002060"/>
              </a:solidFill>
              <a:latin typeface="Cambria" panose="02040503050406030204" pitchFamily="18" charset="0"/>
            </a:endParaRPr>
          </a:p>
        </p:txBody>
      </p:sp>
      <p:sp>
        <p:nvSpPr>
          <p:cNvPr id="11" name="Slide Number Placeholder 10">
            <a:extLst>
              <a:ext uri="{FF2B5EF4-FFF2-40B4-BE49-F238E27FC236}">
                <a16:creationId xmlns:a16="http://schemas.microsoft.com/office/drawing/2014/main" id="{716DAE18-9DFB-6FAF-8DAB-952EEF37A9A6}"/>
              </a:ext>
            </a:extLst>
          </p:cNvPr>
          <p:cNvSpPr>
            <a:spLocks noGrp="1"/>
          </p:cNvSpPr>
          <p:nvPr>
            <p:ph type="sldNum" sz="quarter" idx="12"/>
          </p:nvPr>
        </p:nvSpPr>
        <p:spPr/>
        <p:txBody>
          <a:bodyPr/>
          <a:lstStyle/>
          <a:p>
            <a:fld id="{78EE6887-2290-4B81-8A6D-75BA854EF4EB}" type="slidenum">
              <a:rPr lang="en-US" smtClean="0"/>
              <a:pPr/>
              <a:t>40</a:t>
            </a:fld>
            <a:endParaRPr lang="en-US"/>
          </a:p>
        </p:txBody>
      </p:sp>
      <p:pic>
        <p:nvPicPr>
          <p:cNvPr id="14" name="Picture 13">
            <a:extLst>
              <a:ext uri="{FF2B5EF4-FFF2-40B4-BE49-F238E27FC236}">
                <a16:creationId xmlns:a16="http://schemas.microsoft.com/office/drawing/2014/main" id="{D8E3F150-A780-1175-126B-CD4F913A124E}"/>
              </a:ext>
            </a:extLst>
          </p:cNvPr>
          <p:cNvPicPr>
            <a:picLocks noChangeAspect="1"/>
          </p:cNvPicPr>
          <p:nvPr/>
        </p:nvPicPr>
        <p:blipFill>
          <a:blip r:embed="rId2"/>
          <a:stretch>
            <a:fillRect/>
          </a:stretch>
        </p:blipFill>
        <p:spPr>
          <a:xfrm>
            <a:off x="1360608" y="2245314"/>
            <a:ext cx="10002519" cy="3827495"/>
          </a:xfrm>
          <a:prstGeom prst="rect">
            <a:avLst/>
          </a:prstGeom>
        </p:spPr>
      </p:pic>
    </p:spTree>
    <p:extLst>
      <p:ext uri="{BB962C8B-B14F-4D97-AF65-F5344CB8AC3E}">
        <p14:creationId xmlns:p14="http://schemas.microsoft.com/office/powerpoint/2010/main" val="4952348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sử dụng lệnh javac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p:cNvSpPr txBox="1">
            <a:spLocks/>
          </p:cNvSpPr>
          <p:nvPr/>
        </p:nvSpPr>
        <p:spPr bwMode="auto">
          <a:xfrm>
            <a:off x="2003320" y="1066800"/>
            <a:ext cx="863154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400" kern="0">
                <a:solidFill>
                  <a:srgbClr val="002060"/>
                </a:solidFill>
                <a:latin typeface="Cambria" panose="02040503050406030204" pitchFamily="18" charset="0"/>
              </a:rPr>
              <a:t>Gõ các lệnh để tìm tới HelloWorld.java và chạy lệnh compile:</a:t>
            </a:r>
            <a:endParaRPr lang="vi-VN" sz="2400"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A9084D01-BDA1-DDA5-1EDE-F1A39B788D52}"/>
              </a:ext>
            </a:extLst>
          </p:cNvPr>
          <p:cNvSpPr>
            <a:spLocks noGrp="1"/>
          </p:cNvSpPr>
          <p:nvPr>
            <p:ph type="sldNum" sz="quarter" idx="12"/>
          </p:nvPr>
        </p:nvSpPr>
        <p:spPr/>
        <p:txBody>
          <a:bodyPr/>
          <a:lstStyle/>
          <a:p>
            <a:fld id="{78EE6887-2290-4B81-8A6D-75BA854EF4EB}" type="slidenum">
              <a:rPr lang="en-US" smtClean="0"/>
              <a:pPr/>
              <a:t>41</a:t>
            </a:fld>
            <a:endParaRPr lang="en-US"/>
          </a:p>
        </p:txBody>
      </p:sp>
      <p:pic>
        <p:nvPicPr>
          <p:cNvPr id="10" name="Picture 9">
            <a:extLst>
              <a:ext uri="{FF2B5EF4-FFF2-40B4-BE49-F238E27FC236}">
                <a16:creationId xmlns:a16="http://schemas.microsoft.com/office/drawing/2014/main" id="{398BE905-BF19-2DF4-F877-5C81AEBEE077}"/>
              </a:ext>
            </a:extLst>
          </p:cNvPr>
          <p:cNvPicPr>
            <a:picLocks noChangeAspect="1"/>
          </p:cNvPicPr>
          <p:nvPr/>
        </p:nvPicPr>
        <p:blipFill>
          <a:blip r:embed="rId2"/>
          <a:stretch>
            <a:fillRect/>
          </a:stretch>
        </p:blipFill>
        <p:spPr>
          <a:xfrm>
            <a:off x="790340" y="2525674"/>
            <a:ext cx="10873278" cy="3417926"/>
          </a:xfrm>
          <a:prstGeom prst="rect">
            <a:avLst/>
          </a:prstGeom>
        </p:spPr>
      </p:pic>
      <p:sp>
        <p:nvSpPr>
          <p:cNvPr id="13" name="Content Placeholder 2">
            <a:extLst>
              <a:ext uri="{FF2B5EF4-FFF2-40B4-BE49-F238E27FC236}">
                <a16:creationId xmlns:a16="http://schemas.microsoft.com/office/drawing/2014/main" id="{E650A192-7C99-1DF6-616A-CA5ECC913C59}"/>
              </a:ext>
            </a:extLst>
          </p:cNvPr>
          <p:cNvSpPr txBox="1">
            <a:spLocks/>
          </p:cNvSpPr>
          <p:nvPr/>
        </p:nvSpPr>
        <p:spPr bwMode="auto">
          <a:xfrm>
            <a:off x="2029776" y="1676400"/>
            <a:ext cx="8229600" cy="685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kern="0">
                <a:solidFill>
                  <a:srgbClr val="FF0000"/>
                </a:solidFill>
                <a:latin typeface="Cambria" panose="02040503050406030204" pitchFamily="18" charset="0"/>
              </a:rPr>
              <a:t>javac HelloWorld.java</a:t>
            </a:r>
            <a:endParaRPr lang="en-US" kern="0" dirty="0">
              <a:solidFill>
                <a:srgbClr val="FF0000"/>
              </a:solidFill>
              <a:latin typeface="Cambria" panose="02040503050406030204" pitchFamily="18" charset="0"/>
            </a:endParaRPr>
          </a:p>
        </p:txBody>
      </p:sp>
    </p:spTree>
    <p:extLst>
      <p:ext uri="{BB962C8B-B14F-4D97-AF65-F5344CB8AC3E}">
        <p14:creationId xmlns:p14="http://schemas.microsoft.com/office/powerpoint/2010/main" val="1752099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sử dụng lệnh javac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p:cNvSpPr txBox="1">
            <a:spLocks/>
          </p:cNvSpPr>
          <p:nvPr/>
        </p:nvSpPr>
        <p:spPr bwMode="auto">
          <a:xfrm>
            <a:off x="2003321" y="1066800"/>
            <a:ext cx="82296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400" kern="0">
                <a:solidFill>
                  <a:srgbClr val="002060"/>
                </a:solidFill>
                <a:latin typeface="Cambria" panose="02040503050406030204" pitchFamily="18" charset="0"/>
              </a:rPr>
              <a:t>Nếu biên dịch thành công:</a:t>
            </a:r>
            <a:endParaRPr lang="vi-VN" sz="2400" kern="0">
              <a:solidFill>
                <a:srgbClr val="002060"/>
              </a:solidFill>
              <a:latin typeface="Cambria" panose="02040503050406030204" pitchFamily="18" charset="0"/>
            </a:endParaRPr>
          </a:p>
        </p:txBody>
      </p:sp>
      <p:sp>
        <p:nvSpPr>
          <p:cNvPr id="12" name="Content Placeholder 2"/>
          <p:cNvSpPr txBox="1">
            <a:spLocks/>
          </p:cNvSpPr>
          <p:nvPr/>
        </p:nvSpPr>
        <p:spPr bwMode="auto">
          <a:xfrm>
            <a:off x="1987399" y="2990850"/>
            <a:ext cx="8229600" cy="173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400" kern="0">
                <a:solidFill>
                  <a:srgbClr val="002060"/>
                </a:solidFill>
                <a:latin typeface="Cambria" panose="02040503050406030204" pitchFamily="18" charset="0"/>
              </a:rPr>
              <a:t>Tiếp tục .class về mã máy:</a:t>
            </a:r>
          </a:p>
          <a:p>
            <a:pPr marL="0" indent="0" algn="just">
              <a:buClr>
                <a:srgbClr val="3DC5C5"/>
              </a:buClr>
              <a:buNone/>
              <a:defRPr/>
            </a:pPr>
            <a:r>
              <a:rPr lang="en-US" sz="2400" kern="0">
                <a:solidFill>
                  <a:srgbClr val="FF0000"/>
                </a:solidFill>
                <a:latin typeface="Cambria" panose="02040503050406030204" pitchFamily="18" charset="0"/>
              </a:rPr>
              <a:t>java HelloWorld</a:t>
            </a:r>
            <a:endParaRPr lang="vi-VN" sz="2400" kern="0">
              <a:solidFill>
                <a:srgbClr val="FF000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DC690989-FD68-D2A1-BDE0-2EFBCBC5A411}"/>
              </a:ext>
            </a:extLst>
          </p:cNvPr>
          <p:cNvSpPr>
            <a:spLocks noGrp="1"/>
          </p:cNvSpPr>
          <p:nvPr>
            <p:ph type="sldNum" sz="quarter" idx="12"/>
          </p:nvPr>
        </p:nvSpPr>
        <p:spPr/>
        <p:txBody>
          <a:bodyPr/>
          <a:lstStyle/>
          <a:p>
            <a:fld id="{78EE6887-2290-4B81-8A6D-75BA854EF4EB}" type="slidenum">
              <a:rPr lang="en-US" smtClean="0"/>
              <a:pPr/>
              <a:t>42</a:t>
            </a:fld>
            <a:endParaRPr lang="en-US"/>
          </a:p>
        </p:txBody>
      </p:sp>
      <p:pic>
        <p:nvPicPr>
          <p:cNvPr id="10" name="Picture 9">
            <a:extLst>
              <a:ext uri="{FF2B5EF4-FFF2-40B4-BE49-F238E27FC236}">
                <a16:creationId xmlns:a16="http://schemas.microsoft.com/office/drawing/2014/main" id="{A58BFCEF-8C98-47C5-AB70-52DA084B5F92}"/>
              </a:ext>
            </a:extLst>
          </p:cNvPr>
          <p:cNvPicPr>
            <a:picLocks noChangeAspect="1"/>
          </p:cNvPicPr>
          <p:nvPr/>
        </p:nvPicPr>
        <p:blipFill>
          <a:blip r:embed="rId2"/>
          <a:stretch>
            <a:fillRect/>
          </a:stretch>
        </p:blipFill>
        <p:spPr>
          <a:xfrm>
            <a:off x="1597890" y="1757287"/>
            <a:ext cx="9373908" cy="1076475"/>
          </a:xfrm>
          <a:prstGeom prst="rect">
            <a:avLst/>
          </a:prstGeom>
        </p:spPr>
      </p:pic>
    </p:spTree>
    <p:extLst>
      <p:ext uri="{BB962C8B-B14F-4D97-AF65-F5344CB8AC3E}">
        <p14:creationId xmlns:p14="http://schemas.microsoft.com/office/powerpoint/2010/main" val="2271775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sử dụng lệnh java</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p:cNvSpPr txBox="1">
            <a:spLocks/>
          </p:cNvSpPr>
          <p:nvPr/>
        </p:nvSpPr>
        <p:spPr bwMode="auto">
          <a:xfrm>
            <a:off x="2003321" y="1066800"/>
            <a:ext cx="82296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400" kern="0">
                <a:solidFill>
                  <a:srgbClr val="002060"/>
                </a:solidFill>
                <a:latin typeface="Cambria" panose="02040503050406030204" pitchFamily="18" charset="0"/>
              </a:rPr>
              <a:t>Ta thấy kết quả xuất: Xin chào Obama!</a:t>
            </a:r>
            <a:endParaRPr lang="vi-VN" sz="2400"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EC7BC9C4-0490-896D-E7C4-8A3A71A3A067}"/>
              </a:ext>
            </a:extLst>
          </p:cNvPr>
          <p:cNvSpPr>
            <a:spLocks noGrp="1"/>
          </p:cNvSpPr>
          <p:nvPr>
            <p:ph type="sldNum" sz="quarter" idx="12"/>
          </p:nvPr>
        </p:nvSpPr>
        <p:spPr/>
        <p:txBody>
          <a:bodyPr/>
          <a:lstStyle/>
          <a:p>
            <a:fld id="{78EE6887-2290-4B81-8A6D-75BA854EF4EB}" type="slidenum">
              <a:rPr lang="en-US" smtClean="0"/>
              <a:pPr/>
              <a:t>43</a:t>
            </a:fld>
            <a:endParaRPr lang="en-US"/>
          </a:p>
        </p:txBody>
      </p:sp>
      <p:pic>
        <p:nvPicPr>
          <p:cNvPr id="10" name="Picture 9">
            <a:extLst>
              <a:ext uri="{FF2B5EF4-FFF2-40B4-BE49-F238E27FC236}">
                <a16:creationId xmlns:a16="http://schemas.microsoft.com/office/drawing/2014/main" id="{A5963C16-F033-7C0A-C1F6-AAD85CE8C645}"/>
              </a:ext>
            </a:extLst>
          </p:cNvPr>
          <p:cNvPicPr>
            <a:picLocks noChangeAspect="1"/>
          </p:cNvPicPr>
          <p:nvPr/>
        </p:nvPicPr>
        <p:blipFill>
          <a:blip r:embed="rId2"/>
          <a:stretch>
            <a:fillRect/>
          </a:stretch>
        </p:blipFill>
        <p:spPr>
          <a:xfrm>
            <a:off x="603755" y="1676400"/>
            <a:ext cx="10836826" cy="4283075"/>
          </a:xfrm>
          <a:prstGeom prst="rect">
            <a:avLst/>
          </a:prstGeom>
        </p:spPr>
      </p:pic>
    </p:spTree>
    <p:extLst>
      <p:ext uri="{BB962C8B-B14F-4D97-AF65-F5344CB8AC3E}">
        <p14:creationId xmlns:p14="http://schemas.microsoft.com/office/powerpoint/2010/main" val="11456314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Cách cài đặt và sử dụng</a:t>
            </a:r>
            <a:endParaRPr lang="en-US" kern="0">
              <a:solidFill>
                <a:srgbClr val="002060"/>
              </a:solidFill>
              <a:latin typeface="Cambria" panose="02040503050406030204" pitchFamily="18" charset="0"/>
            </a:endParaRPr>
          </a:p>
          <a:p>
            <a:pPr lvl="0">
              <a:defRPr/>
            </a:pPr>
            <a:r>
              <a:rPr lang="vi-VN" kern="0">
                <a:solidFill>
                  <a:srgbClr val="002060"/>
                </a:solidFill>
                <a:latin typeface="Cambria" panose="02040503050406030204" pitchFamily="18" charset="0"/>
              </a:rPr>
              <a:t> </a:t>
            </a:r>
            <a:r>
              <a:rPr lang="en-US" kern="0">
                <a:solidFill>
                  <a:srgbClr val="002060"/>
                </a:solidFill>
                <a:latin typeface="Cambria" panose="02040503050406030204" pitchFamily="18" charset="0"/>
              </a:rPr>
              <a:t>C</a:t>
            </a:r>
            <a:r>
              <a:rPr lang="vi-VN" kern="0">
                <a:solidFill>
                  <a:srgbClr val="002060"/>
                </a:solidFill>
                <a:latin typeface="Cambria" panose="02040503050406030204" pitchFamily="18" charset="0"/>
              </a:rPr>
              <a:t>ông cụ Eclipse</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7E44347-CBAE-611D-893A-F687C63A96FA}"/>
              </a:ext>
            </a:extLst>
          </p:cNvPr>
          <p:cNvSpPr>
            <a:spLocks noGrp="1"/>
          </p:cNvSpPr>
          <p:nvPr>
            <p:ph type="sldNum" sz="quarter" idx="12"/>
          </p:nvPr>
        </p:nvSpPr>
        <p:spPr/>
        <p:txBody>
          <a:bodyPr/>
          <a:lstStyle/>
          <a:p>
            <a:fld id="{78EE6887-2290-4B81-8A6D-75BA854EF4EB}" type="slidenum">
              <a:rPr lang="en-US" smtClean="0"/>
              <a:pPr/>
              <a:t>44</a:t>
            </a:fld>
            <a:endParaRPr lang="en-US"/>
          </a:p>
        </p:txBody>
      </p:sp>
    </p:spTree>
    <p:extLst>
      <p:ext uri="{BB962C8B-B14F-4D97-AF65-F5344CB8AC3E}">
        <p14:creationId xmlns:p14="http://schemas.microsoft.com/office/powerpoint/2010/main" val="1906306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Kiểm tra cấu hình máy để quyết định lựa chọn công cụ Eclipse phù hợp</a:t>
            </a:r>
          </a:p>
          <a:p>
            <a:pPr lvl="0" algn="just">
              <a:buClr>
                <a:srgbClr val="3DC5C5"/>
              </a:buClr>
              <a:defRPr/>
            </a:pPr>
            <a:r>
              <a:rPr lang="vi-VN" kern="0">
                <a:solidFill>
                  <a:srgbClr val="002060"/>
                </a:solidFill>
                <a:latin typeface="Cambria" panose="02040503050406030204" pitchFamily="18" charset="0"/>
              </a:rPr>
              <a:t>Cách tải và cài đặt phiên bản Eclipse phù hợp</a:t>
            </a:r>
          </a:p>
          <a:p>
            <a:pPr lvl="0" algn="just">
              <a:buClr>
                <a:srgbClr val="3DC5C5"/>
              </a:buClr>
              <a:defRPr/>
            </a:pPr>
            <a:r>
              <a:rPr lang="vi-VN" kern="0">
                <a:solidFill>
                  <a:srgbClr val="002060"/>
                </a:solidFill>
                <a:latin typeface="Cambria" panose="02040503050406030204" pitchFamily="18" charset="0"/>
              </a:rPr>
              <a:t>Cách tạo Workspace (nơi lưu trữ các dự án)</a:t>
            </a:r>
          </a:p>
          <a:p>
            <a:pPr lvl="0" algn="just">
              <a:buClr>
                <a:srgbClr val="3DC5C5"/>
              </a:buClr>
              <a:defRPr/>
            </a:pPr>
            <a:r>
              <a:rPr lang="vi-VN" kern="0">
                <a:solidFill>
                  <a:srgbClr val="002060"/>
                </a:solidFill>
                <a:latin typeface="Cambria" panose="02040503050406030204" pitchFamily="18" charset="0"/>
              </a:rPr>
              <a:t>Cách tạo các Project (các dự án)</a:t>
            </a:r>
          </a:p>
          <a:p>
            <a:pPr lvl="0" algn="just">
              <a:buClr>
                <a:srgbClr val="3DC5C5"/>
              </a:buClr>
              <a:defRPr/>
            </a:pPr>
            <a:r>
              <a:rPr lang="vi-VN" kern="0">
                <a:solidFill>
                  <a:srgbClr val="002060"/>
                </a:solidFill>
                <a:latin typeface="Cambria" panose="02040503050406030204" pitchFamily="18" charset="0"/>
              </a:rPr>
              <a:t>Cách tạo package (gói lưu trữ các lớp)</a:t>
            </a:r>
          </a:p>
          <a:p>
            <a:pPr lvl="0" algn="just">
              <a:buClr>
                <a:srgbClr val="3DC5C5"/>
              </a:buClr>
              <a:defRPr/>
            </a:pPr>
            <a:r>
              <a:rPr lang="vi-VN" kern="0">
                <a:solidFill>
                  <a:srgbClr val="002060"/>
                </a:solidFill>
                <a:latin typeface="Cambria" panose="02040503050406030204" pitchFamily="18" charset="0"/>
              </a:rPr>
              <a:t>Cách tạo class (các lớp trong package)</a:t>
            </a:r>
          </a:p>
          <a:p>
            <a:pPr lvl="0" algn="just">
              <a:buClr>
                <a:srgbClr val="3DC5C5"/>
              </a:buClr>
              <a:defRPr/>
            </a:pPr>
            <a:r>
              <a:rPr lang="vi-VN" kern="0">
                <a:solidFill>
                  <a:srgbClr val="002060"/>
                </a:solidFill>
                <a:latin typeface="Cambria" panose="02040503050406030204" pitchFamily="18" charset="0"/>
              </a:rPr>
              <a:t>Cách biên dịch và thực thi dự án</a:t>
            </a:r>
            <a:endParaRPr lang="en-US" kern="0">
              <a:solidFill>
                <a:srgbClr val="002060"/>
              </a:solidFill>
              <a:latin typeface="Cambria" panose="02040503050406030204" pitchFamily="18" charset="0"/>
            </a:endParaRPr>
          </a:p>
          <a:p>
            <a:pPr lvl="0" algn="just">
              <a:buClr>
                <a:srgbClr val="3DC5C5"/>
              </a:buClr>
              <a:defRPr/>
            </a:pPr>
            <a:r>
              <a:rPr lang="en-US" kern="0">
                <a:solidFill>
                  <a:srgbClr val="002060"/>
                </a:solidFill>
                <a:latin typeface="Cambria" panose="02040503050406030204" pitchFamily="18" charset="0"/>
              </a:rPr>
              <a:t>Cấu hình lưu dấu Tiếng Việt trong Eclipse</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925DBD7E-165C-4831-95BC-103F76D6E314}"/>
              </a:ext>
            </a:extLst>
          </p:cNvPr>
          <p:cNvSpPr>
            <a:spLocks noGrp="1"/>
          </p:cNvSpPr>
          <p:nvPr>
            <p:ph type="sldNum" sz="quarter" idx="12"/>
          </p:nvPr>
        </p:nvSpPr>
        <p:spPr/>
        <p:txBody>
          <a:bodyPr/>
          <a:lstStyle/>
          <a:p>
            <a:fld id="{78EE6887-2290-4B81-8A6D-75BA854EF4EB}" type="slidenum">
              <a:rPr lang="en-US" smtClean="0"/>
              <a:pPr/>
              <a:t>45</a:t>
            </a:fld>
            <a:endParaRPr lang="en-US"/>
          </a:p>
        </p:txBody>
      </p:sp>
    </p:spTree>
    <p:extLst>
      <p:ext uri="{BB962C8B-B14F-4D97-AF65-F5344CB8AC3E}">
        <p14:creationId xmlns:p14="http://schemas.microsoft.com/office/powerpoint/2010/main" val="34488392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cấu hình máy</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p:cNvSpPr txBox="1">
            <a:spLocks/>
          </p:cNvSpPr>
          <p:nvPr/>
        </p:nvSpPr>
        <p:spPr bwMode="auto">
          <a:xfrm>
            <a:off x="2029776" y="967585"/>
            <a:ext cx="8229600" cy="165959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Máy tính bây giờ thường có 64bit hoặc 32bit, do đó phải kiểm tra cấu hình chính xác thì mới lựa chọn tải JDK đúng.</a:t>
            </a:r>
            <a:endParaRPr lang="vi-VN" kern="0">
              <a:solidFill>
                <a:srgbClr val="002060"/>
              </a:solidFill>
              <a:latin typeface="Cambria" panose="02040503050406030204" pitchFamily="18" charset="0"/>
            </a:endParaRPr>
          </a:p>
        </p:txBody>
      </p:sp>
      <p:pic>
        <p:nvPicPr>
          <p:cNvPr id="10" name="Picture 9"/>
          <p:cNvPicPr>
            <a:picLocks noChangeAspect="1"/>
          </p:cNvPicPr>
          <p:nvPr/>
        </p:nvPicPr>
        <p:blipFill>
          <a:blip r:embed="rId2"/>
          <a:stretch>
            <a:fillRect/>
          </a:stretch>
        </p:blipFill>
        <p:spPr>
          <a:xfrm>
            <a:off x="2175507" y="2779541"/>
            <a:ext cx="3200400" cy="3238500"/>
          </a:xfrm>
          <a:prstGeom prst="rect">
            <a:avLst/>
          </a:prstGeom>
        </p:spPr>
      </p:pic>
      <p:sp>
        <p:nvSpPr>
          <p:cNvPr id="11" name="Content Placeholder 2"/>
          <p:cNvSpPr txBox="1">
            <a:spLocks/>
          </p:cNvSpPr>
          <p:nvPr/>
        </p:nvSpPr>
        <p:spPr bwMode="auto">
          <a:xfrm>
            <a:off x="5375907" y="3147419"/>
            <a:ext cx="5042848" cy="1676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kern="0">
                <a:solidFill>
                  <a:srgbClr val="002060"/>
                </a:solidFill>
                <a:latin typeface="Cambria" panose="02040503050406030204" pitchFamily="18" charset="0"/>
                <a:sym typeface="Wingdings" panose="05000000000000000000" pitchFamily="2" charset="2"/>
              </a:rPr>
              <a:t></a:t>
            </a:r>
            <a:r>
              <a:rPr lang="en-US" kern="0">
                <a:solidFill>
                  <a:srgbClr val="002060"/>
                </a:solidFill>
                <a:latin typeface="Cambria" panose="02040503050406030204" pitchFamily="18" charset="0"/>
              </a:rPr>
              <a:t>Bấm chuột phải vào biểu tượng This PC/ chọn Properties</a:t>
            </a:r>
            <a:endParaRPr lang="vi-VN"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D80C30D4-5A6A-CB55-5293-31B4F28F6C90}"/>
              </a:ext>
            </a:extLst>
          </p:cNvPr>
          <p:cNvSpPr>
            <a:spLocks noGrp="1"/>
          </p:cNvSpPr>
          <p:nvPr>
            <p:ph type="sldNum" sz="quarter" idx="12"/>
          </p:nvPr>
        </p:nvSpPr>
        <p:spPr/>
        <p:txBody>
          <a:bodyPr/>
          <a:lstStyle/>
          <a:p>
            <a:fld id="{78EE6887-2290-4B81-8A6D-75BA854EF4EB}" type="slidenum">
              <a:rPr lang="en-US" smtClean="0"/>
              <a:pPr/>
              <a:t>46</a:t>
            </a:fld>
            <a:endParaRPr lang="en-US"/>
          </a:p>
        </p:txBody>
      </p:sp>
    </p:spTree>
    <p:extLst>
      <p:ext uri="{BB962C8B-B14F-4D97-AF65-F5344CB8AC3E}">
        <p14:creationId xmlns:p14="http://schemas.microsoft.com/office/powerpoint/2010/main" val="2463818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A1FB8-9081-2644-A6F4-93804543201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3A8DADE-A5CF-61BF-4CD7-A305A35A59C1}"/>
              </a:ext>
            </a:extLst>
          </p:cNvPr>
          <p:cNvGrpSpPr/>
          <p:nvPr/>
        </p:nvGrpSpPr>
        <p:grpSpPr>
          <a:xfrm>
            <a:off x="1828800" y="482600"/>
            <a:ext cx="4620576" cy="508000"/>
            <a:chOff x="789624" y="1191463"/>
            <a:chExt cx="4620576" cy="508000"/>
          </a:xfrm>
        </p:grpSpPr>
        <p:sp>
          <p:nvSpPr>
            <p:cNvPr id="3" name="AutoShape 52">
              <a:extLst>
                <a:ext uri="{FF2B5EF4-FFF2-40B4-BE49-F238E27FC236}">
                  <a16:creationId xmlns:a16="http://schemas.microsoft.com/office/drawing/2014/main" id="{B6D1C31F-2BC1-DC32-6AB2-9CDC31FB9DED}"/>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Kiểm tra cấu hình máy</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038ED5A-42AE-EE3D-91AC-621568DA704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FB083A4-7DD7-F75A-4890-8064D44A7D1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45E5183-A8D2-7747-B18B-CD84CDC7D96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4626D3D-3E23-E1D9-FCD2-C57BDB12D4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Slide Number Placeholder 8">
            <a:extLst>
              <a:ext uri="{FF2B5EF4-FFF2-40B4-BE49-F238E27FC236}">
                <a16:creationId xmlns:a16="http://schemas.microsoft.com/office/drawing/2014/main" id="{DD4E1812-FBE4-4418-8FB4-4550397885B4}"/>
              </a:ext>
            </a:extLst>
          </p:cNvPr>
          <p:cNvSpPr>
            <a:spLocks noGrp="1"/>
          </p:cNvSpPr>
          <p:nvPr>
            <p:ph type="sldNum" sz="quarter" idx="12"/>
          </p:nvPr>
        </p:nvSpPr>
        <p:spPr/>
        <p:txBody>
          <a:bodyPr/>
          <a:lstStyle/>
          <a:p>
            <a:fld id="{78EE6887-2290-4B81-8A6D-75BA854EF4EB}" type="slidenum">
              <a:rPr lang="en-US" smtClean="0"/>
              <a:pPr/>
              <a:t>47</a:t>
            </a:fld>
            <a:endParaRPr lang="en-US"/>
          </a:p>
        </p:txBody>
      </p:sp>
      <p:pic>
        <p:nvPicPr>
          <p:cNvPr id="15" name="Picture 14">
            <a:extLst>
              <a:ext uri="{FF2B5EF4-FFF2-40B4-BE49-F238E27FC236}">
                <a16:creationId xmlns:a16="http://schemas.microsoft.com/office/drawing/2014/main" id="{C203B078-3EE7-FDEB-7A47-CE594642A70E}"/>
              </a:ext>
            </a:extLst>
          </p:cNvPr>
          <p:cNvPicPr>
            <a:picLocks noChangeAspect="1"/>
          </p:cNvPicPr>
          <p:nvPr/>
        </p:nvPicPr>
        <p:blipFill>
          <a:blip r:embed="rId2"/>
          <a:srcRect b="20866"/>
          <a:stretch>
            <a:fillRect/>
          </a:stretch>
        </p:blipFill>
        <p:spPr>
          <a:xfrm>
            <a:off x="2179210" y="1094537"/>
            <a:ext cx="7436768" cy="5398338"/>
          </a:xfrm>
          <a:prstGeom prst="rect">
            <a:avLst/>
          </a:prstGeom>
        </p:spPr>
      </p:pic>
      <p:sp>
        <p:nvSpPr>
          <p:cNvPr id="12" name="Rectangle 11">
            <a:extLst>
              <a:ext uri="{FF2B5EF4-FFF2-40B4-BE49-F238E27FC236}">
                <a16:creationId xmlns:a16="http://schemas.microsoft.com/office/drawing/2014/main" id="{4E68086D-5AFC-23D2-D577-D11648B52EC3}"/>
              </a:ext>
            </a:extLst>
          </p:cNvPr>
          <p:cNvSpPr/>
          <p:nvPr/>
        </p:nvSpPr>
        <p:spPr>
          <a:xfrm>
            <a:off x="2753484" y="4795101"/>
            <a:ext cx="4304145" cy="29556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05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6019800" cy="508000"/>
            <a:chOff x="789624" y="1191463"/>
            <a:chExt cx="6019800" cy="508000"/>
          </a:xfrm>
        </p:grpSpPr>
        <p:sp>
          <p:nvSpPr>
            <p:cNvPr id="3" name="AutoShape 52"/>
            <p:cNvSpPr>
              <a:spLocks noChangeArrowheads="1"/>
            </p:cNvSpPr>
            <p:nvPr/>
          </p:nvSpPr>
          <p:spPr bwMode="gray">
            <a:xfrm>
              <a:off x="990600" y="1191463"/>
              <a:ext cx="5818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tải và cài đặt phiên bản Eclipse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Vào link:</a:t>
            </a:r>
            <a:endParaRPr lang="vi-VN" kern="0">
              <a:solidFill>
                <a:srgbClr val="002060"/>
              </a:solidFill>
              <a:latin typeface="Cambria" panose="02040503050406030204" pitchFamily="18" charset="0"/>
            </a:endParaRPr>
          </a:p>
        </p:txBody>
      </p:sp>
      <p:sp>
        <p:nvSpPr>
          <p:cNvPr id="9" name="Rectangle 8"/>
          <p:cNvSpPr/>
          <p:nvPr/>
        </p:nvSpPr>
        <p:spPr>
          <a:xfrm>
            <a:off x="2029776" y="1676401"/>
            <a:ext cx="8514102" cy="461665"/>
          </a:xfrm>
          <a:prstGeom prst="rect">
            <a:avLst/>
          </a:prstGeom>
        </p:spPr>
        <p:txBody>
          <a:bodyPr wrap="square">
            <a:spAutoFit/>
          </a:bodyPr>
          <a:lstStyle/>
          <a:p>
            <a:r>
              <a:rPr lang="en-US" sz="2400"/>
              <a:t>https://www.eclipse.org/downloads/packages/</a:t>
            </a:r>
          </a:p>
        </p:txBody>
      </p:sp>
      <p:sp>
        <p:nvSpPr>
          <p:cNvPr id="10" name="Slide Number Placeholder 9">
            <a:extLst>
              <a:ext uri="{FF2B5EF4-FFF2-40B4-BE49-F238E27FC236}">
                <a16:creationId xmlns:a16="http://schemas.microsoft.com/office/drawing/2014/main" id="{39A92BC3-0A93-C22D-AC6A-6137026B3784}"/>
              </a:ext>
            </a:extLst>
          </p:cNvPr>
          <p:cNvSpPr>
            <a:spLocks noGrp="1"/>
          </p:cNvSpPr>
          <p:nvPr>
            <p:ph type="sldNum" sz="quarter" idx="12"/>
          </p:nvPr>
        </p:nvSpPr>
        <p:spPr/>
        <p:txBody>
          <a:bodyPr/>
          <a:lstStyle/>
          <a:p>
            <a:fld id="{78EE6887-2290-4B81-8A6D-75BA854EF4EB}" type="slidenum">
              <a:rPr lang="en-US" smtClean="0"/>
              <a:pPr/>
              <a:t>48</a:t>
            </a:fld>
            <a:endParaRPr lang="en-US"/>
          </a:p>
        </p:txBody>
      </p:sp>
      <p:pic>
        <p:nvPicPr>
          <p:cNvPr id="13" name="Picture 12">
            <a:extLst>
              <a:ext uri="{FF2B5EF4-FFF2-40B4-BE49-F238E27FC236}">
                <a16:creationId xmlns:a16="http://schemas.microsoft.com/office/drawing/2014/main" id="{4D399EB5-8973-AAA0-A5DE-BDF362E2F187}"/>
              </a:ext>
            </a:extLst>
          </p:cNvPr>
          <p:cNvPicPr>
            <a:picLocks noChangeAspect="1"/>
          </p:cNvPicPr>
          <p:nvPr/>
        </p:nvPicPr>
        <p:blipFill>
          <a:blip r:embed="rId2"/>
          <a:stretch>
            <a:fillRect/>
          </a:stretch>
        </p:blipFill>
        <p:spPr>
          <a:xfrm>
            <a:off x="785649" y="2675421"/>
            <a:ext cx="10246747" cy="3699979"/>
          </a:xfrm>
          <a:prstGeom prst="rect">
            <a:avLst/>
          </a:prstGeom>
        </p:spPr>
      </p:pic>
    </p:spTree>
    <p:extLst>
      <p:ext uri="{BB962C8B-B14F-4D97-AF65-F5344CB8AC3E}">
        <p14:creationId xmlns:p14="http://schemas.microsoft.com/office/powerpoint/2010/main" val="1134978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6019800" cy="508000"/>
            <a:chOff x="789624" y="1191463"/>
            <a:chExt cx="6019800" cy="508000"/>
          </a:xfrm>
        </p:grpSpPr>
        <p:sp>
          <p:nvSpPr>
            <p:cNvPr id="3" name="AutoShape 52"/>
            <p:cNvSpPr>
              <a:spLocks noChangeArrowheads="1"/>
            </p:cNvSpPr>
            <p:nvPr/>
          </p:nvSpPr>
          <p:spPr bwMode="gray">
            <a:xfrm>
              <a:off x="990600" y="1191463"/>
              <a:ext cx="5818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tải và cài đặt phiên bản Eclipse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Bấm Download</a:t>
            </a:r>
            <a:endParaRPr lang="vi-VN" kern="0">
              <a:solidFill>
                <a:srgbClr val="002060"/>
              </a:solidFill>
              <a:latin typeface="Cambria" panose="02040503050406030204" pitchFamily="18" charset="0"/>
            </a:endParaRPr>
          </a:p>
        </p:txBody>
      </p:sp>
      <p:pic>
        <p:nvPicPr>
          <p:cNvPr id="10" name="Picture 9"/>
          <p:cNvPicPr>
            <a:picLocks noChangeAspect="1"/>
          </p:cNvPicPr>
          <p:nvPr/>
        </p:nvPicPr>
        <p:blipFill>
          <a:blip r:embed="rId2"/>
          <a:stretch>
            <a:fillRect/>
          </a:stretch>
        </p:blipFill>
        <p:spPr>
          <a:xfrm>
            <a:off x="2971800" y="1676400"/>
            <a:ext cx="6934200" cy="4785574"/>
          </a:xfrm>
          <a:prstGeom prst="rect">
            <a:avLst/>
          </a:prstGeom>
        </p:spPr>
      </p:pic>
      <p:sp>
        <p:nvSpPr>
          <p:cNvPr id="9" name="Slide Number Placeholder 8">
            <a:extLst>
              <a:ext uri="{FF2B5EF4-FFF2-40B4-BE49-F238E27FC236}">
                <a16:creationId xmlns:a16="http://schemas.microsoft.com/office/drawing/2014/main" id="{77BD0DF9-9551-4AF5-A1BB-CCCCBF892987}"/>
              </a:ext>
            </a:extLst>
          </p:cNvPr>
          <p:cNvSpPr>
            <a:spLocks noGrp="1"/>
          </p:cNvSpPr>
          <p:nvPr>
            <p:ph type="sldNum" sz="quarter" idx="12"/>
          </p:nvPr>
        </p:nvSpPr>
        <p:spPr/>
        <p:txBody>
          <a:bodyPr/>
          <a:lstStyle/>
          <a:p>
            <a:fld id="{78EE6887-2290-4B81-8A6D-75BA854EF4EB}" type="slidenum">
              <a:rPr lang="en-US" smtClean="0"/>
              <a:pPr/>
              <a:t>49</a:t>
            </a:fld>
            <a:endParaRPr lang="en-US"/>
          </a:p>
        </p:txBody>
      </p:sp>
    </p:spTree>
    <p:extLst>
      <p:ext uri="{BB962C8B-B14F-4D97-AF65-F5344CB8AC3E}">
        <p14:creationId xmlns:p14="http://schemas.microsoft.com/office/powerpoint/2010/main" val="31909785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6019800" cy="508000"/>
            <a:chOff x="789624" y="1191463"/>
            <a:chExt cx="6019800" cy="508000"/>
          </a:xfrm>
        </p:grpSpPr>
        <p:sp>
          <p:nvSpPr>
            <p:cNvPr id="3" name="AutoShape 52"/>
            <p:cNvSpPr>
              <a:spLocks noChangeArrowheads="1"/>
            </p:cNvSpPr>
            <p:nvPr/>
          </p:nvSpPr>
          <p:spPr bwMode="gray">
            <a:xfrm>
              <a:off x="990600" y="1191463"/>
              <a:ext cx="5818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tải và cài đặt phiên bản Eclipse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Tiến hành giải nén rồi chạy bình thường không cần cài đặt (do nó là Portable)</a:t>
            </a:r>
            <a:endParaRPr lang="vi-VN"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FA0BBC7C-A215-680D-755C-04CD0C63D780}"/>
              </a:ext>
            </a:extLst>
          </p:cNvPr>
          <p:cNvSpPr>
            <a:spLocks noGrp="1"/>
          </p:cNvSpPr>
          <p:nvPr>
            <p:ph type="sldNum" sz="quarter" idx="12"/>
          </p:nvPr>
        </p:nvSpPr>
        <p:spPr/>
        <p:txBody>
          <a:bodyPr/>
          <a:lstStyle/>
          <a:p>
            <a:fld id="{78EE6887-2290-4B81-8A6D-75BA854EF4EB}" type="slidenum">
              <a:rPr lang="en-US" smtClean="0"/>
              <a:pPr/>
              <a:t>50</a:t>
            </a:fld>
            <a:endParaRPr lang="en-US"/>
          </a:p>
        </p:txBody>
      </p:sp>
      <p:pic>
        <p:nvPicPr>
          <p:cNvPr id="12" name="Picture 11">
            <a:extLst>
              <a:ext uri="{FF2B5EF4-FFF2-40B4-BE49-F238E27FC236}">
                <a16:creationId xmlns:a16="http://schemas.microsoft.com/office/drawing/2014/main" id="{B5081F5C-C209-AA0B-1641-2FAD7C46FC52}"/>
              </a:ext>
            </a:extLst>
          </p:cNvPr>
          <p:cNvPicPr>
            <a:picLocks noChangeAspect="1"/>
          </p:cNvPicPr>
          <p:nvPr/>
        </p:nvPicPr>
        <p:blipFill>
          <a:blip r:embed="rId2"/>
          <a:stretch>
            <a:fillRect/>
          </a:stretch>
        </p:blipFill>
        <p:spPr>
          <a:xfrm>
            <a:off x="2003321" y="2184599"/>
            <a:ext cx="8020726" cy="4308276"/>
          </a:xfrm>
          <a:prstGeom prst="rect">
            <a:avLst/>
          </a:prstGeom>
        </p:spPr>
      </p:pic>
    </p:spTree>
    <p:extLst>
      <p:ext uri="{BB962C8B-B14F-4D97-AF65-F5344CB8AC3E}">
        <p14:creationId xmlns:p14="http://schemas.microsoft.com/office/powerpoint/2010/main" val="4030769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6019800" cy="508000"/>
            <a:chOff x="789624" y="1191463"/>
            <a:chExt cx="6019800" cy="508000"/>
          </a:xfrm>
        </p:grpSpPr>
        <p:sp>
          <p:nvSpPr>
            <p:cNvPr id="3" name="AutoShape 52"/>
            <p:cNvSpPr>
              <a:spLocks noChangeArrowheads="1"/>
            </p:cNvSpPr>
            <p:nvPr/>
          </p:nvSpPr>
          <p:spPr bwMode="gray">
            <a:xfrm>
              <a:off x="990600" y="1191463"/>
              <a:ext cx="5818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tải và cài đặt phiên bản Eclipse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Vì sài thường xuyên nên ta đưa ra Desktop:</a:t>
            </a:r>
            <a:endParaRPr lang="vi-VN" kern="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2756453" y="1777886"/>
            <a:ext cx="5943600" cy="4537302"/>
          </a:xfrm>
          <a:prstGeom prst="rect">
            <a:avLst/>
          </a:prstGeom>
        </p:spPr>
      </p:pic>
      <p:sp>
        <p:nvSpPr>
          <p:cNvPr id="10" name="Slide Number Placeholder 9">
            <a:extLst>
              <a:ext uri="{FF2B5EF4-FFF2-40B4-BE49-F238E27FC236}">
                <a16:creationId xmlns:a16="http://schemas.microsoft.com/office/drawing/2014/main" id="{41D2D5EF-F9E4-1E6F-3F7F-9F8CD241E98B}"/>
              </a:ext>
            </a:extLst>
          </p:cNvPr>
          <p:cNvSpPr>
            <a:spLocks noGrp="1"/>
          </p:cNvSpPr>
          <p:nvPr>
            <p:ph type="sldNum" sz="quarter" idx="12"/>
          </p:nvPr>
        </p:nvSpPr>
        <p:spPr/>
        <p:txBody>
          <a:bodyPr/>
          <a:lstStyle/>
          <a:p>
            <a:fld id="{78EE6887-2290-4B81-8A6D-75BA854EF4EB}" type="slidenum">
              <a:rPr lang="en-US" smtClean="0"/>
              <a:pPr/>
              <a:t>51</a:t>
            </a:fld>
            <a:endParaRPr lang="en-US"/>
          </a:p>
        </p:txBody>
      </p:sp>
    </p:spTree>
    <p:extLst>
      <p:ext uri="{BB962C8B-B14F-4D97-AF65-F5344CB8AC3E}">
        <p14:creationId xmlns:p14="http://schemas.microsoft.com/office/powerpoint/2010/main" val="5190055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6019800" cy="508000"/>
            <a:chOff x="789624" y="1191463"/>
            <a:chExt cx="6019800" cy="508000"/>
          </a:xfrm>
        </p:grpSpPr>
        <p:sp>
          <p:nvSpPr>
            <p:cNvPr id="3" name="AutoShape 52"/>
            <p:cNvSpPr>
              <a:spLocks noChangeArrowheads="1"/>
            </p:cNvSpPr>
            <p:nvPr/>
          </p:nvSpPr>
          <p:spPr bwMode="gray">
            <a:xfrm>
              <a:off x="990600" y="1191463"/>
              <a:ext cx="5818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tải và cài đặt phiên bản Eclipse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Vì sài thường xuyên nên ta đưa ra Desktop:</a:t>
            </a:r>
            <a:endParaRPr lang="vi-VN" kern="0">
              <a:solidFill>
                <a:srgbClr val="002060"/>
              </a:solidFill>
              <a:latin typeface="Cambria" panose="02040503050406030204" pitchFamily="18" charset="0"/>
            </a:endParaRPr>
          </a:p>
        </p:txBody>
      </p:sp>
      <p:sp>
        <p:nvSpPr>
          <p:cNvPr id="11" name="Content Placeholder 2"/>
          <p:cNvSpPr txBox="1">
            <a:spLocks/>
          </p:cNvSpPr>
          <p:nvPr/>
        </p:nvSpPr>
        <p:spPr bwMode="auto">
          <a:xfrm>
            <a:off x="1782710" y="5530507"/>
            <a:ext cx="8359879"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Nhấn vào biểu tượng để chạy</a:t>
            </a:r>
            <a:endParaRPr lang="vi-VN"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0FF67D4E-5B04-0B35-03D7-D28C533FD449}"/>
              </a:ext>
            </a:extLst>
          </p:cNvPr>
          <p:cNvSpPr>
            <a:spLocks noGrp="1"/>
          </p:cNvSpPr>
          <p:nvPr>
            <p:ph type="sldNum" sz="quarter" idx="12"/>
          </p:nvPr>
        </p:nvSpPr>
        <p:spPr/>
        <p:txBody>
          <a:bodyPr/>
          <a:lstStyle/>
          <a:p>
            <a:fld id="{78EE6887-2290-4B81-8A6D-75BA854EF4EB}" type="slidenum">
              <a:rPr lang="en-US" smtClean="0"/>
              <a:pPr/>
              <a:t>52</a:t>
            </a:fld>
            <a:endParaRPr lang="en-US"/>
          </a:p>
        </p:txBody>
      </p:sp>
      <p:pic>
        <p:nvPicPr>
          <p:cNvPr id="13" name="Picture 12">
            <a:extLst>
              <a:ext uri="{FF2B5EF4-FFF2-40B4-BE49-F238E27FC236}">
                <a16:creationId xmlns:a16="http://schemas.microsoft.com/office/drawing/2014/main" id="{4978F12A-52D6-6FA6-A59F-97DB05E07090}"/>
              </a:ext>
            </a:extLst>
          </p:cNvPr>
          <p:cNvPicPr>
            <a:picLocks noChangeAspect="1"/>
          </p:cNvPicPr>
          <p:nvPr/>
        </p:nvPicPr>
        <p:blipFill>
          <a:blip r:embed="rId2"/>
          <a:stretch>
            <a:fillRect/>
          </a:stretch>
        </p:blipFill>
        <p:spPr>
          <a:xfrm>
            <a:off x="3676186" y="1914939"/>
            <a:ext cx="3758284" cy="3330986"/>
          </a:xfrm>
          <a:prstGeom prst="rect">
            <a:avLst/>
          </a:prstGeom>
        </p:spPr>
      </p:pic>
    </p:spTree>
    <p:extLst>
      <p:ext uri="{BB962C8B-B14F-4D97-AF65-F5344CB8AC3E}">
        <p14:creationId xmlns:p14="http://schemas.microsoft.com/office/powerpoint/2010/main" val="2176457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Workspace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Khi lần đầu tiên khởi động, Eclipse sẽ yêu cầu chúng ta chọn Workspace (là nơi lưu trữ các Project). Ta nên tạo ngay Workspace khác ổ C.</a:t>
            </a:r>
            <a:endParaRPr lang="vi-VN" sz="2800" kern="0">
              <a:solidFill>
                <a:srgbClr val="002060"/>
              </a:solidFill>
              <a:latin typeface="Cambria" panose="02040503050406030204" pitchFamily="18" charset="0"/>
            </a:endParaRPr>
          </a:p>
        </p:txBody>
      </p:sp>
      <p:sp>
        <p:nvSpPr>
          <p:cNvPr id="11" name="Content Placeholder 2"/>
          <p:cNvSpPr txBox="1">
            <a:spLocks/>
          </p:cNvSpPr>
          <p:nvPr/>
        </p:nvSpPr>
        <p:spPr bwMode="auto">
          <a:xfrm>
            <a:off x="2029777" y="5334000"/>
            <a:ext cx="8359879"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Checked vào Use this as the default and do not ask again rồi bấm OK.</a:t>
            </a:r>
            <a:endParaRPr lang="vi-VN" sz="2800"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EDD553E0-ED05-686A-3153-71D8D6F6C181}"/>
              </a:ext>
            </a:extLst>
          </p:cNvPr>
          <p:cNvSpPr>
            <a:spLocks noGrp="1"/>
          </p:cNvSpPr>
          <p:nvPr>
            <p:ph type="sldNum" sz="quarter" idx="12"/>
          </p:nvPr>
        </p:nvSpPr>
        <p:spPr/>
        <p:txBody>
          <a:bodyPr/>
          <a:lstStyle/>
          <a:p>
            <a:fld id="{78EE6887-2290-4B81-8A6D-75BA854EF4EB}" type="slidenum">
              <a:rPr lang="en-US" smtClean="0"/>
              <a:pPr/>
              <a:t>53</a:t>
            </a:fld>
            <a:endParaRPr lang="en-US"/>
          </a:p>
        </p:txBody>
      </p:sp>
      <p:pic>
        <p:nvPicPr>
          <p:cNvPr id="14" name="Picture 13">
            <a:extLst>
              <a:ext uri="{FF2B5EF4-FFF2-40B4-BE49-F238E27FC236}">
                <a16:creationId xmlns:a16="http://schemas.microsoft.com/office/drawing/2014/main" id="{082229C6-48C1-7D4E-F42A-42B0FA83FD30}"/>
              </a:ext>
            </a:extLst>
          </p:cNvPr>
          <p:cNvPicPr>
            <a:picLocks noChangeAspect="1"/>
          </p:cNvPicPr>
          <p:nvPr/>
        </p:nvPicPr>
        <p:blipFill>
          <a:blip r:embed="rId2"/>
          <a:stretch>
            <a:fillRect/>
          </a:stretch>
        </p:blipFill>
        <p:spPr>
          <a:xfrm>
            <a:off x="3291854" y="2479295"/>
            <a:ext cx="5608291" cy="2854705"/>
          </a:xfrm>
          <a:prstGeom prst="rect">
            <a:avLst/>
          </a:prstGeom>
        </p:spPr>
      </p:pic>
      <p:cxnSp>
        <p:nvCxnSpPr>
          <p:cNvPr id="13" name="Straight Arrow Connector 12"/>
          <p:cNvCxnSpPr/>
          <p:nvPr/>
        </p:nvCxnSpPr>
        <p:spPr>
          <a:xfrm flipH="1">
            <a:off x="7570304" y="4572000"/>
            <a:ext cx="228600" cy="381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4834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Workspace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Màn hình đầu tiên khi chạy Eclipse</a:t>
            </a:r>
            <a:endParaRPr lang="vi-VN" sz="2800" kern="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07097907-28A1-5B6A-5AF0-C89A2AD3CC92}"/>
              </a:ext>
            </a:extLst>
          </p:cNvPr>
          <p:cNvSpPr>
            <a:spLocks noGrp="1"/>
          </p:cNvSpPr>
          <p:nvPr>
            <p:ph type="sldNum" sz="quarter" idx="12"/>
          </p:nvPr>
        </p:nvSpPr>
        <p:spPr/>
        <p:txBody>
          <a:bodyPr/>
          <a:lstStyle/>
          <a:p>
            <a:fld id="{78EE6887-2290-4B81-8A6D-75BA854EF4EB}" type="slidenum">
              <a:rPr lang="en-US" smtClean="0"/>
              <a:pPr/>
              <a:t>54</a:t>
            </a:fld>
            <a:endParaRPr lang="en-US"/>
          </a:p>
        </p:txBody>
      </p:sp>
      <p:pic>
        <p:nvPicPr>
          <p:cNvPr id="12" name="Picture 11">
            <a:extLst>
              <a:ext uri="{FF2B5EF4-FFF2-40B4-BE49-F238E27FC236}">
                <a16:creationId xmlns:a16="http://schemas.microsoft.com/office/drawing/2014/main" id="{3C16ABB5-664A-E17B-9605-048024A2AA97}"/>
              </a:ext>
            </a:extLst>
          </p:cNvPr>
          <p:cNvPicPr>
            <a:picLocks noChangeAspect="1"/>
          </p:cNvPicPr>
          <p:nvPr/>
        </p:nvPicPr>
        <p:blipFill>
          <a:blip r:embed="rId2"/>
          <a:stretch>
            <a:fillRect/>
          </a:stretch>
        </p:blipFill>
        <p:spPr>
          <a:xfrm>
            <a:off x="2157310" y="1554349"/>
            <a:ext cx="6567571" cy="4938526"/>
          </a:xfrm>
          <a:prstGeom prst="rect">
            <a:avLst/>
          </a:prstGeom>
        </p:spPr>
      </p:pic>
    </p:spTree>
    <p:extLst>
      <p:ext uri="{BB962C8B-B14F-4D97-AF65-F5344CB8AC3E}">
        <p14:creationId xmlns:p14="http://schemas.microsoft.com/office/powerpoint/2010/main" val="8585793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Workspace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Nơi lưu trữ Workspace có thêm thư mục .metedata</a:t>
            </a:r>
            <a:endParaRPr lang="vi-VN" sz="2800"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1BCCA447-F4D1-FE3E-4403-A38C92762552}"/>
              </a:ext>
            </a:extLst>
          </p:cNvPr>
          <p:cNvSpPr>
            <a:spLocks noGrp="1"/>
          </p:cNvSpPr>
          <p:nvPr>
            <p:ph type="sldNum" sz="quarter" idx="12"/>
          </p:nvPr>
        </p:nvSpPr>
        <p:spPr/>
        <p:txBody>
          <a:bodyPr/>
          <a:lstStyle/>
          <a:p>
            <a:fld id="{78EE6887-2290-4B81-8A6D-75BA854EF4EB}" type="slidenum">
              <a:rPr lang="en-US" smtClean="0"/>
              <a:pPr/>
              <a:t>55</a:t>
            </a:fld>
            <a:endParaRPr lang="en-US"/>
          </a:p>
        </p:txBody>
      </p:sp>
      <p:pic>
        <p:nvPicPr>
          <p:cNvPr id="12" name="Picture 11">
            <a:extLst>
              <a:ext uri="{FF2B5EF4-FFF2-40B4-BE49-F238E27FC236}">
                <a16:creationId xmlns:a16="http://schemas.microsoft.com/office/drawing/2014/main" id="{781FDAFE-16CA-18B5-FB08-240BFB0F1304}"/>
              </a:ext>
            </a:extLst>
          </p:cNvPr>
          <p:cNvPicPr>
            <a:picLocks noChangeAspect="1"/>
          </p:cNvPicPr>
          <p:nvPr/>
        </p:nvPicPr>
        <p:blipFill>
          <a:blip r:embed="rId2"/>
          <a:stretch>
            <a:fillRect/>
          </a:stretch>
        </p:blipFill>
        <p:spPr>
          <a:xfrm>
            <a:off x="2063122" y="2272885"/>
            <a:ext cx="8240275" cy="3229426"/>
          </a:xfrm>
          <a:prstGeom prst="rect">
            <a:avLst/>
          </a:prstGeom>
        </p:spPr>
      </p:pic>
    </p:spTree>
    <p:extLst>
      <p:ext uri="{BB962C8B-B14F-4D97-AF65-F5344CB8AC3E}">
        <p14:creationId xmlns:p14="http://schemas.microsoft.com/office/powerpoint/2010/main" val="836245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các Project</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121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Project là 1 dự án cụ thể nào đó, được lưu vào Workspace (1 Workspace sẽ có nhiều Project)</a:t>
            </a:r>
          </a:p>
          <a:p>
            <a:pPr lvl="0" algn="just">
              <a:buClr>
                <a:srgbClr val="3DC5C5"/>
              </a:buClr>
              <a:defRPr/>
            </a:pPr>
            <a:r>
              <a:rPr lang="en-US" sz="2800" kern="0">
                <a:solidFill>
                  <a:srgbClr val="002060"/>
                </a:solidFill>
                <a:latin typeface="Cambria" panose="02040503050406030204" pitchFamily="18" charset="0"/>
              </a:rPr>
              <a:t>Vào File/ New/ Java Project</a:t>
            </a:r>
            <a:endParaRPr lang="vi-VN" sz="2800" kern="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B25BD6B0-5E88-80BF-E1B0-90242B44DD58}"/>
              </a:ext>
            </a:extLst>
          </p:cNvPr>
          <p:cNvSpPr>
            <a:spLocks noGrp="1"/>
          </p:cNvSpPr>
          <p:nvPr>
            <p:ph type="sldNum" sz="quarter" idx="12"/>
          </p:nvPr>
        </p:nvSpPr>
        <p:spPr/>
        <p:txBody>
          <a:bodyPr/>
          <a:lstStyle/>
          <a:p>
            <a:fld id="{78EE6887-2290-4B81-8A6D-75BA854EF4EB}" type="slidenum">
              <a:rPr lang="en-US" smtClean="0"/>
              <a:pPr/>
              <a:t>56</a:t>
            </a:fld>
            <a:endParaRPr lang="en-US"/>
          </a:p>
        </p:txBody>
      </p:sp>
      <p:pic>
        <p:nvPicPr>
          <p:cNvPr id="12" name="Picture 11">
            <a:extLst>
              <a:ext uri="{FF2B5EF4-FFF2-40B4-BE49-F238E27FC236}">
                <a16:creationId xmlns:a16="http://schemas.microsoft.com/office/drawing/2014/main" id="{24F35856-0BF3-42DA-CAAA-CEB08A262292}"/>
              </a:ext>
            </a:extLst>
          </p:cNvPr>
          <p:cNvPicPr>
            <a:picLocks noChangeAspect="1"/>
          </p:cNvPicPr>
          <p:nvPr/>
        </p:nvPicPr>
        <p:blipFill>
          <a:blip r:embed="rId2"/>
          <a:stretch>
            <a:fillRect/>
          </a:stretch>
        </p:blipFill>
        <p:spPr>
          <a:xfrm>
            <a:off x="2673568" y="2553146"/>
            <a:ext cx="6152379" cy="4304854"/>
          </a:xfrm>
          <a:prstGeom prst="rect">
            <a:avLst/>
          </a:prstGeom>
        </p:spPr>
      </p:pic>
    </p:spTree>
    <p:extLst>
      <p:ext uri="{BB962C8B-B14F-4D97-AF65-F5344CB8AC3E}">
        <p14:creationId xmlns:p14="http://schemas.microsoft.com/office/powerpoint/2010/main" val="34428363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các Project</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422999" y="1364974"/>
            <a:ext cx="4016480" cy="121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Project name: đặt tên cho Project</a:t>
            </a:r>
          </a:p>
          <a:p>
            <a:pPr lvl="0" algn="just">
              <a:buClr>
                <a:srgbClr val="3DC5C5"/>
              </a:buClr>
              <a:defRPr/>
            </a:pPr>
            <a:r>
              <a:rPr lang="en-US" sz="2800" kern="0">
                <a:solidFill>
                  <a:srgbClr val="002060"/>
                </a:solidFill>
                <a:latin typeface="Cambria" panose="02040503050406030204" pitchFamily="18" charset="0"/>
              </a:rPr>
              <a:t>Checked vào Use a Project specific JRE </a:t>
            </a:r>
            <a:r>
              <a:rPr lang="en-US" sz="2800" kern="0">
                <a:solidFill>
                  <a:srgbClr val="002060"/>
                </a:solidFill>
                <a:latin typeface="Cambria" panose="02040503050406030204" pitchFamily="18" charset="0"/>
                <a:sym typeface="Wingdings" panose="05000000000000000000" pitchFamily="2" charset="2"/>
              </a:rPr>
              <a:t>chính là JRE mà JDK ta vừa cài</a:t>
            </a:r>
          </a:p>
          <a:p>
            <a:pPr lvl="0" algn="just">
              <a:buClr>
                <a:srgbClr val="3DC5C5"/>
              </a:buClr>
              <a:defRPr/>
            </a:pPr>
            <a:r>
              <a:rPr lang="en-US" sz="2800" kern="0">
                <a:solidFill>
                  <a:srgbClr val="002060"/>
                </a:solidFill>
                <a:latin typeface="Cambria" panose="02040503050406030204" pitchFamily="18" charset="0"/>
                <a:sym typeface="Wingdings" panose="05000000000000000000" pitchFamily="2" charset="2"/>
              </a:rPr>
              <a:t>Sau đó bấm Finish để tao Project</a:t>
            </a:r>
            <a:endParaRPr lang="vi-VN" sz="2800"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FA8D0267-8EDA-2259-5DE9-228B5B699380}"/>
              </a:ext>
            </a:extLst>
          </p:cNvPr>
          <p:cNvSpPr>
            <a:spLocks noGrp="1"/>
          </p:cNvSpPr>
          <p:nvPr>
            <p:ph type="sldNum" sz="quarter" idx="12"/>
          </p:nvPr>
        </p:nvSpPr>
        <p:spPr/>
        <p:txBody>
          <a:bodyPr/>
          <a:lstStyle/>
          <a:p>
            <a:fld id="{78EE6887-2290-4B81-8A6D-75BA854EF4EB}" type="slidenum">
              <a:rPr lang="en-US" smtClean="0"/>
              <a:pPr/>
              <a:t>57</a:t>
            </a:fld>
            <a:endParaRPr lang="en-US"/>
          </a:p>
        </p:txBody>
      </p:sp>
      <p:pic>
        <p:nvPicPr>
          <p:cNvPr id="13" name="Picture 12">
            <a:extLst>
              <a:ext uri="{FF2B5EF4-FFF2-40B4-BE49-F238E27FC236}">
                <a16:creationId xmlns:a16="http://schemas.microsoft.com/office/drawing/2014/main" id="{92B0AEAA-B7CD-2608-0E45-56D0254CDA95}"/>
              </a:ext>
            </a:extLst>
          </p:cNvPr>
          <p:cNvPicPr>
            <a:picLocks noChangeAspect="1"/>
          </p:cNvPicPr>
          <p:nvPr/>
        </p:nvPicPr>
        <p:blipFill>
          <a:blip r:embed="rId2"/>
          <a:stretch>
            <a:fillRect/>
          </a:stretch>
        </p:blipFill>
        <p:spPr>
          <a:xfrm>
            <a:off x="5196392" y="-1"/>
            <a:ext cx="6203791" cy="6798765"/>
          </a:xfrm>
          <a:prstGeom prst="rect">
            <a:avLst/>
          </a:prstGeom>
        </p:spPr>
      </p:pic>
      <p:cxnSp>
        <p:nvCxnSpPr>
          <p:cNvPr id="12" name="Straight Arrow Connector 11"/>
          <p:cNvCxnSpPr>
            <a:cxnSpLocks/>
          </p:cNvCxnSpPr>
          <p:nvPr/>
        </p:nvCxnSpPr>
        <p:spPr>
          <a:xfrm>
            <a:off x="4760844" y="2295939"/>
            <a:ext cx="685799" cy="1590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CEE917E-0AF4-F877-DA4B-6CF6E513E388}"/>
              </a:ext>
            </a:extLst>
          </p:cNvPr>
          <p:cNvCxnSpPr>
            <a:cxnSpLocks/>
          </p:cNvCxnSpPr>
          <p:nvPr/>
        </p:nvCxnSpPr>
        <p:spPr>
          <a:xfrm flipH="1">
            <a:off x="7606095" y="2186608"/>
            <a:ext cx="583866" cy="3081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5ECEFCA-4F72-17DA-65D9-0BBF511CC998}"/>
              </a:ext>
            </a:extLst>
          </p:cNvPr>
          <p:cNvCxnSpPr>
            <a:cxnSpLocks/>
          </p:cNvCxnSpPr>
          <p:nvPr/>
        </p:nvCxnSpPr>
        <p:spPr>
          <a:xfrm flipH="1">
            <a:off x="10171043" y="6003235"/>
            <a:ext cx="304800" cy="4797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1552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các Project</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1536" y="1034465"/>
            <a:ext cx="8436079" cy="121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Project Trong Eclipse:</a:t>
            </a:r>
            <a:endParaRPr lang="vi-VN" sz="2800" kern="0">
              <a:solidFill>
                <a:srgbClr val="002060"/>
              </a:solidFill>
              <a:latin typeface="Cambria" panose="02040503050406030204" pitchFamily="18" charset="0"/>
            </a:endParaRPr>
          </a:p>
        </p:txBody>
      </p:sp>
      <p:sp>
        <p:nvSpPr>
          <p:cNvPr id="13" name="Content Placeholder 2"/>
          <p:cNvSpPr txBox="1">
            <a:spLocks/>
          </p:cNvSpPr>
          <p:nvPr/>
        </p:nvSpPr>
        <p:spPr bwMode="auto">
          <a:xfrm>
            <a:off x="-93837" y="4817317"/>
            <a:ext cx="8436079" cy="121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Project Trong Thư mục:</a:t>
            </a:r>
            <a:endParaRPr lang="vi-VN" sz="2800" kern="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6064C9F2-F7D1-1123-434B-0D93CA8F2A18}"/>
              </a:ext>
            </a:extLst>
          </p:cNvPr>
          <p:cNvSpPr>
            <a:spLocks noGrp="1"/>
          </p:cNvSpPr>
          <p:nvPr>
            <p:ph type="sldNum" sz="quarter" idx="12"/>
          </p:nvPr>
        </p:nvSpPr>
        <p:spPr/>
        <p:txBody>
          <a:bodyPr/>
          <a:lstStyle/>
          <a:p>
            <a:fld id="{78EE6887-2290-4B81-8A6D-75BA854EF4EB}" type="slidenum">
              <a:rPr lang="en-US" smtClean="0"/>
              <a:pPr/>
              <a:t>58</a:t>
            </a:fld>
            <a:endParaRPr lang="en-US"/>
          </a:p>
        </p:txBody>
      </p:sp>
      <p:pic>
        <p:nvPicPr>
          <p:cNvPr id="14" name="Picture 13">
            <a:extLst>
              <a:ext uri="{FF2B5EF4-FFF2-40B4-BE49-F238E27FC236}">
                <a16:creationId xmlns:a16="http://schemas.microsoft.com/office/drawing/2014/main" id="{897D25AA-B153-F420-1A89-ED6E4C161057}"/>
              </a:ext>
            </a:extLst>
          </p:cNvPr>
          <p:cNvPicPr>
            <a:picLocks noChangeAspect="1"/>
          </p:cNvPicPr>
          <p:nvPr/>
        </p:nvPicPr>
        <p:blipFill>
          <a:blip r:embed="rId2"/>
          <a:stretch>
            <a:fillRect/>
          </a:stretch>
        </p:blipFill>
        <p:spPr>
          <a:xfrm>
            <a:off x="4008982" y="1075648"/>
            <a:ext cx="7669497" cy="3193813"/>
          </a:xfrm>
          <a:prstGeom prst="rect">
            <a:avLst/>
          </a:prstGeom>
        </p:spPr>
      </p:pic>
      <p:pic>
        <p:nvPicPr>
          <p:cNvPr id="16" name="Picture 15">
            <a:extLst>
              <a:ext uri="{FF2B5EF4-FFF2-40B4-BE49-F238E27FC236}">
                <a16:creationId xmlns:a16="http://schemas.microsoft.com/office/drawing/2014/main" id="{38F2C917-5F22-4B22-DA28-5C4F872ABC15}"/>
              </a:ext>
            </a:extLst>
          </p:cNvPr>
          <p:cNvPicPr>
            <a:picLocks noChangeAspect="1"/>
          </p:cNvPicPr>
          <p:nvPr/>
        </p:nvPicPr>
        <p:blipFill>
          <a:blip r:embed="rId3"/>
          <a:stretch>
            <a:fillRect/>
          </a:stretch>
        </p:blipFill>
        <p:spPr>
          <a:xfrm>
            <a:off x="4239575" y="4519095"/>
            <a:ext cx="6683897" cy="2355201"/>
          </a:xfrm>
          <a:prstGeom prst="rect">
            <a:avLst/>
          </a:prstGeom>
        </p:spPr>
      </p:pic>
    </p:spTree>
    <p:extLst>
      <p:ext uri="{BB962C8B-B14F-4D97-AF65-F5344CB8AC3E}">
        <p14:creationId xmlns:p14="http://schemas.microsoft.com/office/powerpoint/2010/main" val="36301109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package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package </a:t>
            </a:r>
            <a:r>
              <a:rPr lang="en-US" kern="0">
                <a:solidFill>
                  <a:srgbClr val="002060"/>
                </a:solidFill>
                <a:latin typeface="Cambria" panose="02040503050406030204" pitchFamily="18" charset="0"/>
              </a:rPr>
              <a:t>bản chất là cây thư mục để tổ chức sắp xếp phân loại các lớp, giúp cho việc bảo trì dự án được tốt hơn. Package trong java yêu cầu phải viết thường hết. Nó được phân cấp theo dạng thư mục cha con (dựa vào dấu chấm . lúc tạo package)</a:t>
            </a:r>
          </a:p>
          <a:p>
            <a:pPr lvl="0" algn="just">
              <a:buClr>
                <a:srgbClr val="3DC5C5"/>
              </a:buClr>
              <a:defRPr/>
            </a:pPr>
            <a:r>
              <a:rPr lang="en-US" kern="0">
                <a:solidFill>
                  <a:srgbClr val="002060"/>
                </a:solidFill>
                <a:latin typeface="Cambria" panose="02040503050406030204" pitchFamily="18" charset="0"/>
              </a:rPr>
              <a:t>Đặt package như thế nào là do Lập trình viên quyết định.</a:t>
            </a:r>
            <a:endParaRPr lang="vi-VN"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F84E10D8-32E5-7516-FB3C-A89AE3639598}"/>
              </a:ext>
            </a:extLst>
          </p:cNvPr>
          <p:cNvSpPr>
            <a:spLocks noGrp="1"/>
          </p:cNvSpPr>
          <p:nvPr>
            <p:ph type="sldNum" sz="quarter" idx="12"/>
          </p:nvPr>
        </p:nvSpPr>
        <p:spPr/>
        <p:txBody>
          <a:bodyPr/>
          <a:lstStyle/>
          <a:p>
            <a:fld id="{78EE6887-2290-4B81-8A6D-75BA854EF4EB}" type="slidenum">
              <a:rPr lang="en-US" smtClean="0"/>
              <a:pPr/>
              <a:t>59</a:t>
            </a:fld>
            <a:endParaRPr lang="en-US"/>
          </a:p>
        </p:txBody>
      </p:sp>
    </p:spTree>
    <p:extLst>
      <p:ext uri="{BB962C8B-B14F-4D97-AF65-F5344CB8AC3E}">
        <p14:creationId xmlns:p14="http://schemas.microsoft.com/office/powerpoint/2010/main" val="12435857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package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Bấm chuột phải vào Project/ chọn new/ chọn package</a:t>
            </a:r>
            <a:endParaRPr lang="vi-VN" kern="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3159072" y="2362201"/>
            <a:ext cx="6048375" cy="2867025"/>
          </a:xfrm>
          <a:prstGeom prst="rect">
            <a:avLst/>
          </a:prstGeom>
        </p:spPr>
      </p:pic>
      <p:sp>
        <p:nvSpPr>
          <p:cNvPr id="10" name="Slide Number Placeholder 9">
            <a:extLst>
              <a:ext uri="{FF2B5EF4-FFF2-40B4-BE49-F238E27FC236}">
                <a16:creationId xmlns:a16="http://schemas.microsoft.com/office/drawing/2014/main" id="{2A6B7A5D-86FA-B9A4-9228-0B0CC06677F5}"/>
              </a:ext>
            </a:extLst>
          </p:cNvPr>
          <p:cNvSpPr>
            <a:spLocks noGrp="1"/>
          </p:cNvSpPr>
          <p:nvPr>
            <p:ph type="sldNum" sz="quarter" idx="12"/>
          </p:nvPr>
        </p:nvSpPr>
        <p:spPr/>
        <p:txBody>
          <a:bodyPr/>
          <a:lstStyle/>
          <a:p>
            <a:fld id="{78EE6887-2290-4B81-8A6D-75BA854EF4EB}" type="slidenum">
              <a:rPr lang="en-US" smtClean="0"/>
              <a:pPr/>
              <a:t>60</a:t>
            </a:fld>
            <a:endParaRPr lang="en-US"/>
          </a:p>
        </p:txBody>
      </p:sp>
    </p:spTree>
    <p:extLst>
      <p:ext uri="{BB962C8B-B14F-4D97-AF65-F5344CB8AC3E}">
        <p14:creationId xmlns:p14="http://schemas.microsoft.com/office/powerpoint/2010/main" val="26829163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package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6935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Name: Đặt tên cho package</a:t>
            </a:r>
            <a:endParaRPr lang="vi-VN" kern="0">
              <a:solidFill>
                <a:srgbClr val="002060"/>
              </a:solidFill>
              <a:latin typeface="Cambria" panose="02040503050406030204" pitchFamily="18" charset="0"/>
            </a:endParaRPr>
          </a:p>
        </p:txBody>
      </p:sp>
      <p:pic>
        <p:nvPicPr>
          <p:cNvPr id="10" name="Picture 9"/>
          <p:cNvPicPr>
            <a:picLocks noChangeAspect="1"/>
          </p:cNvPicPr>
          <p:nvPr/>
        </p:nvPicPr>
        <p:blipFill>
          <a:blip r:embed="rId2"/>
          <a:stretch>
            <a:fillRect/>
          </a:stretch>
        </p:blipFill>
        <p:spPr>
          <a:xfrm>
            <a:off x="1810604" y="1757524"/>
            <a:ext cx="4867275" cy="4695825"/>
          </a:xfrm>
          <a:prstGeom prst="rect">
            <a:avLst/>
          </a:prstGeom>
        </p:spPr>
      </p:pic>
      <p:sp>
        <p:nvSpPr>
          <p:cNvPr id="11" name="Content Placeholder 2"/>
          <p:cNvSpPr txBox="1">
            <a:spLocks/>
          </p:cNvSpPr>
          <p:nvPr/>
        </p:nvSpPr>
        <p:spPr bwMode="auto">
          <a:xfrm>
            <a:off x="6677878" y="1600023"/>
            <a:ext cx="3951340" cy="250683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buClr>
                <a:srgbClr val="3DC5C5"/>
              </a:buClr>
              <a:buNone/>
              <a:defRPr/>
            </a:pPr>
            <a:r>
              <a:rPr lang="en-US" sz="2400" kern="0">
                <a:solidFill>
                  <a:srgbClr val="002060"/>
                </a:solidFill>
                <a:latin typeface="Cambria" panose="02040503050406030204" pitchFamily="18" charset="0"/>
              </a:rPr>
              <a:t>Tui để communityuni.com có nghĩa là có 2 thư mục.  </a:t>
            </a:r>
          </a:p>
          <a:p>
            <a:pPr marL="0" indent="0" algn="just">
              <a:buClr>
                <a:srgbClr val="3DC5C5"/>
              </a:buClr>
              <a:buNone/>
              <a:defRPr/>
            </a:pPr>
            <a:r>
              <a:rPr lang="en-US" sz="2400" kern="0">
                <a:solidFill>
                  <a:srgbClr val="002060"/>
                </a:solidFill>
                <a:latin typeface="Cambria" panose="02040503050406030204" pitchFamily="18" charset="0"/>
              </a:rPr>
              <a:t>-Thư mục cha là </a:t>
            </a:r>
            <a:r>
              <a:rPr lang="en-US" sz="2400" kern="0">
                <a:solidFill>
                  <a:srgbClr val="FF0000"/>
                </a:solidFill>
                <a:latin typeface="Cambria" panose="02040503050406030204" pitchFamily="18" charset="0"/>
              </a:rPr>
              <a:t>communityuni</a:t>
            </a:r>
          </a:p>
          <a:p>
            <a:pPr marL="0" indent="0" algn="just">
              <a:buClr>
                <a:srgbClr val="3DC5C5"/>
              </a:buClr>
              <a:buNone/>
              <a:defRPr/>
            </a:pPr>
            <a:r>
              <a:rPr lang="en-US" sz="2400" kern="0">
                <a:solidFill>
                  <a:srgbClr val="002060"/>
                </a:solidFill>
                <a:latin typeface="Cambria" panose="02040503050406030204" pitchFamily="18" charset="0"/>
              </a:rPr>
              <a:t>-Thư mục con là </a:t>
            </a:r>
            <a:r>
              <a:rPr lang="en-US" sz="2400" kern="0">
                <a:solidFill>
                  <a:srgbClr val="FF0000"/>
                </a:solidFill>
                <a:latin typeface="Cambria" panose="02040503050406030204" pitchFamily="18" charset="0"/>
              </a:rPr>
              <a:t>com</a:t>
            </a:r>
          </a:p>
          <a:p>
            <a:pPr lvl="0" algn="just">
              <a:buClr>
                <a:srgbClr val="3DC5C5"/>
              </a:buClr>
              <a:buFontTx/>
              <a:buChar char="-"/>
              <a:defRPr/>
            </a:pPr>
            <a:endParaRPr lang="vi-VN" sz="2400" kern="0">
              <a:solidFill>
                <a:srgbClr val="002060"/>
              </a:solidFill>
              <a:latin typeface="Cambria" panose="02040503050406030204" pitchFamily="18" charset="0"/>
            </a:endParaRPr>
          </a:p>
        </p:txBody>
      </p:sp>
      <p:pic>
        <p:nvPicPr>
          <p:cNvPr id="12" name="Picture 11"/>
          <p:cNvPicPr>
            <a:picLocks noChangeAspect="1"/>
          </p:cNvPicPr>
          <p:nvPr/>
        </p:nvPicPr>
        <p:blipFill>
          <a:blip r:embed="rId3"/>
          <a:stretch>
            <a:fillRect/>
          </a:stretch>
        </p:blipFill>
        <p:spPr>
          <a:xfrm>
            <a:off x="7620000" y="3657600"/>
            <a:ext cx="2289348" cy="2795748"/>
          </a:xfrm>
          <a:prstGeom prst="rect">
            <a:avLst/>
          </a:prstGeom>
        </p:spPr>
      </p:pic>
      <p:cxnSp>
        <p:nvCxnSpPr>
          <p:cNvPr id="14" name="Straight Arrow Connector 13"/>
          <p:cNvCxnSpPr/>
          <p:nvPr/>
        </p:nvCxnSpPr>
        <p:spPr>
          <a:xfrm flipH="1">
            <a:off x="5334000" y="5562600"/>
            <a:ext cx="457200" cy="457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6C6DC480-2BCE-12A2-A7AD-A6E71FF1387D}"/>
              </a:ext>
            </a:extLst>
          </p:cNvPr>
          <p:cNvSpPr>
            <a:spLocks noGrp="1"/>
          </p:cNvSpPr>
          <p:nvPr>
            <p:ph type="sldNum" sz="quarter" idx="12"/>
          </p:nvPr>
        </p:nvSpPr>
        <p:spPr/>
        <p:txBody>
          <a:bodyPr/>
          <a:lstStyle/>
          <a:p>
            <a:fld id="{78EE6887-2290-4B81-8A6D-75BA854EF4EB}" type="slidenum">
              <a:rPr lang="en-US" smtClean="0"/>
              <a:pPr/>
              <a:t>61</a:t>
            </a:fld>
            <a:endParaRPr lang="en-US"/>
          </a:p>
        </p:txBody>
      </p:sp>
    </p:spTree>
    <p:extLst>
      <p:ext uri="{BB962C8B-B14F-4D97-AF65-F5344CB8AC3E}">
        <p14:creationId xmlns:p14="http://schemas.microsoft.com/office/powerpoint/2010/main" val="36773251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package</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5235679" cy="6935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Trên Project, package hiển thị:</a:t>
            </a:r>
            <a:endParaRPr lang="vi-VN" sz="2800" kern="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7239000" y="445069"/>
            <a:ext cx="3215842" cy="2202034"/>
          </a:xfrm>
          <a:prstGeom prst="rect">
            <a:avLst/>
          </a:prstGeom>
        </p:spPr>
      </p:pic>
      <p:sp>
        <p:nvSpPr>
          <p:cNvPr id="15" name="Content Placeholder 2"/>
          <p:cNvSpPr txBox="1">
            <a:spLocks/>
          </p:cNvSpPr>
          <p:nvPr/>
        </p:nvSpPr>
        <p:spPr bwMode="auto">
          <a:xfrm>
            <a:off x="1969203" y="2802915"/>
            <a:ext cx="8359879" cy="359788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Vậy ngoài việc tổ chức sắp xếp phân loại lớp, package còn có ý nghĩa gì?</a:t>
            </a:r>
          </a:p>
          <a:p>
            <a:pPr marL="0" indent="0" algn="just">
              <a:buClr>
                <a:srgbClr val="3DC5C5"/>
              </a:buClr>
              <a:buNone/>
              <a:defRPr/>
            </a:pPr>
            <a:r>
              <a:rPr lang="en-US" sz="2800" kern="0">
                <a:solidFill>
                  <a:srgbClr val="002060"/>
                </a:solidFill>
                <a:latin typeface="Cambria" panose="02040503050406030204" pitchFamily="18" charset="0"/>
                <a:sym typeface="Wingdings" panose="05000000000000000000" pitchFamily="2" charset="2"/>
              </a:rPr>
              <a:t></a:t>
            </a:r>
            <a:r>
              <a:rPr lang="en-US" sz="2800" kern="0">
                <a:solidFill>
                  <a:srgbClr val="002060"/>
                </a:solidFill>
                <a:latin typeface="Cambria" panose="02040503050406030204" pitchFamily="18" charset="0"/>
              </a:rPr>
              <a:t>Thường gắn liền với domain của cá nhân, tổ chức. Nhưng không có nghĩa nó phải tồn tại.</a:t>
            </a:r>
          </a:p>
          <a:p>
            <a:pPr marL="0" indent="0" algn="just">
              <a:buClr>
                <a:srgbClr val="3DC5C5"/>
              </a:buClr>
              <a:buNone/>
              <a:defRPr/>
            </a:pPr>
            <a:r>
              <a:rPr lang="en-US" sz="2800" kern="0">
                <a:solidFill>
                  <a:srgbClr val="002060"/>
                </a:solidFill>
                <a:latin typeface="Cambria" panose="02040503050406030204" pitchFamily="18" charset="0"/>
                <a:sym typeface="Wingdings" panose="05000000000000000000" pitchFamily="2" charset="2"/>
              </a:rPr>
              <a:t></a:t>
            </a:r>
            <a:r>
              <a:rPr lang="en-US" sz="2800" kern="0">
                <a:solidFill>
                  <a:srgbClr val="002060"/>
                </a:solidFill>
                <a:latin typeface="Cambria" panose="02040503050406030204" pitchFamily="18" charset="0"/>
              </a:rPr>
              <a:t>Nếu bạn tên là Trần Duy Thanh thì bạn có thể đặt là </a:t>
            </a:r>
            <a:r>
              <a:rPr lang="en-US" sz="2800" kern="0">
                <a:solidFill>
                  <a:srgbClr val="FF0000"/>
                </a:solidFill>
                <a:latin typeface="Cambria" panose="02040503050406030204" pitchFamily="18" charset="0"/>
              </a:rPr>
              <a:t>tranduythanh.edu.vn</a:t>
            </a:r>
            <a:r>
              <a:rPr lang="en-US" sz="2800" kern="0">
                <a:solidFill>
                  <a:srgbClr val="002060"/>
                </a:solidFill>
                <a:latin typeface="Cambria" panose="02040503050406030204" pitchFamily="18" charset="0"/>
              </a:rPr>
              <a:t> , cho dù </a:t>
            </a:r>
            <a:r>
              <a:rPr lang="en-US" sz="2800" kern="0">
                <a:solidFill>
                  <a:srgbClr val="FF0000"/>
                </a:solidFill>
                <a:latin typeface="Cambria" panose="02040503050406030204" pitchFamily="18" charset="0"/>
              </a:rPr>
              <a:t>tranduythanh.edu.vn</a:t>
            </a:r>
            <a:r>
              <a:rPr lang="en-US" sz="2800" kern="0">
                <a:solidFill>
                  <a:srgbClr val="002060"/>
                </a:solidFill>
                <a:latin typeface="Cambria" panose="02040503050406030204" pitchFamily="18" charset="0"/>
              </a:rPr>
              <a:t> hoàn toàn không tồn tại.</a:t>
            </a:r>
            <a:endParaRPr lang="vi-VN" sz="2800" kern="0">
              <a:solidFill>
                <a:srgbClr val="002060"/>
              </a:solidFill>
              <a:latin typeface="Cambria" panose="02040503050406030204" pitchFamily="18" charset="0"/>
            </a:endParaRPr>
          </a:p>
          <a:p>
            <a:pPr lvl="0" algn="just">
              <a:buClr>
                <a:srgbClr val="3DC5C5"/>
              </a:buClr>
              <a:defRPr/>
            </a:pPr>
            <a:endParaRPr lang="vi-VN" sz="2800" kern="0">
              <a:solidFill>
                <a:srgbClr val="002060"/>
              </a:solidFill>
              <a:latin typeface="Cambria" panose="02040503050406030204" pitchFamily="18" charset="0"/>
            </a:endParaRPr>
          </a:p>
        </p:txBody>
      </p:sp>
      <p:sp>
        <p:nvSpPr>
          <p:cNvPr id="10" name="Slide Number Placeholder 9">
            <a:extLst>
              <a:ext uri="{FF2B5EF4-FFF2-40B4-BE49-F238E27FC236}">
                <a16:creationId xmlns:a16="http://schemas.microsoft.com/office/drawing/2014/main" id="{5DF80C7C-71FC-323A-E3E7-D0F38DF6017B}"/>
              </a:ext>
            </a:extLst>
          </p:cNvPr>
          <p:cNvSpPr>
            <a:spLocks noGrp="1"/>
          </p:cNvSpPr>
          <p:nvPr>
            <p:ph type="sldNum" sz="quarter" idx="12"/>
          </p:nvPr>
        </p:nvSpPr>
        <p:spPr/>
        <p:txBody>
          <a:bodyPr/>
          <a:lstStyle/>
          <a:p>
            <a:fld id="{78EE6887-2290-4B81-8A6D-75BA854EF4EB}" type="slidenum">
              <a:rPr lang="en-US" smtClean="0"/>
              <a:pPr/>
              <a:t>62</a:t>
            </a:fld>
            <a:endParaRPr lang="en-US"/>
          </a:p>
        </p:txBody>
      </p:sp>
    </p:spTree>
    <p:extLst>
      <p:ext uri="{BB962C8B-B14F-4D97-AF65-F5344CB8AC3E}">
        <p14:creationId xmlns:p14="http://schemas.microsoft.com/office/powerpoint/2010/main" val="18476999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class</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Để tạo lớp/ vào package/ chọn new/ chọn class</a:t>
            </a:r>
            <a:endParaRPr lang="vi-VN" kern="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2630434" y="2362201"/>
            <a:ext cx="7105650" cy="3381375"/>
          </a:xfrm>
          <a:prstGeom prst="rect">
            <a:avLst/>
          </a:prstGeom>
        </p:spPr>
      </p:pic>
      <p:sp>
        <p:nvSpPr>
          <p:cNvPr id="10" name="Slide Number Placeholder 9">
            <a:extLst>
              <a:ext uri="{FF2B5EF4-FFF2-40B4-BE49-F238E27FC236}">
                <a16:creationId xmlns:a16="http://schemas.microsoft.com/office/drawing/2014/main" id="{E6277EBD-959F-68E3-FB0A-68FEF25762A0}"/>
              </a:ext>
            </a:extLst>
          </p:cNvPr>
          <p:cNvSpPr>
            <a:spLocks noGrp="1"/>
          </p:cNvSpPr>
          <p:nvPr>
            <p:ph type="sldNum" sz="quarter" idx="12"/>
          </p:nvPr>
        </p:nvSpPr>
        <p:spPr/>
        <p:txBody>
          <a:bodyPr/>
          <a:lstStyle/>
          <a:p>
            <a:fld id="{78EE6887-2290-4B81-8A6D-75BA854EF4EB}" type="slidenum">
              <a:rPr lang="en-US" smtClean="0"/>
              <a:pPr/>
              <a:t>63</a:t>
            </a:fld>
            <a:endParaRPr lang="en-US"/>
          </a:p>
        </p:txBody>
      </p:sp>
    </p:spTree>
    <p:extLst>
      <p:ext uri="{BB962C8B-B14F-4D97-AF65-F5344CB8AC3E}">
        <p14:creationId xmlns:p14="http://schemas.microsoft.com/office/powerpoint/2010/main" val="1851146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class</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1595778" y="1304924"/>
            <a:ext cx="3826932"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sz="2800" kern="0">
                <a:solidFill>
                  <a:srgbClr val="002060"/>
                </a:solidFill>
                <a:latin typeface="Cambria" panose="02040503050406030204" pitchFamily="18" charset="0"/>
              </a:rPr>
              <a:t>Nhập vào tên Lớp: Ký tự đầu tiên của các từ phải VIẾT HOA</a:t>
            </a:r>
          </a:p>
          <a:p>
            <a:pPr lvl="0" algn="just">
              <a:buClr>
                <a:srgbClr val="3DC5C5"/>
              </a:buClr>
              <a:defRPr/>
            </a:pPr>
            <a:r>
              <a:rPr lang="en-US" sz="2800" kern="0">
                <a:solidFill>
                  <a:srgbClr val="002060"/>
                </a:solidFill>
                <a:latin typeface="Cambria" panose="02040503050406030204" pitchFamily="18" charset="0"/>
              </a:rPr>
              <a:t>Checked vào public static void main để tự phát sinh ra hàm main.</a:t>
            </a:r>
            <a:endParaRPr lang="vi-VN" sz="2800" kern="0">
              <a:solidFill>
                <a:srgbClr val="002060"/>
              </a:solidFill>
              <a:latin typeface="Cambria" panose="02040503050406030204" pitchFamily="18" charset="0"/>
            </a:endParaRPr>
          </a:p>
        </p:txBody>
      </p:sp>
      <p:pic>
        <p:nvPicPr>
          <p:cNvPr id="10" name="Picture 9"/>
          <p:cNvPicPr>
            <a:picLocks noChangeAspect="1"/>
          </p:cNvPicPr>
          <p:nvPr/>
        </p:nvPicPr>
        <p:blipFill>
          <a:blip r:embed="rId2"/>
          <a:stretch>
            <a:fillRect/>
          </a:stretch>
        </p:blipFill>
        <p:spPr>
          <a:xfrm>
            <a:off x="5638801" y="1066800"/>
            <a:ext cx="4817533" cy="5419725"/>
          </a:xfrm>
          <a:prstGeom prst="rect">
            <a:avLst/>
          </a:prstGeom>
        </p:spPr>
      </p:pic>
      <p:cxnSp>
        <p:nvCxnSpPr>
          <p:cNvPr id="12" name="Straight Arrow Connector 11"/>
          <p:cNvCxnSpPr/>
          <p:nvPr/>
        </p:nvCxnSpPr>
        <p:spPr>
          <a:xfrm>
            <a:off x="5029200" y="2438400"/>
            <a:ext cx="762000" cy="762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181600" y="4114800"/>
            <a:ext cx="1447800" cy="533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9144000" y="5410201"/>
            <a:ext cx="533400" cy="6857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2CBF8891-C3B0-226C-721B-F8BC092D993E}"/>
              </a:ext>
            </a:extLst>
          </p:cNvPr>
          <p:cNvSpPr>
            <a:spLocks noGrp="1"/>
          </p:cNvSpPr>
          <p:nvPr>
            <p:ph type="sldNum" sz="quarter" idx="12"/>
          </p:nvPr>
        </p:nvSpPr>
        <p:spPr/>
        <p:txBody>
          <a:bodyPr/>
          <a:lstStyle/>
          <a:p>
            <a:fld id="{78EE6887-2290-4B81-8A6D-75BA854EF4EB}" type="slidenum">
              <a:rPr lang="en-US" smtClean="0"/>
              <a:pPr/>
              <a:t>64</a:t>
            </a:fld>
            <a:endParaRPr lang="en-US"/>
          </a:p>
        </p:txBody>
      </p:sp>
    </p:spTree>
    <p:extLst>
      <p:ext uri="{BB962C8B-B14F-4D97-AF65-F5344CB8AC3E}">
        <p14:creationId xmlns:p14="http://schemas.microsoft.com/office/powerpoint/2010/main" val="22157906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tạo class</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p:cNvPicPr>
            <a:picLocks noChangeAspect="1"/>
          </p:cNvPicPr>
          <p:nvPr/>
        </p:nvPicPr>
        <p:blipFill rotWithShape="1">
          <a:blip r:embed="rId2"/>
          <a:srcRect r="23434"/>
          <a:stretch/>
        </p:blipFill>
        <p:spPr>
          <a:xfrm>
            <a:off x="1849332" y="1295400"/>
            <a:ext cx="8516296" cy="4869246"/>
          </a:xfrm>
          <a:prstGeom prst="rect">
            <a:avLst/>
          </a:prstGeom>
        </p:spPr>
      </p:pic>
      <p:sp>
        <p:nvSpPr>
          <p:cNvPr id="8" name="Slide Number Placeholder 7">
            <a:extLst>
              <a:ext uri="{FF2B5EF4-FFF2-40B4-BE49-F238E27FC236}">
                <a16:creationId xmlns:a16="http://schemas.microsoft.com/office/drawing/2014/main" id="{BFC2B30D-EF3A-8CFC-44D6-CB2B87470A84}"/>
              </a:ext>
            </a:extLst>
          </p:cNvPr>
          <p:cNvSpPr>
            <a:spLocks noGrp="1"/>
          </p:cNvSpPr>
          <p:nvPr>
            <p:ph type="sldNum" sz="quarter" idx="12"/>
          </p:nvPr>
        </p:nvSpPr>
        <p:spPr/>
        <p:txBody>
          <a:bodyPr/>
          <a:lstStyle/>
          <a:p>
            <a:fld id="{78EE6887-2290-4B81-8A6D-75BA854EF4EB}" type="slidenum">
              <a:rPr lang="en-US" smtClean="0"/>
              <a:pPr/>
              <a:t>65</a:t>
            </a:fld>
            <a:endParaRPr lang="en-US"/>
          </a:p>
        </p:txBody>
      </p:sp>
    </p:spTree>
    <p:extLst>
      <p:ext uri="{BB962C8B-B14F-4D97-AF65-F5344CB8AC3E}">
        <p14:creationId xmlns:p14="http://schemas.microsoft.com/office/powerpoint/2010/main" val="27107799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105400" cy="508000"/>
            <a:chOff x="789624" y="1191463"/>
            <a:chExt cx="5105400" cy="508000"/>
          </a:xfrm>
        </p:grpSpPr>
        <p:sp>
          <p:nvSpPr>
            <p:cNvPr id="3" name="AutoShape 52"/>
            <p:cNvSpPr>
              <a:spLocks noChangeArrowheads="1"/>
            </p:cNvSpPr>
            <p:nvPr/>
          </p:nvSpPr>
          <p:spPr bwMode="gray">
            <a:xfrm>
              <a:off x="990600" y="1191463"/>
              <a:ext cx="4904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biên dịch và thực thi dự án</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Để biên dịch và chạy ta vào Run/ Run hoặc gõ Ctrl+F11 Hoặc nhấn vào biểu tượng khoanh tròn trên toolbar</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rotWithShape="1">
          <a:blip r:embed="rId2"/>
          <a:srcRect r="31278"/>
          <a:stretch/>
        </p:blipFill>
        <p:spPr>
          <a:xfrm>
            <a:off x="2514600" y="2629774"/>
            <a:ext cx="7010400" cy="3847226"/>
          </a:xfrm>
          <a:prstGeom prst="rect">
            <a:avLst/>
          </a:prstGeom>
        </p:spPr>
      </p:pic>
      <p:sp>
        <p:nvSpPr>
          <p:cNvPr id="10" name="Slide Number Placeholder 9">
            <a:extLst>
              <a:ext uri="{FF2B5EF4-FFF2-40B4-BE49-F238E27FC236}">
                <a16:creationId xmlns:a16="http://schemas.microsoft.com/office/drawing/2014/main" id="{7F228D8D-967B-701A-EFAD-0F876BD37606}"/>
              </a:ext>
            </a:extLst>
          </p:cNvPr>
          <p:cNvSpPr>
            <a:spLocks noGrp="1"/>
          </p:cNvSpPr>
          <p:nvPr>
            <p:ph type="sldNum" sz="quarter" idx="12"/>
          </p:nvPr>
        </p:nvSpPr>
        <p:spPr/>
        <p:txBody>
          <a:bodyPr/>
          <a:lstStyle/>
          <a:p>
            <a:fld id="{78EE6887-2290-4B81-8A6D-75BA854EF4EB}" type="slidenum">
              <a:rPr lang="en-US" smtClean="0"/>
              <a:pPr/>
              <a:t>66</a:t>
            </a:fld>
            <a:endParaRPr lang="en-US"/>
          </a:p>
        </p:txBody>
      </p:sp>
    </p:spTree>
    <p:extLst>
      <p:ext uri="{BB962C8B-B14F-4D97-AF65-F5344CB8AC3E}">
        <p14:creationId xmlns:p14="http://schemas.microsoft.com/office/powerpoint/2010/main" val="5343520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105400" cy="508000"/>
            <a:chOff x="789624" y="1191463"/>
            <a:chExt cx="5105400" cy="508000"/>
          </a:xfrm>
        </p:grpSpPr>
        <p:sp>
          <p:nvSpPr>
            <p:cNvPr id="3" name="AutoShape 52"/>
            <p:cNvSpPr>
              <a:spLocks noChangeArrowheads="1"/>
            </p:cNvSpPr>
            <p:nvPr/>
          </p:nvSpPr>
          <p:spPr bwMode="gray">
            <a:xfrm>
              <a:off x="990600" y="1191463"/>
              <a:ext cx="4904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Cách biên dịch và thực thi dự án</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Kết quả thực thi:</a:t>
            </a:r>
            <a:endParaRPr lang="en-US" kern="0" dirty="0">
              <a:solidFill>
                <a:srgbClr val="002060"/>
              </a:solidFill>
              <a:latin typeface="Cambria" panose="02040503050406030204" pitchFamily="18" charset="0"/>
            </a:endParaRPr>
          </a:p>
        </p:txBody>
      </p:sp>
      <p:pic>
        <p:nvPicPr>
          <p:cNvPr id="12" name="Picture 11"/>
          <p:cNvPicPr>
            <a:picLocks noChangeAspect="1"/>
          </p:cNvPicPr>
          <p:nvPr/>
        </p:nvPicPr>
        <p:blipFill>
          <a:blip r:embed="rId2"/>
          <a:stretch>
            <a:fillRect/>
          </a:stretch>
        </p:blipFill>
        <p:spPr>
          <a:xfrm>
            <a:off x="2345139" y="1622893"/>
            <a:ext cx="8001000" cy="4833298"/>
          </a:xfrm>
          <a:prstGeom prst="rect">
            <a:avLst/>
          </a:prstGeom>
        </p:spPr>
      </p:pic>
      <p:sp>
        <p:nvSpPr>
          <p:cNvPr id="13" name="Rounded Rectangle 12"/>
          <p:cNvSpPr/>
          <p:nvPr/>
        </p:nvSpPr>
        <p:spPr>
          <a:xfrm>
            <a:off x="4724400" y="5181600"/>
            <a:ext cx="2209800" cy="4572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F24A999E-FFCE-313F-3E05-A37BA00C57A1}"/>
              </a:ext>
            </a:extLst>
          </p:cNvPr>
          <p:cNvSpPr>
            <a:spLocks noGrp="1"/>
          </p:cNvSpPr>
          <p:nvPr>
            <p:ph type="sldNum" sz="quarter" idx="12"/>
          </p:nvPr>
        </p:nvSpPr>
        <p:spPr/>
        <p:txBody>
          <a:bodyPr/>
          <a:lstStyle/>
          <a:p>
            <a:fld id="{78EE6887-2290-4B81-8A6D-75BA854EF4EB}" type="slidenum">
              <a:rPr lang="en-US" smtClean="0"/>
              <a:pPr/>
              <a:t>67</a:t>
            </a:fld>
            <a:endParaRPr lang="en-US"/>
          </a:p>
        </p:txBody>
      </p:sp>
    </p:spTree>
    <p:extLst>
      <p:ext uri="{BB962C8B-B14F-4D97-AF65-F5344CB8AC3E}">
        <p14:creationId xmlns:p14="http://schemas.microsoft.com/office/powerpoint/2010/main" val="20137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7239000" cy="508000"/>
            <a:chOff x="789624" y="1191463"/>
            <a:chExt cx="7239000" cy="508000"/>
          </a:xfrm>
        </p:grpSpPr>
        <p:sp>
          <p:nvSpPr>
            <p:cNvPr id="3" name="AutoShape 52"/>
            <p:cNvSpPr>
              <a:spLocks noChangeArrowheads="1"/>
            </p:cNvSpPr>
            <p:nvPr/>
          </p:nvSpPr>
          <p:spPr bwMode="gray">
            <a:xfrm>
              <a:off x="990600" y="1191463"/>
              <a:ext cx="7038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Cấu hình lưu dấu Tiếng Việt trong Eclipse</a:t>
              </a:r>
              <a:endParaRPr lang="en-US" sz="24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Nếu không cấu hình thì các chữ bằng Tiếng Việt sẽ bị bể hết đọc không được.</a:t>
            </a:r>
            <a:endParaRPr lang="en-US" kern="0" dirty="0">
              <a:solidFill>
                <a:srgbClr val="002060"/>
              </a:solidFill>
              <a:latin typeface="Cambria" panose="02040503050406030204" pitchFamily="18" charset="0"/>
            </a:endParaRPr>
          </a:p>
        </p:txBody>
      </p:sp>
      <p:pic>
        <p:nvPicPr>
          <p:cNvPr id="11" name="Picture 10"/>
          <p:cNvPicPr>
            <a:picLocks noChangeAspect="1"/>
          </p:cNvPicPr>
          <p:nvPr/>
        </p:nvPicPr>
        <p:blipFill>
          <a:blip r:embed="rId2"/>
          <a:stretch>
            <a:fillRect/>
          </a:stretch>
        </p:blipFill>
        <p:spPr>
          <a:xfrm>
            <a:off x="2590800" y="2362200"/>
            <a:ext cx="6915150" cy="1847850"/>
          </a:xfrm>
          <a:prstGeom prst="rect">
            <a:avLst/>
          </a:prstGeom>
        </p:spPr>
      </p:pic>
      <p:sp>
        <p:nvSpPr>
          <p:cNvPr id="9" name="Slide Number Placeholder 8">
            <a:extLst>
              <a:ext uri="{FF2B5EF4-FFF2-40B4-BE49-F238E27FC236}">
                <a16:creationId xmlns:a16="http://schemas.microsoft.com/office/drawing/2014/main" id="{FD0766C2-EEDB-3E0F-D8B2-B05B648E67FB}"/>
              </a:ext>
            </a:extLst>
          </p:cNvPr>
          <p:cNvSpPr>
            <a:spLocks noGrp="1"/>
          </p:cNvSpPr>
          <p:nvPr>
            <p:ph type="sldNum" sz="quarter" idx="12"/>
          </p:nvPr>
        </p:nvSpPr>
        <p:spPr/>
        <p:txBody>
          <a:bodyPr/>
          <a:lstStyle/>
          <a:p>
            <a:fld id="{78EE6887-2290-4B81-8A6D-75BA854EF4EB}" type="slidenum">
              <a:rPr lang="en-US" smtClean="0"/>
              <a:pPr/>
              <a:t>68</a:t>
            </a:fld>
            <a:endParaRPr lang="en-US"/>
          </a:p>
        </p:txBody>
      </p:sp>
    </p:spTree>
    <p:extLst>
      <p:ext uri="{BB962C8B-B14F-4D97-AF65-F5344CB8AC3E}">
        <p14:creationId xmlns:p14="http://schemas.microsoft.com/office/powerpoint/2010/main" val="13428482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7239000" cy="508000"/>
            <a:chOff x="789624" y="1191463"/>
            <a:chExt cx="7239000" cy="508000"/>
          </a:xfrm>
        </p:grpSpPr>
        <p:sp>
          <p:nvSpPr>
            <p:cNvPr id="3" name="AutoShape 52"/>
            <p:cNvSpPr>
              <a:spLocks noChangeArrowheads="1"/>
            </p:cNvSpPr>
            <p:nvPr/>
          </p:nvSpPr>
          <p:spPr bwMode="gray">
            <a:xfrm>
              <a:off x="990600" y="1191463"/>
              <a:ext cx="7038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Cấu hình lưu dấu Tiếng Việt trong Eclipse</a:t>
              </a:r>
              <a:endParaRPr lang="en-US" sz="24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Vào Project/ chọn Properties:</a:t>
            </a:r>
            <a:endParaRPr lang="en-US" kern="0" dirty="0">
              <a:solidFill>
                <a:srgbClr val="002060"/>
              </a:solidFill>
              <a:latin typeface="Cambria" panose="02040503050406030204" pitchFamily="18" charset="0"/>
            </a:endParaRPr>
          </a:p>
        </p:txBody>
      </p:sp>
      <p:pic>
        <p:nvPicPr>
          <p:cNvPr id="9" name="Picture 8"/>
          <p:cNvPicPr>
            <a:picLocks noChangeAspect="1"/>
          </p:cNvPicPr>
          <p:nvPr/>
        </p:nvPicPr>
        <p:blipFill>
          <a:blip r:embed="rId2"/>
          <a:stretch>
            <a:fillRect/>
          </a:stretch>
        </p:blipFill>
        <p:spPr>
          <a:xfrm>
            <a:off x="1935743" y="2102926"/>
            <a:ext cx="1771650" cy="1943100"/>
          </a:xfrm>
          <a:prstGeom prst="rect">
            <a:avLst/>
          </a:prstGeom>
        </p:spPr>
      </p:pic>
      <p:pic>
        <p:nvPicPr>
          <p:cNvPr id="10" name="Picture 9"/>
          <p:cNvPicPr>
            <a:picLocks noChangeAspect="1"/>
          </p:cNvPicPr>
          <p:nvPr/>
        </p:nvPicPr>
        <p:blipFill>
          <a:blip r:embed="rId3"/>
          <a:stretch>
            <a:fillRect/>
          </a:stretch>
        </p:blipFill>
        <p:spPr>
          <a:xfrm>
            <a:off x="4456343" y="2209800"/>
            <a:ext cx="6115729" cy="3837932"/>
          </a:xfrm>
          <a:prstGeom prst="rect">
            <a:avLst/>
          </a:prstGeom>
        </p:spPr>
      </p:pic>
      <p:cxnSp>
        <p:nvCxnSpPr>
          <p:cNvPr id="14" name="Straight Arrow Connector 13"/>
          <p:cNvCxnSpPr/>
          <p:nvPr/>
        </p:nvCxnSpPr>
        <p:spPr>
          <a:xfrm flipV="1">
            <a:off x="2971800" y="3810000"/>
            <a:ext cx="2971800" cy="76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Slide Number Placeholder 10">
            <a:extLst>
              <a:ext uri="{FF2B5EF4-FFF2-40B4-BE49-F238E27FC236}">
                <a16:creationId xmlns:a16="http://schemas.microsoft.com/office/drawing/2014/main" id="{636E751D-6573-A3A5-B32C-884CB310DAF6}"/>
              </a:ext>
            </a:extLst>
          </p:cNvPr>
          <p:cNvSpPr>
            <a:spLocks noGrp="1"/>
          </p:cNvSpPr>
          <p:nvPr>
            <p:ph type="sldNum" sz="quarter" idx="12"/>
          </p:nvPr>
        </p:nvSpPr>
        <p:spPr/>
        <p:txBody>
          <a:bodyPr/>
          <a:lstStyle/>
          <a:p>
            <a:fld id="{78EE6887-2290-4B81-8A6D-75BA854EF4EB}" type="slidenum">
              <a:rPr lang="en-US" smtClean="0"/>
              <a:pPr/>
              <a:t>69</a:t>
            </a:fld>
            <a:endParaRPr lang="en-US"/>
          </a:p>
        </p:txBody>
      </p:sp>
    </p:spTree>
    <p:extLst>
      <p:ext uri="{BB962C8B-B14F-4D97-AF65-F5344CB8AC3E}">
        <p14:creationId xmlns:p14="http://schemas.microsoft.com/office/powerpoint/2010/main" val="11680920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Cách xuất dữ liệu ra </a:t>
            </a:r>
            <a:endParaRPr lang="en-US" kern="0">
              <a:solidFill>
                <a:srgbClr val="002060"/>
              </a:solidFill>
              <a:latin typeface="Cambria" panose="02040503050406030204" pitchFamily="18" charset="0"/>
            </a:endParaRPr>
          </a:p>
          <a:p>
            <a:pPr lvl="0">
              <a:defRPr/>
            </a:pPr>
            <a:r>
              <a:rPr lang="vi-VN" kern="0">
                <a:solidFill>
                  <a:srgbClr val="002060"/>
                </a:solidFill>
                <a:latin typeface="Cambria" panose="02040503050406030204" pitchFamily="18" charset="0"/>
              </a:rPr>
              <a:t>màn hình</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E04DA6B8-0DF9-46C0-F112-A61642C6A1D1}"/>
              </a:ext>
            </a:extLst>
          </p:cNvPr>
          <p:cNvSpPr>
            <a:spLocks noGrp="1"/>
          </p:cNvSpPr>
          <p:nvPr>
            <p:ph type="sldNum" sz="quarter" idx="12"/>
          </p:nvPr>
        </p:nvSpPr>
        <p:spPr/>
        <p:txBody>
          <a:bodyPr/>
          <a:lstStyle/>
          <a:p>
            <a:fld id="{78EE6887-2290-4B81-8A6D-75BA854EF4EB}" type="slidenum">
              <a:rPr lang="en-US" smtClean="0"/>
              <a:pPr/>
              <a:t>70</a:t>
            </a:fld>
            <a:endParaRPr lang="en-US"/>
          </a:p>
        </p:txBody>
      </p:sp>
    </p:spTree>
    <p:extLst>
      <p:ext uri="{BB962C8B-B14F-4D97-AF65-F5344CB8AC3E}">
        <p14:creationId xmlns:p14="http://schemas.microsoft.com/office/powerpoint/2010/main" val="30694499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Thư viện xuất </a:t>
            </a:r>
            <a:r>
              <a:rPr lang="en-US" kern="0">
                <a:solidFill>
                  <a:srgbClr val="002060"/>
                </a:solidFill>
                <a:latin typeface="Cambria" panose="02040503050406030204" pitchFamily="18" charset="0"/>
              </a:rPr>
              <a:t>dữ liệu </a:t>
            </a:r>
            <a:r>
              <a:rPr lang="vi-VN" kern="0">
                <a:solidFill>
                  <a:srgbClr val="002060"/>
                </a:solidFill>
                <a:latin typeface="Cambria" panose="02040503050406030204" pitchFamily="18" charset="0"/>
              </a:rPr>
              <a:t>trong Java</a:t>
            </a:r>
          </a:p>
          <a:p>
            <a:pPr lvl="0" algn="just">
              <a:buClr>
                <a:srgbClr val="3DC5C5"/>
              </a:buClr>
              <a:defRPr/>
            </a:pPr>
            <a:r>
              <a:rPr lang="vi-VN" kern="0">
                <a:solidFill>
                  <a:srgbClr val="002060"/>
                </a:solidFill>
                <a:latin typeface="Cambria" panose="02040503050406030204" pitchFamily="18" charset="0"/>
              </a:rPr>
              <a:t>Xuất dữ liệu trên các dòng khác nhau</a:t>
            </a:r>
          </a:p>
          <a:p>
            <a:pPr lvl="0" algn="just">
              <a:buClr>
                <a:srgbClr val="3DC5C5"/>
              </a:buClr>
              <a:defRPr/>
            </a:pPr>
            <a:r>
              <a:rPr lang="vi-VN" kern="0">
                <a:solidFill>
                  <a:srgbClr val="002060"/>
                </a:solidFill>
                <a:latin typeface="Cambria" panose="02040503050406030204" pitchFamily="18" charset="0"/>
              </a:rPr>
              <a:t>Xuất dữ liệu trên cùng một dòng</a:t>
            </a:r>
            <a:endParaRPr lang="en-US" kern="0">
              <a:solidFill>
                <a:srgbClr val="002060"/>
              </a:solidFill>
              <a:latin typeface="Cambria" panose="02040503050406030204" pitchFamily="18" charset="0"/>
            </a:endParaRPr>
          </a:p>
          <a:p>
            <a:pPr lvl="0" algn="just">
              <a:buClr>
                <a:srgbClr val="3DC5C5"/>
              </a:buClr>
              <a:defRPr/>
            </a:pPr>
            <a:r>
              <a:rPr lang="en-US" kern="0">
                <a:solidFill>
                  <a:srgbClr val="002060"/>
                </a:solidFill>
                <a:latin typeface="Cambria" panose="02040503050406030204" pitchFamily="18" charset="0"/>
              </a:rPr>
              <a:t>Các ký tự đặc biệt</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86665A0F-62E3-6040-9101-91BB0024CBDA}"/>
              </a:ext>
            </a:extLst>
          </p:cNvPr>
          <p:cNvSpPr>
            <a:spLocks noGrp="1"/>
          </p:cNvSpPr>
          <p:nvPr>
            <p:ph type="sldNum" sz="quarter" idx="12"/>
          </p:nvPr>
        </p:nvSpPr>
        <p:spPr/>
        <p:txBody>
          <a:bodyPr/>
          <a:lstStyle/>
          <a:p>
            <a:fld id="{78EE6887-2290-4B81-8A6D-75BA854EF4EB}" type="slidenum">
              <a:rPr lang="en-US" smtClean="0"/>
              <a:pPr/>
              <a:t>71</a:t>
            </a:fld>
            <a:endParaRPr lang="en-US"/>
          </a:p>
        </p:txBody>
      </p:sp>
    </p:spTree>
    <p:extLst>
      <p:ext uri="{BB962C8B-B14F-4D97-AF65-F5344CB8AC3E}">
        <p14:creationId xmlns:p14="http://schemas.microsoft.com/office/powerpoint/2010/main" val="37095565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257800" cy="508000"/>
            <a:chOff x="789624" y="1191463"/>
            <a:chExt cx="5257800" cy="508000"/>
          </a:xfrm>
        </p:grpSpPr>
        <p:sp>
          <p:nvSpPr>
            <p:cNvPr id="3" name="AutoShape 52"/>
            <p:cNvSpPr>
              <a:spLocks noChangeArrowheads="1"/>
            </p:cNvSpPr>
            <p:nvPr/>
          </p:nvSpPr>
          <p:spPr bwMode="gray">
            <a:xfrm>
              <a:off x="990600" y="1191463"/>
              <a:ext cx="5056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Thư viện xuất </a:t>
              </a:r>
              <a:r>
                <a:rPr lang="en-US" sz="2400" b="1" kern="0">
                  <a:solidFill>
                    <a:srgbClr val="002060"/>
                  </a:solidFill>
                  <a:latin typeface="Cambria" panose="02040503050406030204" pitchFamily="18" charset="0"/>
                </a:rPr>
                <a:t>dữ liệu </a:t>
              </a:r>
              <a:r>
                <a:rPr lang="vi-VN" sz="2400" b="1" kern="0">
                  <a:solidFill>
                    <a:srgbClr val="002060"/>
                  </a:solidFill>
                  <a:latin typeface="Cambria" panose="02040503050406030204" pitchFamily="18" charset="0"/>
                </a:rPr>
                <a:t>trong Java</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vi-VN" kern="0">
                <a:solidFill>
                  <a:srgbClr val="002060"/>
                </a:solidFill>
                <a:latin typeface="Cambria" panose="02040503050406030204" pitchFamily="18" charset="0"/>
              </a:rPr>
              <a:t>Thư viện xuất </a:t>
            </a:r>
            <a:r>
              <a:rPr lang="en-US" kern="0">
                <a:solidFill>
                  <a:srgbClr val="002060"/>
                </a:solidFill>
                <a:latin typeface="Cambria" panose="02040503050406030204" pitchFamily="18" charset="0"/>
              </a:rPr>
              <a:t>dữ liệu </a:t>
            </a:r>
            <a:r>
              <a:rPr lang="vi-VN" kern="0">
                <a:solidFill>
                  <a:srgbClr val="002060"/>
                </a:solidFill>
                <a:latin typeface="Cambria" panose="02040503050406030204" pitchFamily="18" charset="0"/>
              </a:rPr>
              <a:t>trong Java</a:t>
            </a:r>
            <a:r>
              <a:rPr lang="en-US" kern="0">
                <a:solidFill>
                  <a:srgbClr val="002060"/>
                </a:solidFill>
                <a:latin typeface="Cambria" panose="02040503050406030204" pitchFamily="18" charset="0"/>
              </a:rPr>
              <a:t> là:</a:t>
            </a:r>
          </a:p>
          <a:p>
            <a:pPr marL="0" indent="0" algn="just">
              <a:buClr>
                <a:srgbClr val="3DC5C5"/>
              </a:buClr>
              <a:buNone/>
              <a:defRPr/>
            </a:pPr>
            <a:r>
              <a:rPr lang="en-US" kern="0">
                <a:solidFill>
                  <a:srgbClr val="002060"/>
                </a:solidFill>
                <a:latin typeface="Cambria" panose="02040503050406030204" pitchFamily="18" charset="0"/>
              </a:rPr>
              <a:t>	</a:t>
            </a:r>
            <a:r>
              <a:rPr lang="en-US" kern="0">
                <a:solidFill>
                  <a:srgbClr val="FF0000"/>
                </a:solidFill>
                <a:latin typeface="Cambria" panose="02040503050406030204" pitchFamily="18" charset="0"/>
              </a:rPr>
              <a:t>java.lang</a:t>
            </a:r>
          </a:p>
          <a:p>
            <a:pPr marL="0" indent="0" algn="just">
              <a:buClr>
                <a:srgbClr val="3DC5C5"/>
              </a:buClr>
              <a:buNone/>
              <a:defRPr/>
            </a:pPr>
            <a:r>
              <a:rPr lang="en-US" kern="0">
                <a:solidFill>
                  <a:srgbClr val="002060"/>
                </a:solidFill>
                <a:latin typeface="Cambria" panose="02040503050406030204" pitchFamily="18" charset="0"/>
              </a:rPr>
              <a:t>Vì nó mặc định nên không thấy đưa vào ứng dụng.</a:t>
            </a:r>
            <a:endParaRPr lang="vi-VN" kern="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A658249E-34D0-5442-2ACF-6DFD1F166176}"/>
              </a:ext>
            </a:extLst>
          </p:cNvPr>
          <p:cNvSpPr>
            <a:spLocks noGrp="1"/>
          </p:cNvSpPr>
          <p:nvPr>
            <p:ph type="sldNum" sz="quarter" idx="12"/>
          </p:nvPr>
        </p:nvSpPr>
        <p:spPr/>
        <p:txBody>
          <a:bodyPr/>
          <a:lstStyle/>
          <a:p>
            <a:fld id="{78EE6887-2290-4B81-8A6D-75BA854EF4EB}" type="slidenum">
              <a:rPr lang="en-US" smtClean="0"/>
              <a:pPr/>
              <a:t>72</a:t>
            </a:fld>
            <a:endParaRPr lang="en-US"/>
          </a:p>
        </p:txBody>
      </p:sp>
    </p:spTree>
    <p:extLst>
      <p:ext uri="{BB962C8B-B14F-4D97-AF65-F5344CB8AC3E}">
        <p14:creationId xmlns:p14="http://schemas.microsoft.com/office/powerpoint/2010/main" val="6916861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867400" cy="508000"/>
            <a:chOff x="789624" y="1191463"/>
            <a:chExt cx="5867400" cy="508000"/>
          </a:xfrm>
        </p:grpSpPr>
        <p:sp>
          <p:nvSpPr>
            <p:cNvPr id="3" name="AutoShape 52"/>
            <p:cNvSpPr>
              <a:spLocks noChangeArrowheads="1"/>
            </p:cNvSpPr>
            <p:nvPr/>
          </p:nvSpPr>
          <p:spPr bwMode="gray">
            <a:xfrm>
              <a:off x="990600" y="1191463"/>
              <a:ext cx="566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Xuất dữ liệu trên các dòng khác nhau</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Rectangle 8"/>
          <p:cNvSpPr/>
          <p:nvPr/>
        </p:nvSpPr>
        <p:spPr>
          <a:xfrm>
            <a:off x="2157310" y="1053580"/>
            <a:ext cx="7748690" cy="1384995"/>
          </a:xfrm>
          <a:prstGeom prst="rect">
            <a:avLst/>
          </a:prstGeom>
        </p:spPr>
        <p:txBody>
          <a:bodyPr wrap="square">
            <a:spAutoFit/>
          </a:bodyPr>
          <a:lstStyle/>
          <a:p>
            <a:r>
              <a:rPr lang="en-US" sz="2800">
                <a:solidFill>
                  <a:srgbClr val="000000"/>
                </a:solidFill>
                <a:latin typeface="Courier New" panose="02070309020205020404" pitchFamily="49" charset="0"/>
              </a:rPr>
              <a:t>System.</a:t>
            </a:r>
            <a:r>
              <a:rPr lang="en-US" sz="2800" i="1">
                <a:solidFill>
                  <a:srgbClr val="0000C0"/>
                </a:solidFill>
                <a:latin typeface="Courier New" panose="02070309020205020404" pitchFamily="49" charset="0"/>
              </a:rPr>
              <a:t>out</a:t>
            </a:r>
            <a:r>
              <a:rPr lang="en-US" sz="2800" i="1">
                <a:solidFill>
                  <a:srgbClr val="000000"/>
                </a:solidFill>
                <a:latin typeface="Courier New" panose="02070309020205020404" pitchFamily="49" charset="0"/>
              </a:rPr>
              <a:t>.println(</a:t>
            </a:r>
            <a:r>
              <a:rPr lang="en-US" sz="2800" i="1">
                <a:solidFill>
                  <a:srgbClr val="2A00FF"/>
                </a:solidFill>
                <a:latin typeface="Courier New" panose="02070309020205020404" pitchFamily="49" charset="0"/>
              </a:rPr>
              <a:t>"Obama"</a:t>
            </a:r>
            <a:r>
              <a:rPr lang="en-US" sz="2800" i="1">
                <a:solidFill>
                  <a:srgbClr val="000000"/>
                </a:solidFill>
                <a:latin typeface="Courier New" panose="02070309020205020404" pitchFamily="49" charset="0"/>
              </a:rPr>
              <a:t>);</a:t>
            </a:r>
          </a:p>
          <a:p>
            <a:r>
              <a:rPr lang="en-US" sz="2800">
                <a:solidFill>
                  <a:srgbClr val="000000"/>
                </a:solidFill>
                <a:latin typeface="Courier New" panose="02070309020205020404" pitchFamily="49" charset="0"/>
              </a:rPr>
              <a:t>System.</a:t>
            </a:r>
            <a:r>
              <a:rPr lang="en-US" sz="2800" i="1">
                <a:solidFill>
                  <a:srgbClr val="0000C0"/>
                </a:solidFill>
                <a:latin typeface="Courier New" panose="02070309020205020404" pitchFamily="49" charset="0"/>
              </a:rPr>
              <a:t>out</a:t>
            </a:r>
            <a:r>
              <a:rPr lang="en-US" sz="2800" i="1">
                <a:solidFill>
                  <a:srgbClr val="000000"/>
                </a:solidFill>
                <a:latin typeface="Courier New" panose="02070309020205020404" pitchFamily="49" charset="0"/>
              </a:rPr>
              <a:t>.println(</a:t>
            </a:r>
            <a:r>
              <a:rPr lang="en-US" sz="2800" i="1">
                <a:solidFill>
                  <a:srgbClr val="2A00FF"/>
                </a:solidFill>
                <a:latin typeface="Courier New" panose="02070309020205020404" pitchFamily="49" charset="0"/>
              </a:rPr>
              <a:t>"Putin"</a:t>
            </a:r>
            <a:r>
              <a:rPr lang="en-US" sz="2800" i="1">
                <a:solidFill>
                  <a:srgbClr val="000000"/>
                </a:solidFill>
                <a:latin typeface="Courier New" panose="02070309020205020404" pitchFamily="49" charset="0"/>
              </a:rPr>
              <a:t>);</a:t>
            </a:r>
          </a:p>
          <a:p>
            <a:r>
              <a:rPr lang="en-US" sz="2800">
                <a:solidFill>
                  <a:srgbClr val="000000"/>
                </a:solidFill>
                <a:latin typeface="Courier New" panose="02070309020205020404" pitchFamily="49" charset="0"/>
              </a:rPr>
              <a:t>System.</a:t>
            </a:r>
            <a:r>
              <a:rPr lang="en-US" sz="2800" i="1">
                <a:solidFill>
                  <a:srgbClr val="0000C0"/>
                </a:solidFill>
                <a:latin typeface="Courier New" panose="02070309020205020404" pitchFamily="49" charset="0"/>
              </a:rPr>
              <a:t>out</a:t>
            </a:r>
            <a:r>
              <a:rPr lang="en-US" sz="2800" i="1">
                <a:solidFill>
                  <a:srgbClr val="000000"/>
                </a:solidFill>
                <a:latin typeface="Courier New" panose="02070309020205020404" pitchFamily="49" charset="0"/>
              </a:rPr>
              <a:t>.println(</a:t>
            </a:r>
            <a:r>
              <a:rPr lang="en-US" sz="2800" i="1">
                <a:solidFill>
                  <a:srgbClr val="2A00FF"/>
                </a:solidFill>
                <a:latin typeface="Courier New" panose="02070309020205020404" pitchFamily="49" charset="0"/>
              </a:rPr>
              <a:t>"Kim Jong Un"</a:t>
            </a:r>
            <a:r>
              <a:rPr lang="en-US" sz="2800" i="1">
                <a:solidFill>
                  <a:srgbClr val="000000"/>
                </a:solidFill>
                <a:latin typeface="Courier New" panose="02070309020205020404" pitchFamily="49" charset="0"/>
              </a:rPr>
              <a:t>);</a:t>
            </a:r>
            <a:endParaRPr lang="en-US" sz="2800"/>
          </a:p>
        </p:txBody>
      </p:sp>
      <p:sp>
        <p:nvSpPr>
          <p:cNvPr id="10" name="Rectangle 9"/>
          <p:cNvSpPr/>
          <p:nvPr/>
        </p:nvSpPr>
        <p:spPr>
          <a:xfrm>
            <a:off x="2029776" y="4953001"/>
            <a:ext cx="8183990" cy="830997"/>
          </a:xfrm>
          <a:prstGeom prst="rect">
            <a:avLst/>
          </a:prstGeom>
        </p:spPr>
        <p:txBody>
          <a:bodyPr wrap="square">
            <a:spAutoFit/>
          </a:bodyPr>
          <a:lstStyle/>
          <a:p>
            <a:pPr algn="just"/>
            <a:r>
              <a:rPr lang="en-US" sz="2400" kern="0">
                <a:solidFill>
                  <a:srgbClr val="002060"/>
                </a:solidFill>
                <a:latin typeface="Cambria" panose="02040503050406030204" pitchFamily="18" charset="0"/>
              </a:rPr>
              <a:t>Có thể viết tắt: </a:t>
            </a:r>
            <a:r>
              <a:rPr lang="en-US" sz="2400" kern="0">
                <a:solidFill>
                  <a:srgbClr val="FF0000"/>
                </a:solidFill>
                <a:latin typeface="Cambria" panose="02040503050406030204" pitchFamily="18" charset="0"/>
              </a:rPr>
              <a:t>sysout</a:t>
            </a:r>
            <a:r>
              <a:rPr lang="en-US" sz="2400" kern="0">
                <a:solidFill>
                  <a:srgbClr val="002060"/>
                </a:solidFill>
                <a:latin typeface="Cambria" panose="02040503050406030204" pitchFamily="18" charset="0"/>
              </a:rPr>
              <a:t> rồi gõ tổ hợp phím </a:t>
            </a:r>
            <a:r>
              <a:rPr lang="en-US" sz="2400" kern="0">
                <a:solidFill>
                  <a:srgbClr val="FF0000"/>
                </a:solidFill>
                <a:latin typeface="Cambria" panose="02040503050406030204" pitchFamily="18" charset="0"/>
              </a:rPr>
              <a:t>ctrl+space</a:t>
            </a:r>
            <a:r>
              <a:rPr lang="en-US" sz="2400" kern="0">
                <a:solidFill>
                  <a:srgbClr val="002060"/>
                </a:solidFill>
                <a:latin typeface="Cambria" panose="02040503050406030204" pitchFamily="18" charset="0"/>
              </a:rPr>
              <a:t> để nó tự động xuất hiện</a:t>
            </a:r>
            <a:endParaRPr lang="en-US" sz="2400"/>
          </a:p>
        </p:txBody>
      </p:sp>
      <p:pic>
        <p:nvPicPr>
          <p:cNvPr id="11" name="Picture 10"/>
          <p:cNvPicPr>
            <a:picLocks noChangeAspect="1"/>
          </p:cNvPicPr>
          <p:nvPr/>
        </p:nvPicPr>
        <p:blipFill>
          <a:blip r:embed="rId2"/>
          <a:stretch>
            <a:fillRect/>
          </a:stretch>
        </p:blipFill>
        <p:spPr>
          <a:xfrm>
            <a:off x="4495801" y="2501554"/>
            <a:ext cx="3400425" cy="2181225"/>
          </a:xfrm>
          <a:prstGeom prst="rect">
            <a:avLst/>
          </a:prstGeom>
        </p:spPr>
      </p:pic>
      <p:sp>
        <p:nvSpPr>
          <p:cNvPr id="8" name="Slide Number Placeholder 7">
            <a:extLst>
              <a:ext uri="{FF2B5EF4-FFF2-40B4-BE49-F238E27FC236}">
                <a16:creationId xmlns:a16="http://schemas.microsoft.com/office/drawing/2014/main" id="{D2070C02-F29C-03BA-742F-37B75CD8DCB4}"/>
              </a:ext>
            </a:extLst>
          </p:cNvPr>
          <p:cNvSpPr>
            <a:spLocks noGrp="1"/>
          </p:cNvSpPr>
          <p:nvPr>
            <p:ph type="sldNum" sz="quarter" idx="12"/>
          </p:nvPr>
        </p:nvSpPr>
        <p:spPr/>
        <p:txBody>
          <a:bodyPr/>
          <a:lstStyle/>
          <a:p>
            <a:fld id="{78EE6887-2290-4B81-8A6D-75BA854EF4EB}" type="slidenum">
              <a:rPr lang="en-US" smtClean="0"/>
              <a:pPr/>
              <a:t>73</a:t>
            </a:fld>
            <a:endParaRPr lang="en-US"/>
          </a:p>
        </p:txBody>
      </p:sp>
    </p:spTree>
    <p:extLst>
      <p:ext uri="{BB962C8B-B14F-4D97-AF65-F5344CB8AC3E}">
        <p14:creationId xmlns:p14="http://schemas.microsoft.com/office/powerpoint/2010/main" val="28224110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181600" cy="508000"/>
            <a:chOff x="789624" y="1191463"/>
            <a:chExt cx="5181600" cy="508000"/>
          </a:xfrm>
        </p:grpSpPr>
        <p:sp>
          <p:nvSpPr>
            <p:cNvPr id="3" name="AutoShape 52"/>
            <p:cNvSpPr>
              <a:spLocks noChangeArrowheads="1"/>
            </p:cNvSpPr>
            <p:nvPr/>
          </p:nvSpPr>
          <p:spPr bwMode="gray">
            <a:xfrm>
              <a:off x="990600" y="1191463"/>
              <a:ext cx="4980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Xuất dữ liệu trên cùng một dòng</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Rectangle 8"/>
          <p:cNvSpPr/>
          <p:nvPr/>
        </p:nvSpPr>
        <p:spPr>
          <a:xfrm>
            <a:off x="2034028" y="1105911"/>
            <a:ext cx="8100572" cy="1200329"/>
          </a:xfrm>
          <a:prstGeom prst="rect">
            <a:avLst/>
          </a:prstGeom>
        </p:spPr>
        <p:txBody>
          <a:bodyPr wrap="square">
            <a:spAutoFit/>
          </a:bodyPr>
          <a:lstStyle/>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a:t>
            </a:r>
            <a:r>
              <a:rPr lang="en-US" sz="2400" i="1">
                <a:solidFill>
                  <a:srgbClr val="2A00FF"/>
                </a:solidFill>
                <a:latin typeface="Courier New" panose="02070309020205020404" pitchFamily="49" charset="0"/>
              </a:rPr>
              <a:t>"Obama"</a:t>
            </a:r>
            <a:r>
              <a:rPr lang="en-US" sz="2400" i="1">
                <a:solidFill>
                  <a:srgbClr val="000000"/>
                </a:solidFill>
                <a:latin typeface="Courier New" panose="02070309020205020404" pitchFamily="49" charset="0"/>
              </a:rPr>
              <a:t>);</a:t>
            </a:r>
          </a:p>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a:t>
            </a:r>
            <a:r>
              <a:rPr lang="en-US" sz="2400" i="1">
                <a:solidFill>
                  <a:srgbClr val="2A00FF"/>
                </a:solidFill>
                <a:latin typeface="Courier New" panose="02070309020205020404" pitchFamily="49" charset="0"/>
              </a:rPr>
              <a:t>"Putin"</a:t>
            </a:r>
            <a:r>
              <a:rPr lang="en-US" sz="2400" i="1">
                <a:solidFill>
                  <a:srgbClr val="000000"/>
                </a:solidFill>
                <a:latin typeface="Courier New" panose="02070309020205020404" pitchFamily="49" charset="0"/>
              </a:rPr>
              <a:t>);</a:t>
            </a:r>
          </a:p>
          <a:p>
            <a:r>
              <a:rPr lang="en-US" sz="2400">
                <a:solidFill>
                  <a:srgbClr val="000000"/>
                </a:solidFill>
                <a:latin typeface="Courier New" panose="02070309020205020404" pitchFamily="49" charset="0"/>
              </a:rPr>
              <a:t>System.</a:t>
            </a:r>
            <a:r>
              <a:rPr lang="en-US" sz="2400" i="1">
                <a:solidFill>
                  <a:srgbClr val="0000C0"/>
                </a:solidFill>
                <a:latin typeface="Courier New" panose="02070309020205020404" pitchFamily="49" charset="0"/>
              </a:rPr>
              <a:t>out</a:t>
            </a:r>
            <a:r>
              <a:rPr lang="en-US" sz="2400" i="1">
                <a:solidFill>
                  <a:srgbClr val="000000"/>
                </a:solidFill>
                <a:latin typeface="Courier New" panose="02070309020205020404" pitchFamily="49" charset="0"/>
              </a:rPr>
              <a:t>.print(</a:t>
            </a:r>
            <a:r>
              <a:rPr lang="en-US" sz="2400" i="1">
                <a:solidFill>
                  <a:srgbClr val="2A00FF"/>
                </a:solidFill>
                <a:latin typeface="Courier New" panose="02070309020205020404" pitchFamily="49" charset="0"/>
              </a:rPr>
              <a:t>"Kim Jong Un"</a:t>
            </a:r>
            <a:r>
              <a:rPr lang="en-US" sz="2400" i="1">
                <a:solidFill>
                  <a:srgbClr val="000000"/>
                </a:solidFill>
                <a:latin typeface="Courier New" panose="02070309020205020404" pitchFamily="49" charset="0"/>
              </a:rPr>
              <a:t>);</a:t>
            </a:r>
            <a:endParaRPr lang="en-US" sz="2400"/>
          </a:p>
        </p:txBody>
      </p:sp>
      <p:pic>
        <p:nvPicPr>
          <p:cNvPr id="10" name="Picture 9"/>
          <p:cNvPicPr>
            <a:picLocks noChangeAspect="1"/>
          </p:cNvPicPr>
          <p:nvPr/>
        </p:nvPicPr>
        <p:blipFill>
          <a:blip r:embed="rId2"/>
          <a:stretch>
            <a:fillRect/>
          </a:stretch>
        </p:blipFill>
        <p:spPr>
          <a:xfrm>
            <a:off x="4191001" y="2667001"/>
            <a:ext cx="3400425" cy="1857375"/>
          </a:xfrm>
          <a:prstGeom prst="rect">
            <a:avLst/>
          </a:prstGeom>
        </p:spPr>
      </p:pic>
      <p:sp>
        <p:nvSpPr>
          <p:cNvPr id="8" name="Slide Number Placeholder 7">
            <a:extLst>
              <a:ext uri="{FF2B5EF4-FFF2-40B4-BE49-F238E27FC236}">
                <a16:creationId xmlns:a16="http://schemas.microsoft.com/office/drawing/2014/main" id="{81D78C94-32B7-E093-7F14-6A9B86A12AC6}"/>
              </a:ext>
            </a:extLst>
          </p:cNvPr>
          <p:cNvSpPr>
            <a:spLocks noGrp="1"/>
          </p:cNvSpPr>
          <p:nvPr>
            <p:ph type="sldNum" sz="quarter" idx="12"/>
          </p:nvPr>
        </p:nvSpPr>
        <p:spPr/>
        <p:txBody>
          <a:bodyPr/>
          <a:lstStyle/>
          <a:p>
            <a:fld id="{78EE6887-2290-4B81-8A6D-75BA854EF4EB}" type="slidenum">
              <a:rPr lang="en-US" smtClean="0"/>
              <a:pPr/>
              <a:t>74</a:t>
            </a:fld>
            <a:endParaRPr lang="en-US"/>
          </a:p>
        </p:txBody>
      </p:sp>
    </p:spTree>
    <p:extLst>
      <p:ext uri="{BB962C8B-B14F-4D97-AF65-F5344CB8AC3E}">
        <p14:creationId xmlns:p14="http://schemas.microsoft.com/office/powerpoint/2010/main" val="40853198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181600" cy="508000"/>
            <a:chOff x="789624" y="1191463"/>
            <a:chExt cx="5181600" cy="508000"/>
          </a:xfrm>
        </p:grpSpPr>
        <p:sp>
          <p:nvSpPr>
            <p:cNvPr id="3" name="AutoShape 52"/>
            <p:cNvSpPr>
              <a:spLocks noChangeArrowheads="1"/>
            </p:cNvSpPr>
            <p:nvPr/>
          </p:nvSpPr>
          <p:spPr bwMode="gray">
            <a:xfrm>
              <a:off x="990600" y="1191463"/>
              <a:ext cx="4980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 ký tự đặc biệt</a:t>
              </a:r>
              <a:endParaRPr lang="en-US" sz="24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\n </a:t>
            </a:r>
            <a:r>
              <a:rPr lang="en-US" kern="0">
                <a:solidFill>
                  <a:srgbClr val="002060"/>
                </a:solidFill>
                <a:latin typeface="Cambria" panose="02040503050406030204" pitchFamily="18" charset="0"/>
                <a:sym typeface="Wingdings" panose="05000000000000000000" pitchFamily="2" charset="2"/>
              </a:rPr>
              <a:t>Xuống dòng</a:t>
            </a:r>
            <a:endParaRPr lang="en-US" kern="0">
              <a:solidFill>
                <a:srgbClr val="002060"/>
              </a:solidFill>
              <a:latin typeface="Cambria" panose="02040503050406030204" pitchFamily="18" charset="0"/>
            </a:endParaRPr>
          </a:p>
          <a:p>
            <a:pPr lvl="0" algn="just">
              <a:buClr>
                <a:srgbClr val="3DC5C5"/>
              </a:buClr>
              <a:defRPr/>
            </a:pPr>
            <a:r>
              <a:rPr lang="en-US" kern="0">
                <a:solidFill>
                  <a:srgbClr val="002060"/>
                </a:solidFill>
                <a:latin typeface="Cambria" panose="02040503050406030204" pitchFamily="18" charset="0"/>
              </a:rPr>
              <a:t>\t </a:t>
            </a:r>
            <a:r>
              <a:rPr lang="en-US" kern="0">
                <a:solidFill>
                  <a:srgbClr val="002060"/>
                </a:solidFill>
                <a:latin typeface="Cambria" panose="02040503050406030204" pitchFamily="18" charset="0"/>
                <a:sym typeface="Wingdings" panose="05000000000000000000" pitchFamily="2" charset="2"/>
              </a:rPr>
              <a:t>thụt đầu dòng</a:t>
            </a:r>
            <a:endParaRPr lang="en-US" kern="0">
              <a:solidFill>
                <a:srgbClr val="002060"/>
              </a:solidFill>
              <a:latin typeface="Cambria" panose="02040503050406030204" pitchFamily="18" charset="0"/>
            </a:endParaRPr>
          </a:p>
          <a:p>
            <a:pPr lvl="0" algn="just">
              <a:buClr>
                <a:srgbClr val="3DC5C5"/>
              </a:buClr>
              <a:defRPr/>
            </a:pPr>
            <a:r>
              <a:rPr lang="en-US" kern="0">
                <a:solidFill>
                  <a:srgbClr val="002060"/>
                </a:solidFill>
                <a:latin typeface="Cambria" panose="02040503050406030204" pitchFamily="18" charset="0"/>
              </a:rPr>
              <a:t>\” </a:t>
            </a:r>
            <a:r>
              <a:rPr lang="en-US" kern="0">
                <a:solidFill>
                  <a:srgbClr val="002060"/>
                </a:solidFill>
                <a:latin typeface="Cambria" panose="02040503050406030204" pitchFamily="18" charset="0"/>
                <a:sym typeface="Wingdings" panose="05000000000000000000" pitchFamily="2" charset="2"/>
              </a:rPr>
              <a:t>trích dẫn</a:t>
            </a:r>
            <a:endParaRPr lang="vi-VN" kern="0">
              <a:solidFill>
                <a:srgbClr val="002060"/>
              </a:solidFill>
              <a:latin typeface="Cambria" panose="02040503050406030204" pitchFamily="18" charset="0"/>
            </a:endParaRPr>
          </a:p>
        </p:txBody>
      </p:sp>
      <p:sp>
        <p:nvSpPr>
          <p:cNvPr id="8" name="Slide Number Placeholder 7">
            <a:extLst>
              <a:ext uri="{FF2B5EF4-FFF2-40B4-BE49-F238E27FC236}">
                <a16:creationId xmlns:a16="http://schemas.microsoft.com/office/drawing/2014/main" id="{8C2569BD-CDA5-B919-BC5B-925B04E1D773}"/>
              </a:ext>
            </a:extLst>
          </p:cNvPr>
          <p:cNvSpPr>
            <a:spLocks noGrp="1"/>
          </p:cNvSpPr>
          <p:nvPr>
            <p:ph type="sldNum" sz="quarter" idx="12"/>
          </p:nvPr>
        </p:nvSpPr>
        <p:spPr/>
        <p:txBody>
          <a:bodyPr/>
          <a:lstStyle/>
          <a:p>
            <a:fld id="{78EE6887-2290-4B81-8A6D-75BA854EF4EB}" type="slidenum">
              <a:rPr lang="en-US" smtClean="0"/>
              <a:pPr/>
              <a:t>75</a:t>
            </a:fld>
            <a:endParaRPr lang="en-US"/>
          </a:p>
        </p:txBody>
      </p:sp>
    </p:spTree>
    <p:extLst>
      <p:ext uri="{BB962C8B-B14F-4D97-AF65-F5344CB8AC3E}">
        <p14:creationId xmlns:p14="http://schemas.microsoft.com/office/powerpoint/2010/main" val="26458739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5181600" cy="508000"/>
            <a:chOff x="789624" y="1191463"/>
            <a:chExt cx="5181600" cy="508000"/>
          </a:xfrm>
        </p:grpSpPr>
        <p:sp>
          <p:nvSpPr>
            <p:cNvPr id="3" name="AutoShape 52"/>
            <p:cNvSpPr>
              <a:spLocks noChangeArrowheads="1"/>
            </p:cNvSpPr>
            <p:nvPr/>
          </p:nvSpPr>
          <p:spPr bwMode="gray">
            <a:xfrm>
              <a:off x="990600" y="1191463"/>
              <a:ext cx="4980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en-US" sz="2400" b="1" kern="0">
                  <a:solidFill>
                    <a:srgbClr val="002060"/>
                  </a:solidFill>
                  <a:latin typeface="Cambria" panose="02040503050406030204" pitchFamily="18" charset="0"/>
                </a:rPr>
                <a:t>Các ký tự đặc biệt</a:t>
              </a:r>
              <a:endParaRPr lang="en-US" sz="24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p:cNvPicPr>
            <a:picLocks noChangeAspect="1"/>
          </p:cNvPicPr>
          <p:nvPr/>
        </p:nvPicPr>
        <p:blipFill>
          <a:blip r:embed="rId2"/>
          <a:stretch>
            <a:fillRect/>
          </a:stretch>
        </p:blipFill>
        <p:spPr>
          <a:xfrm>
            <a:off x="1676400" y="1094538"/>
            <a:ext cx="8896036" cy="4910975"/>
          </a:xfrm>
          <a:prstGeom prst="rect">
            <a:avLst/>
          </a:prstGeom>
        </p:spPr>
      </p:pic>
      <p:sp>
        <p:nvSpPr>
          <p:cNvPr id="8" name="Slide Number Placeholder 7">
            <a:extLst>
              <a:ext uri="{FF2B5EF4-FFF2-40B4-BE49-F238E27FC236}">
                <a16:creationId xmlns:a16="http://schemas.microsoft.com/office/drawing/2014/main" id="{F003F806-6673-B772-0D70-6DC44863911B}"/>
              </a:ext>
            </a:extLst>
          </p:cNvPr>
          <p:cNvSpPr>
            <a:spLocks noGrp="1"/>
          </p:cNvSpPr>
          <p:nvPr>
            <p:ph type="sldNum" sz="quarter" idx="12"/>
          </p:nvPr>
        </p:nvSpPr>
        <p:spPr/>
        <p:txBody>
          <a:bodyPr/>
          <a:lstStyle/>
          <a:p>
            <a:fld id="{78EE6887-2290-4B81-8A6D-75BA854EF4EB}" type="slidenum">
              <a:rPr lang="en-US" smtClean="0"/>
              <a:pPr/>
              <a:t>76</a:t>
            </a:fld>
            <a:endParaRPr lang="en-US"/>
          </a:p>
        </p:txBody>
      </p:sp>
    </p:spTree>
    <p:extLst>
      <p:ext uri="{BB962C8B-B14F-4D97-AF65-F5344CB8AC3E}">
        <p14:creationId xmlns:p14="http://schemas.microsoft.com/office/powerpoint/2010/main" val="16153189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p:cNvSpPr>
          <p:nvPr/>
        </p:nvSpPr>
        <p:spPr bwMode="auto">
          <a:xfrm>
            <a:off x="1905000" y="2133600"/>
            <a:ext cx="8382000" cy="1905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lvl="0">
              <a:defRPr/>
            </a:pPr>
            <a:r>
              <a:rPr lang="vi-VN" kern="0">
                <a:solidFill>
                  <a:srgbClr val="002060"/>
                </a:solidFill>
                <a:latin typeface="Cambria" panose="02040503050406030204" pitchFamily="18" charset="0"/>
              </a:rPr>
              <a:t>Cách ghi chú lệnh quan trọng trong Java</a:t>
            </a:r>
            <a:endParaRPr lang="en-US" kern="0">
              <a:solidFill>
                <a:srgbClr val="002060"/>
              </a:solidFill>
              <a:latin typeface="Cambria" panose="02040503050406030204" pitchFamily="18" charset="0"/>
            </a:endParaRPr>
          </a:p>
        </p:txBody>
      </p:sp>
      <p:sp>
        <p:nvSpPr>
          <p:cNvPr id="2" name="TextBox 1"/>
          <p:cNvSpPr txBox="1"/>
          <p:nvPr/>
        </p:nvSpPr>
        <p:spPr>
          <a:xfrm>
            <a:off x="5334000" y="1295400"/>
            <a:ext cx="1435008" cy="523220"/>
          </a:xfrm>
          <a:prstGeom prst="rect">
            <a:avLst/>
          </a:prstGeom>
          <a:noFill/>
        </p:spPr>
        <p:txBody>
          <a:bodyPr wrap="none" rtlCol="0">
            <a:spAutoFit/>
          </a:bodyPr>
          <a:lstStyle/>
          <a:p>
            <a:r>
              <a:rPr lang="en-US" sz="2800" b="1">
                <a:latin typeface="Cambria" panose="02040503050406030204" pitchFamily="18" charset="0"/>
              </a:rPr>
              <a:t>Bài Học</a:t>
            </a:r>
          </a:p>
        </p:txBody>
      </p:sp>
      <p:pic>
        <p:nvPicPr>
          <p:cNvPr id="1026" name="Picture 2" descr="Image result for java.png"/>
          <p:cNvPicPr>
            <a:picLocks noChangeAspect="1" noChangeArrowheads="1"/>
          </p:cNvPicPr>
          <p:nvPr/>
        </p:nvPicPr>
        <p:blipFill rotWithShape="1">
          <a:blip r:embed="rId3">
            <a:extLst>
              <a:ext uri="{28A0092B-C50C-407E-A947-70E740481C1C}">
                <a14:useLocalDpi xmlns:a14="http://schemas.microsoft.com/office/drawing/2010/main" val="0"/>
              </a:ext>
            </a:extLst>
          </a:blip>
          <a:srcRect l="19916" r="23834"/>
          <a:stretch/>
        </p:blipFill>
        <p:spPr bwMode="auto">
          <a:xfrm>
            <a:off x="1676400" y="4114800"/>
            <a:ext cx="1371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droid.png"/>
          <p:cNvPicPr>
            <a:picLocks noChangeAspect="1" noChangeArrowheads="1"/>
          </p:cNvPicPr>
          <p:nvPr/>
        </p:nvPicPr>
        <p:blipFill rotWithShape="1">
          <a:blip r:embed="rId4">
            <a:extLst>
              <a:ext uri="{28A0092B-C50C-407E-A947-70E740481C1C}">
                <a14:useLocalDpi xmlns:a14="http://schemas.microsoft.com/office/drawing/2010/main" val="0"/>
              </a:ext>
            </a:extLst>
          </a:blip>
          <a:srcRect l="15584" r="14286" b="4979"/>
          <a:stretch/>
        </p:blipFill>
        <p:spPr bwMode="auto">
          <a:xfrm>
            <a:off x="8534400" y="4310063"/>
            <a:ext cx="2057400" cy="20907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FC5D680-733D-E26C-5BD3-AE28A39BA2B6}"/>
              </a:ext>
            </a:extLst>
          </p:cNvPr>
          <p:cNvSpPr>
            <a:spLocks noGrp="1"/>
          </p:cNvSpPr>
          <p:nvPr>
            <p:ph type="sldNum" sz="quarter" idx="12"/>
          </p:nvPr>
        </p:nvSpPr>
        <p:spPr/>
        <p:txBody>
          <a:bodyPr/>
          <a:lstStyle/>
          <a:p>
            <a:fld id="{78EE6887-2290-4B81-8A6D-75BA854EF4EB}" type="slidenum">
              <a:rPr lang="en-US" smtClean="0"/>
              <a:pPr/>
              <a:t>77</a:t>
            </a:fld>
            <a:endParaRPr lang="en-US"/>
          </a:p>
        </p:txBody>
      </p:sp>
    </p:spTree>
    <p:extLst>
      <p:ext uri="{BB962C8B-B14F-4D97-AF65-F5344CB8AC3E}">
        <p14:creationId xmlns:p14="http://schemas.microsoft.com/office/powerpoint/2010/main" val="23207031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a:latin typeface="Cambria" panose="02040503050406030204" pitchFamily="18" charset="0"/>
                </a:rPr>
                <a:t>Nội dung bài học</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Tại sao nên ghi chú trong quá trình coding?</a:t>
            </a:r>
          </a:p>
          <a:p>
            <a:pPr lvl="0" algn="just">
              <a:buClr>
                <a:srgbClr val="3DC5C5"/>
              </a:buClr>
              <a:defRPr/>
            </a:pPr>
            <a:r>
              <a:rPr lang="vi-VN" kern="0">
                <a:solidFill>
                  <a:srgbClr val="002060"/>
                </a:solidFill>
                <a:latin typeface="Cambria" panose="02040503050406030204" pitchFamily="18" charset="0"/>
              </a:rPr>
              <a:t>Ghi chú 1 dòng</a:t>
            </a:r>
          </a:p>
          <a:p>
            <a:pPr lvl="0" algn="just">
              <a:buClr>
                <a:srgbClr val="3DC5C5"/>
              </a:buClr>
              <a:defRPr/>
            </a:pPr>
            <a:r>
              <a:rPr lang="vi-VN" kern="0">
                <a:solidFill>
                  <a:srgbClr val="002060"/>
                </a:solidFill>
                <a:latin typeface="Cambria" panose="02040503050406030204" pitchFamily="18" charset="0"/>
              </a:rPr>
              <a:t>Ghi chú nhiều dòng</a:t>
            </a:r>
          </a:p>
          <a:p>
            <a:pPr lvl="0" algn="just">
              <a:buClr>
                <a:srgbClr val="3DC5C5"/>
              </a:buClr>
              <a:defRPr/>
            </a:pPr>
            <a:r>
              <a:rPr lang="vi-VN" kern="0">
                <a:solidFill>
                  <a:srgbClr val="002060"/>
                </a:solidFill>
                <a:latin typeface="Cambria" panose="02040503050406030204" pitchFamily="18" charset="0"/>
              </a:rPr>
              <a:t>Ghi chú dạng Javadocs</a:t>
            </a:r>
            <a:endParaRPr lang="en-US" kern="0" dirty="0">
              <a:solidFill>
                <a:srgbClr val="002060"/>
              </a:solidFill>
              <a:latin typeface="Cambria" panose="02040503050406030204" pitchFamily="18" charset="0"/>
            </a:endParaRPr>
          </a:p>
        </p:txBody>
      </p:sp>
      <p:sp>
        <p:nvSpPr>
          <p:cNvPr id="9" name="Slide Number Placeholder 8">
            <a:extLst>
              <a:ext uri="{FF2B5EF4-FFF2-40B4-BE49-F238E27FC236}">
                <a16:creationId xmlns:a16="http://schemas.microsoft.com/office/drawing/2014/main" id="{510D2CE2-7CAE-B626-DE5A-06CD7B6A183E}"/>
              </a:ext>
            </a:extLst>
          </p:cNvPr>
          <p:cNvSpPr>
            <a:spLocks noGrp="1"/>
          </p:cNvSpPr>
          <p:nvPr>
            <p:ph type="sldNum" sz="quarter" idx="12"/>
          </p:nvPr>
        </p:nvSpPr>
        <p:spPr/>
        <p:txBody>
          <a:bodyPr/>
          <a:lstStyle/>
          <a:p>
            <a:fld id="{78EE6887-2290-4B81-8A6D-75BA854EF4EB}" type="slidenum">
              <a:rPr lang="en-US" smtClean="0"/>
              <a:pPr/>
              <a:t>78</a:t>
            </a:fld>
            <a:endParaRPr lang="en-US"/>
          </a:p>
        </p:txBody>
      </p:sp>
    </p:spTree>
    <p:extLst>
      <p:ext uri="{BB962C8B-B14F-4D97-AF65-F5344CB8AC3E}">
        <p14:creationId xmlns:p14="http://schemas.microsoft.com/office/powerpoint/2010/main" val="12535157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6858000" cy="508000"/>
            <a:chOff x="789624" y="1191463"/>
            <a:chExt cx="6858000" cy="508000"/>
          </a:xfrm>
        </p:grpSpPr>
        <p:sp>
          <p:nvSpPr>
            <p:cNvPr id="3" name="AutoShape 52"/>
            <p:cNvSpPr>
              <a:spLocks noChangeArrowheads="1"/>
            </p:cNvSpPr>
            <p:nvPr/>
          </p:nvSpPr>
          <p:spPr bwMode="gray">
            <a:xfrm>
              <a:off x="990600" y="1191463"/>
              <a:ext cx="6657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400" b="1" kern="0">
                  <a:solidFill>
                    <a:srgbClr val="002060"/>
                  </a:solidFill>
                  <a:latin typeface="Cambria" panose="02040503050406030204" pitchFamily="18" charset="0"/>
                </a:rPr>
                <a:t>Tại sao nên ghi chú trong quá trình coding?</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p:cNvSpPr txBox="1">
            <a:spLocks/>
          </p:cNvSpPr>
          <p:nvPr/>
        </p:nvSpPr>
        <p:spPr bwMode="auto">
          <a:xfrm>
            <a:off x="2003321" y="1066800"/>
            <a:ext cx="8359879" cy="5181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itchFamily="2" charset="2"/>
              <a:buChar char="v"/>
              <a:defRPr sz="3200" b="0">
                <a:solidFill>
                  <a:schemeClr val="accent1"/>
                </a:solidFill>
                <a:latin typeface="Segoe UI" pitchFamily="34" charset="0"/>
                <a:ea typeface="Segoe UI" pitchFamily="34" charset="0"/>
                <a:cs typeface="Segoe UI" pitchFamily="34" charset="0"/>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Segoe UI" pitchFamily="34" charset="0"/>
                <a:ea typeface="Segoe UI" pitchFamily="34" charset="0"/>
                <a:cs typeface="Segoe UI"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Segoe UI" pitchFamily="34" charset="0"/>
                <a:ea typeface="Segoe UI" pitchFamily="34" charset="0"/>
                <a:cs typeface="Segoe UI" pitchFamily="34" charset="0"/>
              </a:defRPr>
            </a:lvl3pPr>
            <a:lvl4pPr marL="16002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4pPr>
            <a:lvl5pPr marL="2057400" indent="-228600" algn="l" rtl="0" eaLnBrk="1" fontAlgn="base" hangingPunct="1">
              <a:spcBef>
                <a:spcPct val="20000"/>
              </a:spcBef>
              <a:spcAft>
                <a:spcPct val="0"/>
              </a:spcAft>
              <a:buChar char="»"/>
              <a:defRPr sz="2000">
                <a:solidFill>
                  <a:schemeClr val="tx1"/>
                </a:solidFill>
                <a:latin typeface="Segoe UI" pitchFamily="34" charset="0"/>
                <a:ea typeface="Segoe UI" pitchFamily="34" charset="0"/>
                <a:cs typeface="Segoe UI"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0" algn="just">
              <a:buClr>
                <a:srgbClr val="3DC5C5"/>
              </a:buClr>
              <a:defRPr/>
            </a:pPr>
            <a:r>
              <a:rPr lang="en-US" kern="0">
                <a:solidFill>
                  <a:srgbClr val="002060"/>
                </a:solidFill>
                <a:latin typeface="Cambria" panose="02040503050406030204" pitchFamily="18" charset="0"/>
              </a:rPr>
              <a:t>Mục đích của ghi chú là giúp giảng giải ngữ nghĩa của các câu lệnh, cũng như chức năng của các hàm, các lớp. Giúp cho các Lập trình viên có thể dễ dàng đọc lại, training nhân viên mới, tạo tài liệu từ các ghi chú</a:t>
            </a:r>
          </a:p>
          <a:p>
            <a:pPr lvl="0" algn="just">
              <a:buClr>
                <a:srgbClr val="3DC5C5"/>
              </a:buClr>
              <a:defRPr/>
            </a:pPr>
            <a:r>
              <a:rPr lang="en-US" kern="0">
                <a:solidFill>
                  <a:srgbClr val="002060"/>
                </a:solidFill>
                <a:latin typeface="Cambria" panose="02040503050406030204" pitchFamily="18" charset="0"/>
              </a:rPr>
              <a:t>Các dự án thường làm theo đội, nếu không ghi chú làm sao hiểu? Bản thân ta viết sau 1 thời gian dài cũng sẽ bị quên, phải ghi chú lại để đỡ tốn tài nguyên nhân lực, thời gian, chi phí…</a:t>
            </a:r>
          </a:p>
        </p:txBody>
      </p:sp>
      <p:sp>
        <p:nvSpPr>
          <p:cNvPr id="9" name="Slide Number Placeholder 8">
            <a:extLst>
              <a:ext uri="{FF2B5EF4-FFF2-40B4-BE49-F238E27FC236}">
                <a16:creationId xmlns:a16="http://schemas.microsoft.com/office/drawing/2014/main" id="{AC4D7735-1FFA-EC8B-41A0-3D3BE8134885}"/>
              </a:ext>
            </a:extLst>
          </p:cNvPr>
          <p:cNvSpPr>
            <a:spLocks noGrp="1"/>
          </p:cNvSpPr>
          <p:nvPr>
            <p:ph type="sldNum" sz="quarter" idx="12"/>
          </p:nvPr>
        </p:nvSpPr>
        <p:spPr/>
        <p:txBody>
          <a:bodyPr/>
          <a:lstStyle/>
          <a:p>
            <a:fld id="{78EE6887-2290-4B81-8A6D-75BA854EF4EB}" type="slidenum">
              <a:rPr lang="en-US" smtClean="0"/>
              <a:pPr/>
              <a:t>79</a:t>
            </a:fld>
            <a:endParaRPr lang="en-US"/>
          </a:p>
        </p:txBody>
      </p:sp>
    </p:spTree>
    <p:extLst>
      <p:ext uri="{BB962C8B-B14F-4D97-AF65-F5344CB8AC3E}">
        <p14:creationId xmlns:p14="http://schemas.microsoft.com/office/powerpoint/2010/main" val="25658577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kern="0">
                  <a:solidFill>
                    <a:srgbClr val="002060"/>
                  </a:solidFill>
                  <a:latin typeface="Cambria" panose="02040503050406030204" pitchFamily="18" charset="0"/>
                </a:rPr>
                <a:t>Ghi chú 1 dòng</a:t>
              </a:r>
              <a:endParaRPr lang="en-US" sz="2400" b="1" kern="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Rectangle 12"/>
          <p:cNvSpPr/>
          <p:nvPr/>
        </p:nvSpPr>
        <p:spPr>
          <a:xfrm>
            <a:off x="2179210" y="1219201"/>
            <a:ext cx="5862502" cy="584775"/>
          </a:xfrm>
          <a:prstGeom prst="rect">
            <a:avLst/>
          </a:prstGeom>
        </p:spPr>
        <p:txBody>
          <a:bodyPr wrap="none">
            <a:spAutoFit/>
          </a:bodyPr>
          <a:lstStyle/>
          <a:p>
            <a:r>
              <a:rPr lang="en-US" sz="3200">
                <a:solidFill>
                  <a:srgbClr val="FF0000"/>
                </a:solidFill>
                <a:highlight>
                  <a:srgbClr val="E8F2FE"/>
                </a:highlight>
                <a:latin typeface="Courier New" panose="02070309020205020404" pitchFamily="49" charset="0"/>
              </a:rPr>
              <a:t>//</a:t>
            </a:r>
            <a:r>
              <a:rPr lang="en-US" sz="3200" u="sng">
                <a:solidFill>
                  <a:srgbClr val="3F7F5F"/>
                </a:solidFill>
                <a:highlight>
                  <a:srgbClr val="E8F2FE"/>
                </a:highlight>
                <a:latin typeface="Courier New" panose="02070309020205020404" pitchFamily="49" charset="0"/>
              </a:rPr>
              <a:t>đây là ghi chú 1 dòng</a:t>
            </a:r>
            <a:endParaRPr lang="en-US" sz="3200"/>
          </a:p>
        </p:txBody>
      </p:sp>
      <p:sp>
        <p:nvSpPr>
          <p:cNvPr id="8" name="Slide Number Placeholder 7">
            <a:extLst>
              <a:ext uri="{FF2B5EF4-FFF2-40B4-BE49-F238E27FC236}">
                <a16:creationId xmlns:a16="http://schemas.microsoft.com/office/drawing/2014/main" id="{6CDCEB8D-EA6A-11C2-F7FC-AAE2394F028F}"/>
              </a:ext>
            </a:extLst>
          </p:cNvPr>
          <p:cNvSpPr>
            <a:spLocks noGrp="1"/>
          </p:cNvSpPr>
          <p:nvPr>
            <p:ph type="sldNum" sz="quarter" idx="12"/>
          </p:nvPr>
        </p:nvSpPr>
        <p:spPr/>
        <p:txBody>
          <a:bodyPr/>
          <a:lstStyle/>
          <a:p>
            <a:fld id="{78EE6887-2290-4B81-8A6D-75BA854EF4EB}" type="slidenum">
              <a:rPr lang="en-US" smtClean="0"/>
              <a:pPr/>
              <a:t>80</a:t>
            </a:fld>
            <a:endParaRPr lang="en-US"/>
          </a:p>
        </p:txBody>
      </p:sp>
    </p:spTree>
    <p:extLst>
      <p:ext uri="{BB962C8B-B14F-4D97-AF65-F5344CB8AC3E}">
        <p14:creationId xmlns:p14="http://schemas.microsoft.com/office/powerpoint/2010/main" val="37729284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Ghi chú nhiều dòng</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p:cNvPicPr>
            <a:picLocks noChangeAspect="1"/>
          </p:cNvPicPr>
          <p:nvPr/>
        </p:nvPicPr>
        <p:blipFill>
          <a:blip r:embed="rId2"/>
          <a:stretch>
            <a:fillRect/>
          </a:stretch>
        </p:blipFill>
        <p:spPr>
          <a:xfrm>
            <a:off x="1993086" y="1094538"/>
            <a:ext cx="8277225" cy="3228975"/>
          </a:xfrm>
          <a:prstGeom prst="rect">
            <a:avLst/>
          </a:prstGeom>
        </p:spPr>
      </p:pic>
      <p:sp>
        <p:nvSpPr>
          <p:cNvPr id="8" name="Slide Number Placeholder 7">
            <a:extLst>
              <a:ext uri="{FF2B5EF4-FFF2-40B4-BE49-F238E27FC236}">
                <a16:creationId xmlns:a16="http://schemas.microsoft.com/office/drawing/2014/main" id="{C40FFD8A-9DAA-E086-6B3D-9DBBDA9E246D}"/>
              </a:ext>
            </a:extLst>
          </p:cNvPr>
          <p:cNvSpPr>
            <a:spLocks noGrp="1"/>
          </p:cNvSpPr>
          <p:nvPr>
            <p:ph type="sldNum" sz="quarter" idx="12"/>
          </p:nvPr>
        </p:nvSpPr>
        <p:spPr/>
        <p:txBody>
          <a:bodyPr/>
          <a:lstStyle/>
          <a:p>
            <a:fld id="{78EE6887-2290-4B81-8A6D-75BA854EF4EB}" type="slidenum">
              <a:rPr lang="en-US" smtClean="0"/>
              <a:pPr/>
              <a:t>81</a:t>
            </a:fld>
            <a:endParaRPr lang="en-US"/>
          </a:p>
        </p:txBody>
      </p:sp>
    </p:spTree>
    <p:extLst>
      <p:ext uri="{BB962C8B-B14F-4D97-AF65-F5344CB8AC3E}">
        <p14:creationId xmlns:p14="http://schemas.microsoft.com/office/powerpoint/2010/main" val="37828849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Ghi chú dạng Javadocs</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p:cNvPicPr>
            <a:picLocks noChangeAspect="1"/>
          </p:cNvPicPr>
          <p:nvPr/>
        </p:nvPicPr>
        <p:blipFill>
          <a:blip r:embed="rId2"/>
          <a:stretch>
            <a:fillRect/>
          </a:stretch>
        </p:blipFill>
        <p:spPr>
          <a:xfrm>
            <a:off x="2514600" y="1219200"/>
            <a:ext cx="7124700" cy="4495800"/>
          </a:xfrm>
          <a:prstGeom prst="rect">
            <a:avLst/>
          </a:prstGeom>
        </p:spPr>
      </p:pic>
      <p:sp>
        <p:nvSpPr>
          <p:cNvPr id="8" name="Slide Number Placeholder 7">
            <a:extLst>
              <a:ext uri="{FF2B5EF4-FFF2-40B4-BE49-F238E27FC236}">
                <a16:creationId xmlns:a16="http://schemas.microsoft.com/office/drawing/2014/main" id="{788EE4AC-5A9D-703D-A12F-A3A55E0047BF}"/>
              </a:ext>
            </a:extLst>
          </p:cNvPr>
          <p:cNvSpPr>
            <a:spLocks noGrp="1"/>
          </p:cNvSpPr>
          <p:nvPr>
            <p:ph type="sldNum" sz="quarter" idx="12"/>
          </p:nvPr>
        </p:nvSpPr>
        <p:spPr/>
        <p:txBody>
          <a:bodyPr/>
          <a:lstStyle/>
          <a:p>
            <a:fld id="{78EE6887-2290-4B81-8A6D-75BA854EF4EB}" type="slidenum">
              <a:rPr lang="en-US" smtClean="0"/>
              <a:pPr/>
              <a:t>82</a:t>
            </a:fld>
            <a:endParaRPr lang="en-US"/>
          </a:p>
        </p:txBody>
      </p:sp>
    </p:spTree>
    <p:extLst>
      <p:ext uri="{BB962C8B-B14F-4D97-AF65-F5344CB8AC3E}">
        <p14:creationId xmlns:p14="http://schemas.microsoft.com/office/powerpoint/2010/main" val="12007974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8288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buClr>
                  <a:srgbClr val="3DC5C5"/>
                </a:buClr>
                <a:defRPr/>
              </a:pPr>
              <a:r>
                <a:rPr lang="vi-VN" sz="2400" b="1" kern="0">
                  <a:solidFill>
                    <a:srgbClr val="002060"/>
                  </a:solidFill>
                  <a:latin typeface="Cambria" panose="02040503050406030204" pitchFamily="18" charset="0"/>
                </a:rPr>
                <a:t>Ghi chú dạng Javadocs</a:t>
              </a:r>
              <a:endParaRPr lang="en-US" sz="4000" b="1" kern="0" dirty="0">
                <a:solidFill>
                  <a:srgbClr val="00206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8" name="Picture 7"/>
          <p:cNvPicPr>
            <a:picLocks noChangeAspect="1"/>
          </p:cNvPicPr>
          <p:nvPr/>
        </p:nvPicPr>
        <p:blipFill>
          <a:blip r:embed="rId2"/>
          <a:stretch>
            <a:fillRect/>
          </a:stretch>
        </p:blipFill>
        <p:spPr>
          <a:xfrm>
            <a:off x="2667000" y="1371601"/>
            <a:ext cx="5791200" cy="2181225"/>
          </a:xfrm>
          <a:prstGeom prst="rect">
            <a:avLst/>
          </a:prstGeom>
        </p:spPr>
      </p:pic>
      <p:sp>
        <p:nvSpPr>
          <p:cNvPr id="9" name="Slide Number Placeholder 8">
            <a:extLst>
              <a:ext uri="{FF2B5EF4-FFF2-40B4-BE49-F238E27FC236}">
                <a16:creationId xmlns:a16="http://schemas.microsoft.com/office/drawing/2014/main" id="{BCC62919-EB06-200F-904A-24941B71620C}"/>
              </a:ext>
            </a:extLst>
          </p:cNvPr>
          <p:cNvSpPr>
            <a:spLocks noGrp="1"/>
          </p:cNvSpPr>
          <p:nvPr>
            <p:ph type="sldNum" sz="quarter" idx="12"/>
          </p:nvPr>
        </p:nvSpPr>
        <p:spPr/>
        <p:txBody>
          <a:bodyPr/>
          <a:lstStyle/>
          <a:p>
            <a:fld id="{78EE6887-2290-4B81-8A6D-75BA854EF4EB}" type="slidenum">
              <a:rPr lang="en-US" smtClean="0"/>
              <a:pPr/>
              <a:t>83</a:t>
            </a:fld>
            <a:endParaRPr lang="en-US"/>
          </a:p>
        </p:txBody>
      </p:sp>
    </p:spTree>
    <p:extLst>
      <p:ext uri="{BB962C8B-B14F-4D97-AF65-F5344CB8AC3E}">
        <p14:creationId xmlns:p14="http://schemas.microsoft.com/office/powerpoint/2010/main" val="17972156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p:cNvSpPr txBox="1">
            <a:spLocks noChangeArrowheads="1"/>
          </p:cNvSpPr>
          <p:nvPr/>
        </p:nvSpPr>
        <p:spPr bwMode="auto">
          <a:xfrm>
            <a:off x="4495800" y="2555117"/>
            <a:ext cx="26670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6600">
                <a:latin typeface="VNI-Heather" pitchFamily="2" charset="0"/>
                <a:cs typeface="Arial" charset="0"/>
              </a:rPr>
              <a:t>END</a:t>
            </a:r>
          </a:p>
        </p:txBody>
      </p:sp>
      <p:pic>
        <p:nvPicPr>
          <p:cNvPr id="9" name="Picture 2" descr="Image result for minio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1" y="3611303"/>
            <a:ext cx="2181225" cy="23431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Image result for minion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2310736"/>
            <a:ext cx="1905000" cy="1905002"/>
          </a:xfrm>
          <a:prstGeom prst="rect">
            <a:avLst/>
          </a:prstGeom>
          <a:noFill/>
          <a:extLst>
            <a:ext uri="{909E8E84-426E-40DD-AFC4-6F175D3DCCD1}">
              <a14:hiddenFill xmlns:a14="http://schemas.microsoft.com/office/drawing/2010/main">
                <a:solidFill>
                  <a:srgbClr val="FFFFFF"/>
                </a:solidFill>
              </a14:hiddenFill>
            </a:ext>
          </a:extLst>
        </p:spPr>
      </p:pic>
      <p:sp>
        <p:nvSpPr>
          <p:cNvPr id="11" name="Cloud Callout 10"/>
          <p:cNvSpPr/>
          <p:nvPr/>
        </p:nvSpPr>
        <p:spPr>
          <a:xfrm>
            <a:off x="7010400" y="533400"/>
            <a:ext cx="1714500" cy="1745064"/>
          </a:xfrm>
          <a:prstGeom prst="cloudCallout">
            <a:avLst>
              <a:gd name="adj1" fmla="val 45968"/>
              <a:gd name="adj2" fmla="val 9235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a:latin typeface="Cambria" panose="02040503050406030204" pitchFamily="18" charset="0"/>
              </a:rPr>
              <a:t>Hey! Coding is easy!</a:t>
            </a:r>
          </a:p>
        </p:txBody>
      </p:sp>
      <p:sp>
        <p:nvSpPr>
          <p:cNvPr id="2" name="Slide Number Placeholder 1">
            <a:extLst>
              <a:ext uri="{FF2B5EF4-FFF2-40B4-BE49-F238E27FC236}">
                <a16:creationId xmlns:a16="http://schemas.microsoft.com/office/drawing/2014/main" id="{5EC864A3-DC85-5EC4-4C84-669B65704070}"/>
              </a:ext>
            </a:extLst>
          </p:cNvPr>
          <p:cNvSpPr>
            <a:spLocks noGrp="1"/>
          </p:cNvSpPr>
          <p:nvPr>
            <p:ph type="sldNum" sz="quarter" idx="12"/>
          </p:nvPr>
        </p:nvSpPr>
        <p:spPr/>
        <p:txBody>
          <a:bodyPr/>
          <a:lstStyle/>
          <a:p>
            <a:fld id="{78EE6887-2290-4B81-8A6D-75BA854EF4EB}" type="slidenum">
              <a:rPr lang="en-US" smtClean="0"/>
              <a:pPr/>
              <a:t>84</a:t>
            </a:fld>
            <a:endParaRPr lang="en-US"/>
          </a:p>
        </p:txBody>
      </p:sp>
    </p:spTree>
    <p:extLst>
      <p:ext uri="{BB962C8B-B14F-4D97-AF65-F5344CB8AC3E}">
        <p14:creationId xmlns:p14="http://schemas.microsoft.com/office/powerpoint/2010/main" val="3995934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2106</Words>
  <Application>Microsoft Office PowerPoint</Application>
  <PresentationFormat>Widescreen</PresentationFormat>
  <Paragraphs>366</Paragraphs>
  <Slides>84</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84</vt:i4>
      </vt:variant>
    </vt:vector>
  </HeadingPairs>
  <TitlesOfParts>
    <vt:vector size="92" baseType="lpstr">
      <vt:lpstr>Arial</vt:lpstr>
      <vt:lpstr>Calibri</vt:lpstr>
      <vt:lpstr>Calibri Light</vt:lpstr>
      <vt:lpstr>Cambria</vt:lpstr>
      <vt:lpstr>Courier New</vt:lpstr>
      <vt:lpstr>Times New Roman</vt:lpstr>
      <vt:lpstr>VNI-Heather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Phat Huynh Vinh</dc:creator>
  <cp:lastModifiedBy>Phat Huynh Vinh</cp:lastModifiedBy>
  <cp:revision>59</cp:revision>
  <dcterms:created xsi:type="dcterms:W3CDTF">2026-04-14T10:34:33Z</dcterms:created>
  <dcterms:modified xsi:type="dcterms:W3CDTF">2026-04-15T06:55:19Z</dcterms:modified>
</cp:coreProperties>
</file>