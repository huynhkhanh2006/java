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4"/>
  </p:notesMasterIdLst>
  <p:sldIdLst>
    <p:sldId id="360" r:id="rId2"/>
    <p:sldId id="256" r:id="rId3"/>
    <p:sldId id="261"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0" r:id="rId62"/>
    <p:sldId id="321" r:id="rId63"/>
    <p:sldId id="322" r:id="rId64"/>
    <p:sldId id="323" r:id="rId65"/>
    <p:sldId id="324" r:id="rId66"/>
    <p:sldId id="325" r:id="rId67"/>
    <p:sldId id="326" r:id="rId68"/>
    <p:sldId id="327" r:id="rId69"/>
    <p:sldId id="328" r:id="rId70"/>
    <p:sldId id="329" r:id="rId71"/>
    <p:sldId id="330" r:id="rId72"/>
    <p:sldId id="331" r:id="rId73"/>
    <p:sldId id="332" r:id="rId74"/>
    <p:sldId id="340" r:id="rId75"/>
    <p:sldId id="333" r:id="rId76"/>
    <p:sldId id="339" r:id="rId77"/>
    <p:sldId id="334" r:id="rId78"/>
    <p:sldId id="335" r:id="rId79"/>
    <p:sldId id="336" r:id="rId80"/>
    <p:sldId id="337" r:id="rId81"/>
    <p:sldId id="338" r:id="rId82"/>
    <p:sldId id="262" r:id="rId83"/>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1212" y="84"/>
      </p:cViewPr>
      <p:guideLst/>
    </p:cSldViewPr>
  </p:slideViewPr>
  <p:notesTextViewPr>
    <p:cViewPr>
      <p:scale>
        <a:sx n="1" d="1"/>
        <a:sy n="1" d="1"/>
      </p:scale>
      <p:origin x="0" y="0"/>
    </p:cViewPr>
  </p:notesTextViewPr>
  <p:notesViewPr>
    <p:cSldViewPr snapToGrid="0">
      <p:cViewPr varScale="1">
        <p:scale>
          <a:sx n="83" d="100"/>
          <a:sy n="83" d="100"/>
        </p:scale>
        <p:origin x="3852"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DB6A34-2280-48F3-923D-73929BE00175}" type="datetimeFigureOut">
              <a:rPr lang="vi-VN" smtClean="0"/>
              <a:t>18/04/2026</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03CE5C-DA04-44E1-8A16-3EB2B4D2EC95}" type="slidenum">
              <a:rPr lang="vi-VN" smtClean="0"/>
              <a:t>‹#›</a:t>
            </a:fld>
            <a:endParaRPr lang="vi-VN"/>
          </a:p>
        </p:txBody>
      </p:sp>
    </p:spTree>
    <p:extLst>
      <p:ext uri="{BB962C8B-B14F-4D97-AF65-F5344CB8AC3E}">
        <p14:creationId xmlns:p14="http://schemas.microsoft.com/office/powerpoint/2010/main" val="2504187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D926E-03CB-13E1-373B-90E5961AF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A83B0-4BF3-029E-6494-14E059548B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DFE04-1003-1675-C80F-C245FA4492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12EBE8-5DC5-D842-1B0F-9F25F82E738C}"/>
              </a:ext>
            </a:extLst>
          </p:cNvPr>
          <p:cNvSpPr>
            <a:spLocks noGrp="1"/>
          </p:cNvSpPr>
          <p:nvPr>
            <p:ph type="sldNum" sz="quarter" idx="10"/>
          </p:nvPr>
        </p:nvSpPr>
        <p:spPr/>
        <p:txBody>
          <a:bodyPr/>
          <a:lstStyle/>
          <a:p>
            <a:fld id="{46D3E3EA-CC6A-448F-83C3-9A526F33CF9E}" type="slidenum">
              <a:rPr lang="en-US" smtClean="0"/>
              <a:t>1</a:t>
            </a:fld>
            <a:endParaRPr lang="en-US"/>
          </a:p>
        </p:txBody>
      </p:sp>
    </p:spTree>
    <p:extLst>
      <p:ext uri="{BB962C8B-B14F-4D97-AF65-F5344CB8AC3E}">
        <p14:creationId xmlns:p14="http://schemas.microsoft.com/office/powerpoint/2010/main" val="1415886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2</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7</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12</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19</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29</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38</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46</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52</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57</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63</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68</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74</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76</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78</a:t>
            </a:fld>
            <a:endParaRPr lang="en-US"/>
          </a:p>
        </p:txBody>
      </p:sp>
    </p:spTree>
    <p:extLst>
      <p:ext uri="{BB962C8B-B14F-4D97-AF65-F5344CB8AC3E}">
        <p14:creationId xmlns:p14="http://schemas.microsoft.com/office/powerpoint/2010/main" val="4261854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DEB7E-58F4-9E93-9D62-46BAF8CD97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A003F0A6-BB91-7875-4687-647AD7BE81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BAE22EEF-8633-964C-0B65-48D0759C6BA2}"/>
              </a:ext>
            </a:extLst>
          </p:cNvPr>
          <p:cNvSpPr>
            <a:spLocks noGrp="1"/>
          </p:cNvSpPr>
          <p:nvPr>
            <p:ph type="dt" sz="half" idx="10"/>
          </p:nvPr>
        </p:nvSpPr>
        <p:spPr/>
        <p:txBody>
          <a:bodyPr/>
          <a:lstStyle/>
          <a:p>
            <a:fld id="{B2CE0EF7-48AF-46CD-9AF7-03A7D2F66E6A}" type="datetime1">
              <a:rPr lang="vi-VN" smtClean="0"/>
              <a:t>18/04/2026</a:t>
            </a:fld>
            <a:endParaRPr lang="vi-VN"/>
          </a:p>
        </p:txBody>
      </p:sp>
      <p:sp>
        <p:nvSpPr>
          <p:cNvPr id="5" name="Footer Placeholder 4">
            <a:extLst>
              <a:ext uri="{FF2B5EF4-FFF2-40B4-BE49-F238E27FC236}">
                <a16:creationId xmlns:a16="http://schemas.microsoft.com/office/drawing/2014/main" id="{67243A61-629B-06DC-68F3-C299C782D3E4}"/>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255A2FD-5E10-5DF4-B162-E6243E319845}"/>
              </a:ext>
            </a:extLst>
          </p:cNvPr>
          <p:cNvSpPr>
            <a:spLocks noGrp="1"/>
          </p:cNvSpPr>
          <p:nvPr>
            <p:ph type="sldNum" sz="quarter" idx="12"/>
          </p:nvPr>
        </p:nvSpPr>
        <p:spPr/>
        <p:txBody>
          <a:bodyPr/>
          <a:lstStyle/>
          <a:p>
            <a:fld id="{5BED0315-10DD-40E3-998C-3B4D5D35B9DC}" type="slidenum">
              <a:rPr lang="vi-VN" smtClean="0"/>
              <a:t>‹#›</a:t>
            </a:fld>
            <a:endParaRPr lang="vi-VN"/>
          </a:p>
        </p:txBody>
      </p:sp>
    </p:spTree>
    <p:extLst>
      <p:ext uri="{BB962C8B-B14F-4D97-AF65-F5344CB8AC3E}">
        <p14:creationId xmlns:p14="http://schemas.microsoft.com/office/powerpoint/2010/main" val="4246869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1BAFA-7511-5AD1-5166-BAC9F8536182}"/>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B20943AB-5689-0F6B-8E4F-F9BCA26762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5EF48852-A704-0407-13D4-5CADFD0EEDBD}"/>
              </a:ext>
            </a:extLst>
          </p:cNvPr>
          <p:cNvSpPr>
            <a:spLocks noGrp="1"/>
          </p:cNvSpPr>
          <p:nvPr>
            <p:ph type="dt" sz="half" idx="10"/>
          </p:nvPr>
        </p:nvSpPr>
        <p:spPr/>
        <p:txBody>
          <a:bodyPr/>
          <a:lstStyle/>
          <a:p>
            <a:fld id="{5C1A8C75-563C-4BE5-99E1-04716B188B45}" type="datetime1">
              <a:rPr lang="vi-VN" smtClean="0"/>
              <a:t>18/04/2026</a:t>
            </a:fld>
            <a:endParaRPr lang="vi-VN"/>
          </a:p>
        </p:txBody>
      </p:sp>
      <p:sp>
        <p:nvSpPr>
          <p:cNvPr id="5" name="Footer Placeholder 4">
            <a:extLst>
              <a:ext uri="{FF2B5EF4-FFF2-40B4-BE49-F238E27FC236}">
                <a16:creationId xmlns:a16="http://schemas.microsoft.com/office/drawing/2014/main" id="{AC9708CF-58E1-CB22-B3C8-95F41E984358}"/>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E1A90DF6-2386-1D68-AF84-A8A9AC8534D6}"/>
              </a:ext>
            </a:extLst>
          </p:cNvPr>
          <p:cNvSpPr>
            <a:spLocks noGrp="1"/>
          </p:cNvSpPr>
          <p:nvPr>
            <p:ph type="sldNum" sz="quarter" idx="12"/>
          </p:nvPr>
        </p:nvSpPr>
        <p:spPr/>
        <p:txBody>
          <a:bodyPr/>
          <a:lstStyle/>
          <a:p>
            <a:fld id="{5BED0315-10DD-40E3-998C-3B4D5D35B9DC}" type="slidenum">
              <a:rPr lang="vi-VN" smtClean="0"/>
              <a:t>‹#›</a:t>
            </a:fld>
            <a:endParaRPr lang="vi-VN"/>
          </a:p>
        </p:txBody>
      </p:sp>
    </p:spTree>
    <p:extLst>
      <p:ext uri="{BB962C8B-B14F-4D97-AF65-F5344CB8AC3E}">
        <p14:creationId xmlns:p14="http://schemas.microsoft.com/office/powerpoint/2010/main" val="270721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01A32-7541-5645-0ACA-CC0FD38C13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E2615CCA-3EF8-A827-4EAE-D5613521A2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40BAEE-C10B-41C2-E917-82CA5EF12DB7}"/>
              </a:ext>
            </a:extLst>
          </p:cNvPr>
          <p:cNvSpPr>
            <a:spLocks noGrp="1"/>
          </p:cNvSpPr>
          <p:nvPr>
            <p:ph type="dt" sz="half" idx="10"/>
          </p:nvPr>
        </p:nvSpPr>
        <p:spPr/>
        <p:txBody>
          <a:bodyPr/>
          <a:lstStyle/>
          <a:p>
            <a:fld id="{3797D2DC-712E-4427-A057-C8F2476AD18F}" type="datetime1">
              <a:rPr lang="vi-VN" smtClean="0"/>
              <a:t>18/04/2026</a:t>
            </a:fld>
            <a:endParaRPr lang="vi-VN"/>
          </a:p>
        </p:txBody>
      </p:sp>
      <p:sp>
        <p:nvSpPr>
          <p:cNvPr id="5" name="Footer Placeholder 4">
            <a:extLst>
              <a:ext uri="{FF2B5EF4-FFF2-40B4-BE49-F238E27FC236}">
                <a16:creationId xmlns:a16="http://schemas.microsoft.com/office/drawing/2014/main" id="{3B353CBC-1813-28D3-3565-FB69EDD2D0E3}"/>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F8868934-375C-B23A-54D4-BE4973C53720}"/>
              </a:ext>
            </a:extLst>
          </p:cNvPr>
          <p:cNvSpPr>
            <a:spLocks noGrp="1"/>
          </p:cNvSpPr>
          <p:nvPr>
            <p:ph type="sldNum" sz="quarter" idx="12"/>
          </p:nvPr>
        </p:nvSpPr>
        <p:spPr/>
        <p:txBody>
          <a:bodyPr/>
          <a:lstStyle/>
          <a:p>
            <a:fld id="{5BED0315-10DD-40E3-998C-3B4D5D35B9DC}" type="slidenum">
              <a:rPr lang="vi-VN" smtClean="0"/>
              <a:t>‹#›</a:t>
            </a:fld>
            <a:endParaRPr lang="vi-VN"/>
          </a:p>
        </p:txBody>
      </p:sp>
    </p:spTree>
    <p:extLst>
      <p:ext uri="{BB962C8B-B14F-4D97-AF65-F5344CB8AC3E}">
        <p14:creationId xmlns:p14="http://schemas.microsoft.com/office/powerpoint/2010/main" val="3279387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C6A8C-1CA1-262D-4057-A4531052D1D0}"/>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C9277574-120F-A491-7C0D-D7CB046BF3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CCE9DDA4-E5B2-02A9-F424-1026234E85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8373C557-4B88-D52B-40F1-EB492808C175}"/>
              </a:ext>
            </a:extLst>
          </p:cNvPr>
          <p:cNvSpPr>
            <a:spLocks noGrp="1"/>
          </p:cNvSpPr>
          <p:nvPr>
            <p:ph type="dt" sz="half" idx="10"/>
          </p:nvPr>
        </p:nvSpPr>
        <p:spPr/>
        <p:txBody>
          <a:bodyPr/>
          <a:lstStyle/>
          <a:p>
            <a:fld id="{E9106E5B-6F8F-4598-8334-5CDC767F632D}" type="datetime1">
              <a:rPr lang="vi-VN" smtClean="0"/>
              <a:t>18/04/2026</a:t>
            </a:fld>
            <a:endParaRPr lang="vi-VN"/>
          </a:p>
        </p:txBody>
      </p:sp>
      <p:sp>
        <p:nvSpPr>
          <p:cNvPr id="6" name="Footer Placeholder 5">
            <a:extLst>
              <a:ext uri="{FF2B5EF4-FFF2-40B4-BE49-F238E27FC236}">
                <a16:creationId xmlns:a16="http://schemas.microsoft.com/office/drawing/2014/main" id="{E0BA268C-D8EF-160C-2BB8-74A818D44A8F}"/>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41FA725B-EF93-C822-DF43-413674E2715B}"/>
              </a:ext>
            </a:extLst>
          </p:cNvPr>
          <p:cNvSpPr>
            <a:spLocks noGrp="1"/>
          </p:cNvSpPr>
          <p:nvPr>
            <p:ph type="sldNum" sz="quarter" idx="12"/>
          </p:nvPr>
        </p:nvSpPr>
        <p:spPr/>
        <p:txBody>
          <a:bodyPr/>
          <a:lstStyle/>
          <a:p>
            <a:fld id="{5BED0315-10DD-40E3-998C-3B4D5D35B9DC}" type="slidenum">
              <a:rPr lang="vi-VN" smtClean="0"/>
              <a:t>‹#›</a:t>
            </a:fld>
            <a:endParaRPr lang="vi-VN"/>
          </a:p>
        </p:txBody>
      </p:sp>
    </p:spTree>
    <p:extLst>
      <p:ext uri="{BB962C8B-B14F-4D97-AF65-F5344CB8AC3E}">
        <p14:creationId xmlns:p14="http://schemas.microsoft.com/office/powerpoint/2010/main" val="551609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89D5C-E762-9E29-D07A-4F001438130B}"/>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8E8DE153-B4CA-DF5E-C8A6-E5D645E106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CC3736-D808-750F-F2E6-995AD152F9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04147FD8-0A79-1128-3CC4-31EF9B0C55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06169C-9D3C-8F2B-8C2F-9CA5CB24F1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988FE659-B5FF-5C24-A955-799C74700A56}"/>
              </a:ext>
            </a:extLst>
          </p:cNvPr>
          <p:cNvSpPr>
            <a:spLocks noGrp="1"/>
          </p:cNvSpPr>
          <p:nvPr>
            <p:ph type="dt" sz="half" idx="10"/>
          </p:nvPr>
        </p:nvSpPr>
        <p:spPr/>
        <p:txBody>
          <a:bodyPr/>
          <a:lstStyle/>
          <a:p>
            <a:fld id="{B676716D-BE84-476A-9F03-570840485263}" type="datetime1">
              <a:rPr lang="vi-VN" smtClean="0"/>
              <a:t>18/04/2026</a:t>
            </a:fld>
            <a:endParaRPr lang="vi-VN"/>
          </a:p>
        </p:txBody>
      </p:sp>
      <p:sp>
        <p:nvSpPr>
          <p:cNvPr id="8" name="Footer Placeholder 7">
            <a:extLst>
              <a:ext uri="{FF2B5EF4-FFF2-40B4-BE49-F238E27FC236}">
                <a16:creationId xmlns:a16="http://schemas.microsoft.com/office/drawing/2014/main" id="{EECBB5DC-988F-60AD-9014-742DB30900BC}"/>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39A02170-0782-9A51-55FB-B42081820DD6}"/>
              </a:ext>
            </a:extLst>
          </p:cNvPr>
          <p:cNvSpPr>
            <a:spLocks noGrp="1"/>
          </p:cNvSpPr>
          <p:nvPr>
            <p:ph type="sldNum" sz="quarter" idx="12"/>
          </p:nvPr>
        </p:nvSpPr>
        <p:spPr/>
        <p:txBody>
          <a:bodyPr/>
          <a:lstStyle/>
          <a:p>
            <a:fld id="{5BED0315-10DD-40E3-998C-3B4D5D35B9DC}" type="slidenum">
              <a:rPr lang="vi-VN" smtClean="0"/>
              <a:t>‹#›</a:t>
            </a:fld>
            <a:endParaRPr lang="vi-VN"/>
          </a:p>
        </p:txBody>
      </p:sp>
    </p:spTree>
    <p:extLst>
      <p:ext uri="{BB962C8B-B14F-4D97-AF65-F5344CB8AC3E}">
        <p14:creationId xmlns:p14="http://schemas.microsoft.com/office/powerpoint/2010/main" val="2125342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E1D5D-8BCC-0773-F1F9-1E93C49C324B}"/>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C7901CB2-84EF-5882-8B77-840E581C6C76}"/>
              </a:ext>
            </a:extLst>
          </p:cNvPr>
          <p:cNvSpPr>
            <a:spLocks noGrp="1"/>
          </p:cNvSpPr>
          <p:nvPr>
            <p:ph type="dt" sz="half" idx="10"/>
          </p:nvPr>
        </p:nvSpPr>
        <p:spPr/>
        <p:txBody>
          <a:bodyPr/>
          <a:lstStyle/>
          <a:p>
            <a:fld id="{6C7C0460-FDC6-4A13-A625-E3A165C26F48}" type="datetime1">
              <a:rPr lang="vi-VN" smtClean="0"/>
              <a:t>18/04/2026</a:t>
            </a:fld>
            <a:endParaRPr lang="vi-VN"/>
          </a:p>
        </p:txBody>
      </p:sp>
      <p:sp>
        <p:nvSpPr>
          <p:cNvPr id="4" name="Footer Placeholder 3">
            <a:extLst>
              <a:ext uri="{FF2B5EF4-FFF2-40B4-BE49-F238E27FC236}">
                <a16:creationId xmlns:a16="http://schemas.microsoft.com/office/drawing/2014/main" id="{F17276DA-7B52-1FB8-EF28-959E6D1BFC7F}"/>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098B1487-0ECA-D578-5098-C7510EEF0770}"/>
              </a:ext>
            </a:extLst>
          </p:cNvPr>
          <p:cNvSpPr>
            <a:spLocks noGrp="1"/>
          </p:cNvSpPr>
          <p:nvPr>
            <p:ph type="sldNum" sz="quarter" idx="12"/>
          </p:nvPr>
        </p:nvSpPr>
        <p:spPr/>
        <p:txBody>
          <a:bodyPr/>
          <a:lstStyle/>
          <a:p>
            <a:fld id="{5BED0315-10DD-40E3-998C-3B4D5D35B9DC}" type="slidenum">
              <a:rPr lang="vi-VN" smtClean="0"/>
              <a:t>‹#›</a:t>
            </a:fld>
            <a:endParaRPr lang="vi-VN"/>
          </a:p>
        </p:txBody>
      </p:sp>
    </p:spTree>
    <p:extLst>
      <p:ext uri="{BB962C8B-B14F-4D97-AF65-F5344CB8AC3E}">
        <p14:creationId xmlns:p14="http://schemas.microsoft.com/office/powerpoint/2010/main" val="1475297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D89A77-6204-BFC4-774D-E237AF4F13C4}"/>
              </a:ext>
            </a:extLst>
          </p:cNvPr>
          <p:cNvSpPr>
            <a:spLocks noGrp="1"/>
          </p:cNvSpPr>
          <p:nvPr>
            <p:ph type="dt" sz="half" idx="10"/>
          </p:nvPr>
        </p:nvSpPr>
        <p:spPr/>
        <p:txBody>
          <a:bodyPr/>
          <a:lstStyle/>
          <a:p>
            <a:fld id="{0950F305-54E0-4003-A186-E12D88CD7757}" type="datetime1">
              <a:rPr lang="vi-VN" smtClean="0"/>
              <a:t>18/04/2026</a:t>
            </a:fld>
            <a:endParaRPr lang="vi-VN"/>
          </a:p>
        </p:txBody>
      </p:sp>
      <p:sp>
        <p:nvSpPr>
          <p:cNvPr id="3" name="Footer Placeholder 2">
            <a:extLst>
              <a:ext uri="{FF2B5EF4-FFF2-40B4-BE49-F238E27FC236}">
                <a16:creationId xmlns:a16="http://schemas.microsoft.com/office/drawing/2014/main" id="{A24EC7EB-F2F5-98EA-BBF5-CB784B4A554E}"/>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314EB5E4-3E82-FC22-A127-D97DA786564A}"/>
              </a:ext>
            </a:extLst>
          </p:cNvPr>
          <p:cNvSpPr>
            <a:spLocks noGrp="1"/>
          </p:cNvSpPr>
          <p:nvPr>
            <p:ph type="sldNum" sz="quarter" idx="12"/>
          </p:nvPr>
        </p:nvSpPr>
        <p:spPr/>
        <p:txBody>
          <a:bodyPr/>
          <a:lstStyle/>
          <a:p>
            <a:fld id="{5BED0315-10DD-40E3-998C-3B4D5D35B9DC}" type="slidenum">
              <a:rPr lang="vi-VN" smtClean="0"/>
              <a:t>‹#›</a:t>
            </a:fld>
            <a:endParaRPr lang="vi-VN"/>
          </a:p>
        </p:txBody>
      </p:sp>
    </p:spTree>
    <p:extLst>
      <p:ext uri="{BB962C8B-B14F-4D97-AF65-F5344CB8AC3E}">
        <p14:creationId xmlns:p14="http://schemas.microsoft.com/office/powerpoint/2010/main" val="1548134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7EFA7-8283-5190-05C9-AD9E0378E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F1F0284A-019A-7C60-0D79-13BFC54967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9247C4DB-8B77-8C47-B709-484E2C6042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073CB8-ED5E-489E-34E8-8BA209E0A083}"/>
              </a:ext>
            </a:extLst>
          </p:cNvPr>
          <p:cNvSpPr>
            <a:spLocks noGrp="1"/>
          </p:cNvSpPr>
          <p:nvPr>
            <p:ph type="dt" sz="half" idx="10"/>
          </p:nvPr>
        </p:nvSpPr>
        <p:spPr/>
        <p:txBody>
          <a:bodyPr/>
          <a:lstStyle/>
          <a:p>
            <a:fld id="{E55A2D46-DF6D-4899-9521-6DB0AD854316}" type="datetime1">
              <a:rPr lang="vi-VN" smtClean="0"/>
              <a:t>18/04/2026</a:t>
            </a:fld>
            <a:endParaRPr lang="vi-VN"/>
          </a:p>
        </p:txBody>
      </p:sp>
      <p:sp>
        <p:nvSpPr>
          <p:cNvPr id="6" name="Footer Placeholder 5">
            <a:extLst>
              <a:ext uri="{FF2B5EF4-FFF2-40B4-BE49-F238E27FC236}">
                <a16:creationId xmlns:a16="http://schemas.microsoft.com/office/drawing/2014/main" id="{44D8A2E9-134B-D6F6-1B87-0A513FE87CF8}"/>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D7C73953-FC91-4D68-ECE4-6E5F68113BD3}"/>
              </a:ext>
            </a:extLst>
          </p:cNvPr>
          <p:cNvSpPr>
            <a:spLocks noGrp="1"/>
          </p:cNvSpPr>
          <p:nvPr>
            <p:ph type="sldNum" sz="quarter" idx="12"/>
          </p:nvPr>
        </p:nvSpPr>
        <p:spPr/>
        <p:txBody>
          <a:bodyPr/>
          <a:lstStyle/>
          <a:p>
            <a:fld id="{5BED0315-10DD-40E3-998C-3B4D5D35B9DC}" type="slidenum">
              <a:rPr lang="vi-VN" smtClean="0"/>
              <a:t>‹#›</a:t>
            </a:fld>
            <a:endParaRPr lang="vi-VN"/>
          </a:p>
        </p:txBody>
      </p:sp>
    </p:spTree>
    <p:extLst>
      <p:ext uri="{BB962C8B-B14F-4D97-AF65-F5344CB8AC3E}">
        <p14:creationId xmlns:p14="http://schemas.microsoft.com/office/powerpoint/2010/main" val="2596622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12295-6CF4-608C-1DC3-003083B5AC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566B0059-4BF6-9B6D-3F28-D11096BC50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993DD75B-DD67-9AAC-15DB-B630833CF5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8762BB-1B0B-8DBD-DFDD-79385A621179}"/>
              </a:ext>
            </a:extLst>
          </p:cNvPr>
          <p:cNvSpPr>
            <a:spLocks noGrp="1"/>
          </p:cNvSpPr>
          <p:nvPr>
            <p:ph type="dt" sz="half" idx="10"/>
          </p:nvPr>
        </p:nvSpPr>
        <p:spPr/>
        <p:txBody>
          <a:bodyPr/>
          <a:lstStyle/>
          <a:p>
            <a:fld id="{4C4751EE-B64B-4A13-98F7-2CFFD1B8F887}" type="datetime1">
              <a:rPr lang="vi-VN" smtClean="0"/>
              <a:t>18/04/2026</a:t>
            </a:fld>
            <a:endParaRPr lang="vi-VN"/>
          </a:p>
        </p:txBody>
      </p:sp>
      <p:sp>
        <p:nvSpPr>
          <p:cNvPr id="6" name="Footer Placeholder 5">
            <a:extLst>
              <a:ext uri="{FF2B5EF4-FFF2-40B4-BE49-F238E27FC236}">
                <a16:creationId xmlns:a16="http://schemas.microsoft.com/office/drawing/2014/main" id="{FF7E5356-F2D1-CCB8-0A97-522BCA55C269}"/>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1B9E10A3-7957-06BB-1A4A-5199C1EE6A97}"/>
              </a:ext>
            </a:extLst>
          </p:cNvPr>
          <p:cNvSpPr>
            <a:spLocks noGrp="1"/>
          </p:cNvSpPr>
          <p:nvPr>
            <p:ph type="sldNum" sz="quarter" idx="12"/>
          </p:nvPr>
        </p:nvSpPr>
        <p:spPr/>
        <p:txBody>
          <a:bodyPr/>
          <a:lstStyle/>
          <a:p>
            <a:fld id="{5BED0315-10DD-40E3-998C-3B4D5D35B9DC}" type="slidenum">
              <a:rPr lang="vi-VN" smtClean="0"/>
              <a:t>‹#›</a:t>
            </a:fld>
            <a:endParaRPr lang="vi-VN"/>
          </a:p>
        </p:txBody>
      </p:sp>
    </p:spTree>
    <p:extLst>
      <p:ext uri="{BB962C8B-B14F-4D97-AF65-F5344CB8AC3E}">
        <p14:creationId xmlns:p14="http://schemas.microsoft.com/office/powerpoint/2010/main" val="4252037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3F5B8-88BF-978D-5727-B5A400B19E91}"/>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23259E16-C40D-7E4F-96CB-F974045DEF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22EE5DCC-402C-0102-54AB-45E53F0DE7F7}"/>
              </a:ext>
            </a:extLst>
          </p:cNvPr>
          <p:cNvSpPr>
            <a:spLocks noGrp="1"/>
          </p:cNvSpPr>
          <p:nvPr>
            <p:ph type="dt" sz="half" idx="10"/>
          </p:nvPr>
        </p:nvSpPr>
        <p:spPr/>
        <p:txBody>
          <a:bodyPr/>
          <a:lstStyle/>
          <a:p>
            <a:fld id="{95A1B301-7634-4429-A24B-AE2A71ED5FD8}" type="datetime1">
              <a:rPr lang="vi-VN" smtClean="0"/>
              <a:t>18/04/2026</a:t>
            </a:fld>
            <a:endParaRPr lang="vi-VN"/>
          </a:p>
        </p:txBody>
      </p:sp>
      <p:sp>
        <p:nvSpPr>
          <p:cNvPr id="5" name="Footer Placeholder 4">
            <a:extLst>
              <a:ext uri="{FF2B5EF4-FFF2-40B4-BE49-F238E27FC236}">
                <a16:creationId xmlns:a16="http://schemas.microsoft.com/office/drawing/2014/main" id="{7E17472E-55E6-6070-154B-65F2BAFFEF10}"/>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181D25B6-EE78-7638-CF24-0B55D22649D4}"/>
              </a:ext>
            </a:extLst>
          </p:cNvPr>
          <p:cNvSpPr>
            <a:spLocks noGrp="1"/>
          </p:cNvSpPr>
          <p:nvPr>
            <p:ph type="sldNum" sz="quarter" idx="12"/>
          </p:nvPr>
        </p:nvSpPr>
        <p:spPr/>
        <p:txBody>
          <a:bodyPr/>
          <a:lstStyle/>
          <a:p>
            <a:fld id="{5BED0315-10DD-40E3-998C-3B4D5D35B9DC}" type="slidenum">
              <a:rPr lang="vi-VN" smtClean="0"/>
              <a:t>‹#›</a:t>
            </a:fld>
            <a:endParaRPr lang="vi-VN"/>
          </a:p>
        </p:txBody>
      </p:sp>
    </p:spTree>
    <p:extLst>
      <p:ext uri="{BB962C8B-B14F-4D97-AF65-F5344CB8AC3E}">
        <p14:creationId xmlns:p14="http://schemas.microsoft.com/office/powerpoint/2010/main" val="2010964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C59A61-ECA9-9FDD-CD06-019B57B4BAD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84D4B477-41FA-70EB-B2A2-9A6E9BBDB7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F2B0D5EB-A094-6A26-CD8D-099D6DEC359A}"/>
              </a:ext>
            </a:extLst>
          </p:cNvPr>
          <p:cNvSpPr>
            <a:spLocks noGrp="1"/>
          </p:cNvSpPr>
          <p:nvPr>
            <p:ph type="dt" sz="half" idx="10"/>
          </p:nvPr>
        </p:nvSpPr>
        <p:spPr/>
        <p:txBody>
          <a:bodyPr/>
          <a:lstStyle/>
          <a:p>
            <a:fld id="{75A3F520-625D-4E68-8769-E9FE76DD69CD}" type="datetime1">
              <a:rPr lang="vi-VN" smtClean="0"/>
              <a:t>18/04/2026</a:t>
            </a:fld>
            <a:endParaRPr lang="vi-VN"/>
          </a:p>
        </p:txBody>
      </p:sp>
      <p:sp>
        <p:nvSpPr>
          <p:cNvPr id="5" name="Footer Placeholder 4">
            <a:extLst>
              <a:ext uri="{FF2B5EF4-FFF2-40B4-BE49-F238E27FC236}">
                <a16:creationId xmlns:a16="http://schemas.microsoft.com/office/drawing/2014/main" id="{1071E77E-F63D-638F-2991-82E2E20E1578}"/>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4C893157-B575-6A0C-A67C-60A47D7C7F1B}"/>
              </a:ext>
            </a:extLst>
          </p:cNvPr>
          <p:cNvSpPr>
            <a:spLocks noGrp="1"/>
          </p:cNvSpPr>
          <p:nvPr>
            <p:ph type="sldNum" sz="quarter" idx="12"/>
          </p:nvPr>
        </p:nvSpPr>
        <p:spPr/>
        <p:txBody>
          <a:bodyPr/>
          <a:lstStyle/>
          <a:p>
            <a:fld id="{5BED0315-10DD-40E3-998C-3B4D5D35B9DC}" type="slidenum">
              <a:rPr lang="vi-VN" smtClean="0"/>
              <a:t>‹#›</a:t>
            </a:fld>
            <a:endParaRPr lang="vi-VN"/>
          </a:p>
        </p:txBody>
      </p:sp>
    </p:spTree>
    <p:extLst>
      <p:ext uri="{BB962C8B-B14F-4D97-AF65-F5344CB8AC3E}">
        <p14:creationId xmlns:p14="http://schemas.microsoft.com/office/powerpoint/2010/main" val="1710049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Rectangle 37"/>
          <p:cNvSpPr>
            <a:spLocks noChangeArrowheads="1"/>
          </p:cNvSpPr>
          <p:nvPr userDrawn="1"/>
        </p:nvSpPr>
        <p:spPr bwMode="auto">
          <a:xfrm flipH="1">
            <a:off x="0" y="6504058"/>
            <a:ext cx="12192000" cy="353943"/>
          </a:xfrm>
          <a:prstGeom prst="rect">
            <a:avLst/>
          </a:prstGeom>
          <a:gradFill rotWithShape="1">
            <a:gsLst>
              <a:gs pos="0">
                <a:schemeClr val="bg1"/>
              </a:gs>
              <a:gs pos="100000">
                <a:srgbClr val="FF660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lgn="r">
              <a:lnSpc>
                <a:spcPct val="180000"/>
              </a:lnSpc>
            </a:pPr>
            <a:endParaRPr lang="en-US" sz="1100" b="1" baseline="0">
              <a:solidFill>
                <a:srgbClr val="0070C0"/>
              </a:solidFill>
              <a:latin typeface="Times New Roman" pitchFamily="18" charset="0"/>
              <a:cs typeface="Times New Roman" pitchFamily="18" charset="0"/>
            </a:endParaRPr>
          </a:p>
        </p:txBody>
      </p:sp>
      <p:sp>
        <p:nvSpPr>
          <p:cNvPr id="11" name="Slide Number Placeholder 5"/>
          <p:cNvSpPr>
            <a:spLocks noGrp="1"/>
          </p:cNvSpPr>
          <p:nvPr>
            <p:ph type="sldNum" sz="quarter" idx="12"/>
          </p:nvPr>
        </p:nvSpPr>
        <p:spPr>
          <a:xfrm>
            <a:off x="9347200" y="6490540"/>
            <a:ext cx="2844800" cy="365125"/>
          </a:xfrm>
        </p:spPr>
        <p:txBody>
          <a:bodyPr/>
          <a:lstStyle>
            <a:lvl1pPr>
              <a:defRPr sz="1600" b="1">
                <a:solidFill>
                  <a:srgbClr val="002060"/>
                </a:solidFill>
              </a:defRPr>
            </a:lvl1pPr>
          </a:lstStyle>
          <a:p>
            <a:fld id="{48FE5571-560F-4DFC-BA97-61ACA5F7ADE1}" type="slidenum">
              <a:rPr lang="en-US" smtClean="0"/>
              <a:pPr/>
              <a:t>‹#›</a:t>
            </a:fld>
            <a:endParaRPr lang="en-US"/>
          </a:p>
        </p:txBody>
      </p:sp>
      <p:sp>
        <p:nvSpPr>
          <p:cNvPr id="12" name="Rectangle 11"/>
          <p:cNvSpPr>
            <a:spLocks noChangeArrowheads="1"/>
          </p:cNvSpPr>
          <p:nvPr userDrawn="1"/>
        </p:nvSpPr>
        <p:spPr bwMode="auto">
          <a:xfrm>
            <a:off x="0" y="0"/>
            <a:ext cx="12192000" cy="400302"/>
          </a:xfrm>
          <a:prstGeom prst="rect">
            <a:avLst/>
          </a:prstGeom>
          <a:gradFill rotWithShape="1">
            <a:gsLst>
              <a:gs pos="0">
                <a:schemeClr val="bg1"/>
              </a:gs>
              <a:gs pos="100000">
                <a:srgbClr val="FF660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endParaRPr lang="en-US" sz="1300" b="1" baseline="0">
              <a:solidFill>
                <a:srgbClr val="0070C0"/>
              </a:solidFill>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18410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6E070A-494E-FCA6-4992-4789AD1625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573C0A4D-C0C2-094F-CFD0-EECA2864C9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07F40766-6E68-5093-B9AD-17407E754D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CAC064-6E20-4352-B46F-3736D2750791}" type="datetime1">
              <a:rPr lang="vi-VN" smtClean="0"/>
              <a:t>18/04/2026</a:t>
            </a:fld>
            <a:endParaRPr lang="vi-VN"/>
          </a:p>
        </p:txBody>
      </p:sp>
      <p:sp>
        <p:nvSpPr>
          <p:cNvPr id="5" name="Footer Placeholder 4">
            <a:extLst>
              <a:ext uri="{FF2B5EF4-FFF2-40B4-BE49-F238E27FC236}">
                <a16:creationId xmlns:a16="http://schemas.microsoft.com/office/drawing/2014/main" id="{7F05E157-71F5-FAF6-28EF-844E16F889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a:extLst>
              <a:ext uri="{FF2B5EF4-FFF2-40B4-BE49-F238E27FC236}">
                <a16:creationId xmlns:a16="http://schemas.microsoft.com/office/drawing/2014/main" id="{567BA663-9461-C85A-F346-2DA77E8F30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ED0315-10DD-40E3-998C-3B4D5D35B9DC}" type="slidenum">
              <a:rPr lang="vi-VN" smtClean="0"/>
              <a:t>‹#›</a:t>
            </a:fld>
            <a:endParaRPr lang="vi-VN"/>
          </a:p>
        </p:txBody>
      </p:sp>
    </p:spTree>
    <p:extLst>
      <p:ext uri="{BB962C8B-B14F-4D97-AF65-F5344CB8AC3E}">
        <p14:creationId xmlns:p14="http://schemas.microsoft.com/office/powerpoint/2010/main" val="3702472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7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4787A-89F2-2A0E-1C05-2583C8D801FE}"/>
            </a:ext>
          </a:extLst>
        </p:cNvPr>
        <p:cNvGrpSpPr/>
        <p:nvPr/>
      </p:nvGrpSpPr>
      <p:grpSpPr>
        <a:xfrm>
          <a:off x="0" y="0"/>
          <a:ext cx="0" cy="0"/>
          <a:chOff x="0" y="0"/>
          <a:chExt cx="0" cy="0"/>
        </a:xfrm>
      </p:grpSpPr>
      <p:sp>
        <p:nvSpPr>
          <p:cNvPr id="107" name="Title 1">
            <a:extLst>
              <a:ext uri="{FF2B5EF4-FFF2-40B4-BE49-F238E27FC236}">
                <a16:creationId xmlns:a16="http://schemas.microsoft.com/office/drawing/2014/main" id="{4590E87A-A9EC-3FD7-ACB6-08547F05539A}"/>
              </a:ext>
            </a:extLst>
          </p:cNvPr>
          <p:cNvSpPr txBox="1">
            <a:spLocks/>
          </p:cNvSpPr>
          <p:nvPr/>
        </p:nvSpPr>
        <p:spPr bwMode="auto">
          <a:xfrm>
            <a:off x="1729509" y="15240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vi-VN" kern="0">
                <a:solidFill>
                  <a:srgbClr val="002060"/>
                </a:solidFill>
                <a:latin typeface="Cambria" panose="02040503050406030204" pitchFamily="18" charset="0"/>
              </a:rPr>
              <a:t>LẬP TRÌNH JAVA</a:t>
            </a:r>
            <a:endParaRPr lang="en-US" kern="0">
              <a:solidFill>
                <a:srgbClr val="002060"/>
              </a:solidFill>
              <a:latin typeface="Cambria" panose="02040503050406030204" pitchFamily="18" charset="0"/>
            </a:endParaRPr>
          </a:p>
        </p:txBody>
      </p:sp>
      <p:pic>
        <p:nvPicPr>
          <p:cNvPr id="3" name="Picture 2" descr="Image result for java.png">
            <a:extLst>
              <a:ext uri="{FF2B5EF4-FFF2-40B4-BE49-F238E27FC236}">
                <a16:creationId xmlns:a16="http://schemas.microsoft.com/office/drawing/2014/main" id="{641F9E0D-364D-18FC-7922-9B999F87A0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219200" y="3429000"/>
            <a:ext cx="1371600" cy="243840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19C305FB-5F40-A517-DED5-F46A02B6A316}"/>
              </a:ext>
            </a:extLst>
          </p:cNvPr>
          <p:cNvSpPr txBox="1">
            <a:spLocks/>
          </p:cNvSpPr>
          <p:nvPr/>
        </p:nvSpPr>
        <p:spPr bwMode="auto">
          <a:xfrm>
            <a:off x="6096000" y="5334000"/>
            <a:ext cx="6172200" cy="357678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lvl="0" indent="0" algn="just">
              <a:buClr>
                <a:srgbClr val="3DC5C5"/>
              </a:buClr>
              <a:buNone/>
              <a:defRPr/>
            </a:pPr>
            <a:r>
              <a:rPr lang="vi-VN" kern="0">
                <a:solidFill>
                  <a:srgbClr val="002060"/>
                </a:solidFill>
                <a:latin typeface="Cambria" panose="02040503050406030204" pitchFamily="18" charset="0"/>
              </a:rPr>
              <a:t>Giảng viên: ThS Huỳnh Vĩnh Phát</a:t>
            </a:r>
          </a:p>
          <a:p>
            <a:pPr marL="0" lvl="0" indent="0" algn="just">
              <a:buClr>
                <a:srgbClr val="3DC5C5"/>
              </a:buClr>
              <a:buNone/>
              <a:defRPr/>
            </a:pPr>
            <a:r>
              <a:rPr lang="vi-VN" kern="0">
                <a:solidFill>
                  <a:srgbClr val="002060"/>
                </a:solidFill>
                <a:latin typeface="Cambria" panose="02040503050406030204" pitchFamily="18" charset="0"/>
              </a:rPr>
              <a:t>Biên soạn: TS Trần Duy Thanh</a:t>
            </a:r>
            <a:endParaRPr lang="en-US" kern="0" dirty="0">
              <a:solidFill>
                <a:srgbClr val="002060"/>
              </a:solidFill>
              <a:latin typeface="Cambria" panose="02040503050406030204" pitchFamily="18" charset="0"/>
            </a:endParaRPr>
          </a:p>
        </p:txBody>
      </p:sp>
      <p:sp>
        <p:nvSpPr>
          <p:cNvPr id="2" name="Slide Number Placeholder 1">
            <a:extLst>
              <a:ext uri="{FF2B5EF4-FFF2-40B4-BE49-F238E27FC236}">
                <a16:creationId xmlns:a16="http://schemas.microsoft.com/office/drawing/2014/main" id="{9781F895-E42D-DF67-FBB3-23B7EDA825A5}"/>
              </a:ext>
            </a:extLst>
          </p:cNvPr>
          <p:cNvSpPr>
            <a:spLocks noGrp="1"/>
          </p:cNvSpPr>
          <p:nvPr>
            <p:ph type="sldNum" sz="quarter" idx="12"/>
          </p:nvPr>
        </p:nvSpPr>
        <p:spPr/>
        <p:txBody>
          <a:bodyPr/>
          <a:lstStyle/>
          <a:p>
            <a:fld id="{48FE5571-560F-4DFC-BA97-61ACA5F7ADE1}" type="slidenum">
              <a:rPr lang="en-US" smtClean="0"/>
              <a:pPr/>
              <a:t>1</a:t>
            </a:fld>
            <a:endParaRPr lang="en-US"/>
          </a:p>
        </p:txBody>
      </p:sp>
    </p:spTree>
    <p:extLst>
      <p:ext uri="{BB962C8B-B14F-4D97-AF65-F5344CB8AC3E}">
        <p14:creationId xmlns:p14="http://schemas.microsoft.com/office/powerpoint/2010/main" val="4215983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vi-VN" kern="0">
                <a:solidFill>
                  <a:srgbClr val="002060"/>
                </a:solidFill>
                <a:latin typeface="Cambria" panose="02040503050406030204" pitchFamily="18" charset="0"/>
              </a:rPr>
              <a:t>Kiểu dữ liệu trong Java</a:t>
            </a:r>
            <a:endParaRPr lang="en-US" kern="0">
              <a:solidFill>
                <a:srgbClr val="002060"/>
              </a:solidFill>
              <a:latin typeface="Cambria" panose="02040503050406030204" pitchFamily="18" charset="0"/>
            </a:endParaRP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DA62FC1-5EFA-9A91-C807-1A5E957CA616}"/>
              </a:ext>
            </a:extLst>
          </p:cNvPr>
          <p:cNvSpPr>
            <a:spLocks noGrp="1"/>
          </p:cNvSpPr>
          <p:nvPr>
            <p:ph type="sldNum" sz="quarter" idx="12"/>
          </p:nvPr>
        </p:nvSpPr>
        <p:spPr/>
        <p:txBody>
          <a:bodyPr/>
          <a:lstStyle/>
          <a:p>
            <a:fld id="{48FE5571-560F-4DFC-BA97-61ACA5F7ADE1}" type="slidenum">
              <a:rPr lang="en-US" smtClean="0"/>
              <a:pPr/>
              <a:t>2</a:t>
            </a:fld>
            <a:endParaRPr lang="en-US"/>
          </a:p>
        </p:txBody>
      </p:sp>
    </p:spTree>
    <p:extLst>
      <p:ext uri="{BB962C8B-B14F-4D97-AF65-F5344CB8AC3E}">
        <p14:creationId xmlns:p14="http://schemas.microsoft.com/office/powerpoint/2010/main" val="1381459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Các kiểu dữ liệu cơ sở</a:t>
            </a:r>
          </a:p>
          <a:p>
            <a:pPr lvl="0" algn="just">
              <a:buClr>
                <a:srgbClr val="3DC5C5"/>
              </a:buClr>
              <a:defRPr/>
            </a:pPr>
            <a:r>
              <a:rPr lang="en-US" kern="0">
                <a:solidFill>
                  <a:srgbClr val="002060"/>
                </a:solidFill>
                <a:latin typeface="Cambria" panose="02040503050406030204" pitchFamily="18" charset="0"/>
              </a:rPr>
              <a:t>Wrapper Class</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D0AB37FD-6ED9-6193-4C89-A52B1E2A8000}"/>
              </a:ext>
            </a:extLst>
          </p:cNvPr>
          <p:cNvSpPr>
            <a:spLocks noGrp="1"/>
          </p:cNvSpPr>
          <p:nvPr>
            <p:ph type="sldNum" sz="quarter" idx="12"/>
          </p:nvPr>
        </p:nvSpPr>
        <p:spPr/>
        <p:txBody>
          <a:bodyPr/>
          <a:lstStyle/>
          <a:p>
            <a:fld id="{48FE5571-560F-4DFC-BA97-61ACA5F7ADE1}" type="slidenum">
              <a:rPr lang="en-US" smtClean="0"/>
              <a:pPr/>
              <a:t>3</a:t>
            </a:fld>
            <a:endParaRPr lang="en-US"/>
          </a:p>
        </p:txBody>
      </p:sp>
    </p:spTree>
    <p:extLst>
      <p:ext uri="{BB962C8B-B14F-4D97-AF65-F5344CB8AC3E}">
        <p14:creationId xmlns:p14="http://schemas.microsoft.com/office/powerpoint/2010/main" val="3162248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Các kiểu dữ liệu cơ sở</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9" name="Picture 1"/>
          <p:cNvPicPr>
            <a:picLocks noChangeAspect="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2063750" y="1412876"/>
            <a:ext cx="7924800" cy="507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a:xfrm>
            <a:off x="7924800" y="1066800"/>
            <a:ext cx="2560316" cy="523220"/>
          </a:xfrm>
          <a:prstGeom prst="rect">
            <a:avLst/>
          </a:prstGeom>
          <a:noFill/>
        </p:spPr>
        <p:txBody>
          <a:bodyPr wrap="none" rtlCol="0">
            <a:spAutoFit/>
          </a:bodyPr>
          <a:lstStyle/>
          <a:p>
            <a:r>
              <a:rPr lang="en-US" sz="2800" b="1"/>
              <a:t>4 nhóm – 8 kiểu</a:t>
            </a:r>
          </a:p>
        </p:txBody>
      </p:sp>
      <p:sp>
        <p:nvSpPr>
          <p:cNvPr id="8" name="Slide Number Placeholder 7">
            <a:extLst>
              <a:ext uri="{FF2B5EF4-FFF2-40B4-BE49-F238E27FC236}">
                <a16:creationId xmlns:a16="http://schemas.microsoft.com/office/drawing/2014/main" id="{D43F90D4-A16D-F1A4-CB87-2716A2768F68}"/>
              </a:ext>
            </a:extLst>
          </p:cNvPr>
          <p:cNvSpPr>
            <a:spLocks noGrp="1"/>
          </p:cNvSpPr>
          <p:nvPr>
            <p:ph type="sldNum" sz="quarter" idx="12"/>
          </p:nvPr>
        </p:nvSpPr>
        <p:spPr/>
        <p:txBody>
          <a:bodyPr/>
          <a:lstStyle/>
          <a:p>
            <a:fld id="{48FE5571-560F-4DFC-BA97-61ACA5F7ADE1}" type="slidenum">
              <a:rPr lang="en-US" smtClean="0"/>
              <a:pPr/>
              <a:t>4</a:t>
            </a:fld>
            <a:endParaRPr lang="en-US"/>
          </a:p>
        </p:txBody>
      </p:sp>
    </p:spTree>
    <p:extLst>
      <p:ext uri="{BB962C8B-B14F-4D97-AF65-F5344CB8AC3E}">
        <p14:creationId xmlns:p14="http://schemas.microsoft.com/office/powerpoint/2010/main" val="1476271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Wrapper Class</a:t>
              </a:r>
              <a:endParaRPr lang="en-US" sz="4000" b="1" kern="0" dirty="0">
                <a:solidFill>
                  <a:srgbClr val="00206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9" name="Table 8"/>
          <p:cNvGraphicFramePr>
            <a:graphicFrameLocks noGrp="1"/>
          </p:cNvGraphicFramePr>
          <p:nvPr/>
        </p:nvGraphicFramePr>
        <p:xfrm>
          <a:off x="2130014" y="1219200"/>
          <a:ext cx="8176030" cy="4663440"/>
        </p:xfrm>
        <a:graphic>
          <a:graphicData uri="http://schemas.openxmlformats.org/drawingml/2006/table">
            <a:tbl>
              <a:tblPr firstRow="1" bandRow="1">
                <a:tableStyleId>{5C22544A-7EE6-4342-B048-85BDC9FD1C3A}</a:tableStyleId>
              </a:tblPr>
              <a:tblGrid>
                <a:gridCol w="3223031">
                  <a:extLst>
                    <a:ext uri="{9D8B030D-6E8A-4147-A177-3AD203B41FA5}">
                      <a16:colId xmlns:a16="http://schemas.microsoft.com/office/drawing/2014/main" val="20000"/>
                    </a:ext>
                  </a:extLst>
                </a:gridCol>
                <a:gridCol w="4952999">
                  <a:extLst>
                    <a:ext uri="{9D8B030D-6E8A-4147-A177-3AD203B41FA5}">
                      <a16:colId xmlns:a16="http://schemas.microsoft.com/office/drawing/2014/main" val="20001"/>
                    </a:ext>
                  </a:extLst>
                </a:gridCol>
              </a:tblGrid>
              <a:tr h="518160">
                <a:tc>
                  <a:txBody>
                    <a:bodyPr/>
                    <a:lstStyle/>
                    <a:p>
                      <a:r>
                        <a:rPr lang="en-US" sz="2800">
                          <a:solidFill>
                            <a:srgbClr val="002060"/>
                          </a:solidFill>
                        </a:rPr>
                        <a:t>Kiểu</a:t>
                      </a:r>
                      <a:r>
                        <a:rPr lang="en-US" sz="2800" baseline="0">
                          <a:solidFill>
                            <a:srgbClr val="002060"/>
                          </a:solidFill>
                        </a:rPr>
                        <a:t> cơ sở</a:t>
                      </a:r>
                      <a:endParaRPr lang="en-US" sz="280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800">
                          <a:solidFill>
                            <a:srgbClr val="002060"/>
                          </a:solidFill>
                        </a:rPr>
                        <a:t>Wrapper</a:t>
                      </a:r>
                      <a:r>
                        <a:rPr lang="en-US" sz="2800" baseline="0">
                          <a:solidFill>
                            <a:srgbClr val="002060"/>
                          </a:solidFill>
                        </a:rPr>
                        <a:t> class</a:t>
                      </a:r>
                      <a:endParaRPr lang="en-US" sz="280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r>
                        <a:rPr lang="en-US" sz="2800">
                          <a:solidFill>
                            <a:srgbClr val="002060"/>
                          </a:solidFill>
                        </a:rPr>
                        <a:t>boolean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b="1">
                          <a:solidFill>
                            <a:srgbClr val="002060"/>
                          </a:solidFill>
                        </a:rPr>
                        <a:t>B</a:t>
                      </a:r>
                      <a:r>
                        <a:rPr lang="en-US" sz="2800">
                          <a:solidFill>
                            <a:srgbClr val="002060"/>
                          </a:solidFill>
                        </a:rPr>
                        <a:t>oolean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US" sz="2800">
                          <a:solidFill>
                            <a:srgbClr val="002060"/>
                          </a:solidFill>
                        </a:rPr>
                        <a:t>char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a:solidFill>
                            <a:srgbClr val="002060"/>
                          </a:solidFill>
                        </a:rPr>
                        <a:t>Character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US" sz="2800">
                          <a:solidFill>
                            <a:srgbClr val="002060"/>
                          </a:solidFill>
                        </a:rPr>
                        <a:t>byte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b="1">
                          <a:solidFill>
                            <a:srgbClr val="002060"/>
                          </a:solidFill>
                        </a:rPr>
                        <a:t>B</a:t>
                      </a:r>
                      <a:r>
                        <a:rPr lang="en-US" sz="2800">
                          <a:solidFill>
                            <a:srgbClr val="002060"/>
                          </a:solidFill>
                        </a:rPr>
                        <a:t>yte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r>
                        <a:rPr lang="en-US" sz="2800">
                          <a:solidFill>
                            <a:srgbClr val="002060"/>
                          </a:solidFill>
                        </a:rPr>
                        <a:t>short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b="1">
                          <a:solidFill>
                            <a:srgbClr val="002060"/>
                          </a:solidFill>
                        </a:rPr>
                        <a:t>S</a:t>
                      </a:r>
                      <a:r>
                        <a:rPr lang="en-US" sz="2800">
                          <a:solidFill>
                            <a:srgbClr val="002060"/>
                          </a:solidFill>
                        </a:rPr>
                        <a:t>hort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r>
                        <a:rPr lang="en-US" sz="2800">
                          <a:solidFill>
                            <a:srgbClr val="002060"/>
                          </a:solidFill>
                        </a:rPr>
                        <a:t>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a:solidFill>
                            <a:srgbClr val="002060"/>
                          </a:solidFill>
                        </a:rPr>
                        <a:t>Integer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r>
                        <a:rPr lang="en-US" sz="2800">
                          <a:solidFill>
                            <a:srgbClr val="002060"/>
                          </a:solidFill>
                        </a:rPr>
                        <a:t>long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b="1">
                          <a:solidFill>
                            <a:srgbClr val="002060"/>
                          </a:solidFill>
                        </a:rPr>
                        <a:t>L</a:t>
                      </a:r>
                      <a:r>
                        <a:rPr lang="en-US" sz="2800">
                          <a:solidFill>
                            <a:srgbClr val="002060"/>
                          </a:solidFill>
                        </a:rPr>
                        <a:t>ong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r>
                        <a:rPr lang="en-US" sz="2800">
                          <a:solidFill>
                            <a:srgbClr val="002060"/>
                          </a:solidFill>
                        </a:rPr>
                        <a:t>float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b="1">
                          <a:solidFill>
                            <a:srgbClr val="002060"/>
                          </a:solidFill>
                        </a:rPr>
                        <a:t>F</a:t>
                      </a:r>
                      <a:r>
                        <a:rPr lang="en-US" sz="2800">
                          <a:solidFill>
                            <a:srgbClr val="002060"/>
                          </a:solidFill>
                        </a:rPr>
                        <a:t>loat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70840">
                <a:tc>
                  <a:txBody>
                    <a:bodyPr/>
                    <a:lstStyle/>
                    <a:p>
                      <a:r>
                        <a:rPr lang="en-US" sz="2800">
                          <a:solidFill>
                            <a:srgbClr val="002060"/>
                          </a:solidFill>
                        </a:rPr>
                        <a:t>double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b="1">
                          <a:solidFill>
                            <a:srgbClr val="002060"/>
                          </a:solidFill>
                        </a:rPr>
                        <a:t>D</a:t>
                      </a:r>
                      <a:r>
                        <a:rPr lang="en-US" sz="2800">
                          <a:solidFill>
                            <a:srgbClr val="002060"/>
                          </a:solidFill>
                        </a:rPr>
                        <a:t>ouble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10" name="TextBox 9"/>
          <p:cNvSpPr txBox="1"/>
          <p:nvPr/>
        </p:nvSpPr>
        <p:spPr>
          <a:xfrm>
            <a:off x="1994520" y="5943600"/>
            <a:ext cx="8425255" cy="523220"/>
          </a:xfrm>
          <a:prstGeom prst="rect">
            <a:avLst/>
          </a:prstGeom>
          <a:noFill/>
        </p:spPr>
        <p:txBody>
          <a:bodyPr wrap="none" rtlCol="0">
            <a:spAutoFit/>
          </a:bodyPr>
          <a:lstStyle/>
          <a:p>
            <a:r>
              <a:rPr lang="en-US" sz="2800">
                <a:latin typeface="Cambria" panose="02040503050406030204" pitchFamily="18" charset="0"/>
              </a:rPr>
              <a:t>Wrapper class rất hữu ích, hỗ trợ tối đa cho kiểu cơ sở</a:t>
            </a:r>
          </a:p>
        </p:txBody>
      </p:sp>
      <p:sp>
        <p:nvSpPr>
          <p:cNvPr id="8" name="Slide Number Placeholder 7">
            <a:extLst>
              <a:ext uri="{FF2B5EF4-FFF2-40B4-BE49-F238E27FC236}">
                <a16:creationId xmlns:a16="http://schemas.microsoft.com/office/drawing/2014/main" id="{2BD626AD-A754-C570-315C-8044189FFFED}"/>
              </a:ext>
            </a:extLst>
          </p:cNvPr>
          <p:cNvSpPr>
            <a:spLocks noGrp="1"/>
          </p:cNvSpPr>
          <p:nvPr>
            <p:ph type="sldNum" sz="quarter" idx="12"/>
          </p:nvPr>
        </p:nvSpPr>
        <p:spPr/>
        <p:txBody>
          <a:bodyPr/>
          <a:lstStyle/>
          <a:p>
            <a:fld id="{48FE5571-560F-4DFC-BA97-61ACA5F7ADE1}" type="slidenum">
              <a:rPr lang="en-US" smtClean="0"/>
              <a:pPr/>
              <a:t>5</a:t>
            </a:fld>
            <a:endParaRPr lang="en-US"/>
          </a:p>
        </p:txBody>
      </p:sp>
    </p:spTree>
    <p:extLst>
      <p:ext uri="{BB962C8B-B14F-4D97-AF65-F5344CB8AC3E}">
        <p14:creationId xmlns:p14="http://schemas.microsoft.com/office/powerpoint/2010/main" val="1427016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Wrapper Class</a:t>
              </a:r>
              <a:endParaRPr lang="en-US" sz="4000" b="1" kern="0" dirty="0">
                <a:solidFill>
                  <a:srgbClr val="00206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p:cNvSpPr txBox="1"/>
          <p:nvPr/>
        </p:nvSpPr>
        <p:spPr>
          <a:xfrm>
            <a:off x="2029777" y="1094538"/>
            <a:ext cx="8638224" cy="954107"/>
          </a:xfrm>
          <a:prstGeom prst="rect">
            <a:avLst/>
          </a:prstGeom>
          <a:noFill/>
        </p:spPr>
        <p:txBody>
          <a:bodyPr wrap="square" rtlCol="0">
            <a:spAutoFit/>
          </a:bodyPr>
          <a:lstStyle/>
          <a:p>
            <a:pPr marL="457200" indent="-457200">
              <a:buFont typeface="Wingdings" panose="05000000000000000000" pitchFamily="2" charset="2"/>
              <a:buChar char="v"/>
            </a:pPr>
            <a:r>
              <a:rPr lang="en-US" sz="2800">
                <a:latin typeface="Cambria" panose="02040503050406030204" pitchFamily="18" charset="0"/>
              </a:rPr>
              <a:t>Kiểm tra khả năng lưu trữ tối đa – tối thiếu của các kiểu cơ sở</a:t>
            </a:r>
          </a:p>
        </p:txBody>
      </p:sp>
      <p:sp>
        <p:nvSpPr>
          <p:cNvPr id="8" name="Rectangle 7"/>
          <p:cNvSpPr/>
          <p:nvPr/>
        </p:nvSpPr>
        <p:spPr>
          <a:xfrm>
            <a:off x="2286000" y="2133248"/>
            <a:ext cx="8153400" cy="1200329"/>
          </a:xfrm>
          <a:prstGeom prst="rect">
            <a:avLst/>
          </a:prstGeom>
        </p:spPr>
        <p:txBody>
          <a:bodyPr wrap="square">
            <a:spAutoFit/>
          </a:bodyPr>
          <a:lstStyle/>
          <a:p>
            <a:r>
              <a:rPr lang="en-US">
                <a:solidFill>
                  <a:srgbClr val="000000"/>
                </a:solidFill>
                <a:latin typeface="Courier New" panose="02070309020205020404" pitchFamily="49" charset="0"/>
              </a:rPr>
              <a:t>System.</a:t>
            </a:r>
            <a:r>
              <a:rPr lang="en-US" i="1">
                <a:solidFill>
                  <a:srgbClr val="0000C0"/>
                </a:solidFill>
                <a:latin typeface="Courier New" panose="02070309020205020404" pitchFamily="49" charset="0"/>
              </a:rPr>
              <a:t>out</a:t>
            </a:r>
            <a:r>
              <a:rPr lang="en-US" i="1">
                <a:solidFill>
                  <a:srgbClr val="000000"/>
                </a:solidFill>
                <a:latin typeface="Courier New" panose="02070309020205020404" pitchFamily="49" charset="0"/>
              </a:rPr>
              <a:t>.println(</a:t>
            </a:r>
            <a:r>
              <a:rPr lang="en-US" i="1">
                <a:solidFill>
                  <a:srgbClr val="2A00FF"/>
                </a:solidFill>
                <a:latin typeface="Courier New" panose="02070309020205020404" pitchFamily="49" charset="0"/>
              </a:rPr>
              <a:t>"Min của int ="</a:t>
            </a:r>
            <a:r>
              <a:rPr lang="en-US" i="1">
                <a:solidFill>
                  <a:srgbClr val="000000"/>
                </a:solidFill>
                <a:latin typeface="Courier New" panose="02070309020205020404" pitchFamily="49" charset="0"/>
              </a:rPr>
              <a:t>+Integer.</a:t>
            </a:r>
            <a:r>
              <a:rPr lang="en-US" i="1">
                <a:solidFill>
                  <a:srgbClr val="0000C0"/>
                </a:solidFill>
                <a:latin typeface="Courier New" panose="02070309020205020404" pitchFamily="49" charset="0"/>
              </a:rPr>
              <a:t>MIN_VALUE</a:t>
            </a:r>
            <a:r>
              <a:rPr lang="en-US" i="1">
                <a:solidFill>
                  <a:srgbClr val="000000"/>
                </a:solidFill>
                <a:latin typeface="Courier New" panose="02070309020205020404" pitchFamily="49" charset="0"/>
              </a:rPr>
              <a:t>);</a:t>
            </a:r>
          </a:p>
          <a:p>
            <a:r>
              <a:rPr lang="en-US">
                <a:solidFill>
                  <a:srgbClr val="000000"/>
                </a:solidFill>
                <a:latin typeface="Courier New" panose="02070309020205020404" pitchFamily="49" charset="0"/>
              </a:rPr>
              <a:t>System.</a:t>
            </a:r>
            <a:r>
              <a:rPr lang="en-US" i="1">
                <a:solidFill>
                  <a:srgbClr val="0000C0"/>
                </a:solidFill>
                <a:latin typeface="Courier New" panose="02070309020205020404" pitchFamily="49" charset="0"/>
              </a:rPr>
              <a:t>out</a:t>
            </a:r>
            <a:r>
              <a:rPr lang="en-US" i="1">
                <a:solidFill>
                  <a:srgbClr val="000000"/>
                </a:solidFill>
                <a:latin typeface="Courier New" panose="02070309020205020404" pitchFamily="49" charset="0"/>
              </a:rPr>
              <a:t>.println(</a:t>
            </a:r>
            <a:r>
              <a:rPr lang="en-US" i="1">
                <a:solidFill>
                  <a:srgbClr val="2A00FF"/>
                </a:solidFill>
                <a:latin typeface="Courier New" panose="02070309020205020404" pitchFamily="49" charset="0"/>
              </a:rPr>
              <a:t>"Max của int ="</a:t>
            </a:r>
            <a:r>
              <a:rPr lang="en-US" i="1">
                <a:solidFill>
                  <a:srgbClr val="000000"/>
                </a:solidFill>
                <a:latin typeface="Courier New" panose="02070309020205020404" pitchFamily="49" charset="0"/>
              </a:rPr>
              <a:t>+Integer.</a:t>
            </a:r>
            <a:r>
              <a:rPr lang="en-US" i="1">
                <a:solidFill>
                  <a:srgbClr val="0000C0"/>
                </a:solidFill>
                <a:latin typeface="Courier New" panose="02070309020205020404" pitchFamily="49" charset="0"/>
              </a:rPr>
              <a:t>MAX_VALUE</a:t>
            </a:r>
            <a:r>
              <a:rPr lang="en-US" i="1">
                <a:solidFill>
                  <a:srgbClr val="000000"/>
                </a:solidFill>
                <a:latin typeface="Courier New" panose="02070309020205020404" pitchFamily="49" charset="0"/>
              </a:rPr>
              <a:t>);</a:t>
            </a:r>
          </a:p>
          <a:p>
            <a:r>
              <a:rPr lang="en-US">
                <a:solidFill>
                  <a:srgbClr val="000000"/>
                </a:solidFill>
                <a:latin typeface="Courier New" panose="02070309020205020404" pitchFamily="49" charset="0"/>
              </a:rPr>
              <a:t>System.</a:t>
            </a:r>
            <a:r>
              <a:rPr lang="en-US" i="1">
                <a:solidFill>
                  <a:srgbClr val="0000C0"/>
                </a:solidFill>
                <a:latin typeface="Courier New" panose="02070309020205020404" pitchFamily="49" charset="0"/>
              </a:rPr>
              <a:t>out</a:t>
            </a:r>
            <a:r>
              <a:rPr lang="en-US" i="1">
                <a:solidFill>
                  <a:srgbClr val="000000"/>
                </a:solidFill>
                <a:latin typeface="Courier New" panose="02070309020205020404" pitchFamily="49" charset="0"/>
              </a:rPr>
              <a:t>.println(</a:t>
            </a:r>
            <a:r>
              <a:rPr lang="en-US" i="1">
                <a:solidFill>
                  <a:srgbClr val="2A00FF"/>
                </a:solidFill>
                <a:latin typeface="Courier New" panose="02070309020205020404" pitchFamily="49" charset="0"/>
              </a:rPr>
              <a:t>"Min của double ="</a:t>
            </a:r>
            <a:r>
              <a:rPr lang="en-US" i="1">
                <a:solidFill>
                  <a:srgbClr val="000000"/>
                </a:solidFill>
                <a:latin typeface="Courier New" panose="02070309020205020404" pitchFamily="49" charset="0"/>
              </a:rPr>
              <a:t>+Double.</a:t>
            </a:r>
            <a:r>
              <a:rPr lang="en-US" i="1">
                <a:solidFill>
                  <a:srgbClr val="0000C0"/>
                </a:solidFill>
                <a:latin typeface="Courier New" panose="02070309020205020404" pitchFamily="49" charset="0"/>
              </a:rPr>
              <a:t>MIN_VALUE</a:t>
            </a:r>
            <a:r>
              <a:rPr lang="en-US" i="1">
                <a:solidFill>
                  <a:srgbClr val="000000"/>
                </a:solidFill>
                <a:latin typeface="Courier New" panose="02070309020205020404" pitchFamily="49" charset="0"/>
              </a:rPr>
              <a:t>);</a:t>
            </a:r>
          </a:p>
          <a:p>
            <a:r>
              <a:rPr lang="en-US">
                <a:solidFill>
                  <a:srgbClr val="000000"/>
                </a:solidFill>
                <a:latin typeface="Courier New" panose="02070309020205020404" pitchFamily="49" charset="0"/>
              </a:rPr>
              <a:t>System.</a:t>
            </a:r>
            <a:r>
              <a:rPr lang="en-US" i="1">
                <a:solidFill>
                  <a:srgbClr val="0000C0"/>
                </a:solidFill>
                <a:latin typeface="Courier New" panose="02070309020205020404" pitchFamily="49" charset="0"/>
              </a:rPr>
              <a:t>out</a:t>
            </a:r>
            <a:r>
              <a:rPr lang="en-US" i="1">
                <a:solidFill>
                  <a:srgbClr val="000000"/>
                </a:solidFill>
                <a:latin typeface="Courier New" panose="02070309020205020404" pitchFamily="49" charset="0"/>
              </a:rPr>
              <a:t>.println(</a:t>
            </a:r>
            <a:r>
              <a:rPr lang="en-US" i="1">
                <a:solidFill>
                  <a:srgbClr val="2A00FF"/>
                </a:solidFill>
                <a:latin typeface="Courier New" panose="02070309020205020404" pitchFamily="49" charset="0"/>
              </a:rPr>
              <a:t>"Max của double ="</a:t>
            </a:r>
            <a:r>
              <a:rPr lang="en-US" i="1">
                <a:solidFill>
                  <a:srgbClr val="000000"/>
                </a:solidFill>
                <a:latin typeface="Courier New" panose="02070309020205020404" pitchFamily="49" charset="0"/>
              </a:rPr>
              <a:t>+Double.</a:t>
            </a:r>
            <a:r>
              <a:rPr lang="en-US" i="1">
                <a:solidFill>
                  <a:srgbClr val="0000C0"/>
                </a:solidFill>
                <a:latin typeface="Courier New" panose="02070309020205020404" pitchFamily="49" charset="0"/>
              </a:rPr>
              <a:t>MAX_VALUE</a:t>
            </a:r>
            <a:r>
              <a:rPr lang="en-US" i="1">
                <a:solidFill>
                  <a:srgbClr val="000000"/>
                </a:solidFill>
                <a:latin typeface="Courier New" panose="02070309020205020404" pitchFamily="49" charset="0"/>
              </a:rPr>
              <a:t>);</a:t>
            </a:r>
            <a:endParaRPr lang="en-US"/>
          </a:p>
        </p:txBody>
      </p:sp>
      <p:sp>
        <p:nvSpPr>
          <p:cNvPr id="9" name="Slide Number Placeholder 8">
            <a:extLst>
              <a:ext uri="{FF2B5EF4-FFF2-40B4-BE49-F238E27FC236}">
                <a16:creationId xmlns:a16="http://schemas.microsoft.com/office/drawing/2014/main" id="{0CF9C1F8-98DA-339F-8598-86E36E373083}"/>
              </a:ext>
            </a:extLst>
          </p:cNvPr>
          <p:cNvSpPr>
            <a:spLocks noGrp="1"/>
          </p:cNvSpPr>
          <p:nvPr>
            <p:ph type="sldNum" sz="quarter" idx="12"/>
          </p:nvPr>
        </p:nvSpPr>
        <p:spPr/>
        <p:txBody>
          <a:bodyPr/>
          <a:lstStyle/>
          <a:p>
            <a:fld id="{48FE5571-560F-4DFC-BA97-61ACA5F7ADE1}" type="slidenum">
              <a:rPr lang="en-US" smtClean="0"/>
              <a:pPr/>
              <a:t>6</a:t>
            </a:fld>
            <a:endParaRPr lang="en-US"/>
          </a:p>
        </p:txBody>
      </p:sp>
    </p:spTree>
    <p:extLst>
      <p:ext uri="{BB962C8B-B14F-4D97-AF65-F5344CB8AC3E}">
        <p14:creationId xmlns:p14="http://schemas.microsoft.com/office/powerpoint/2010/main" val="558699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vi-VN" kern="0">
                <a:solidFill>
                  <a:srgbClr val="002060"/>
                </a:solidFill>
                <a:latin typeface="Cambria" panose="02040503050406030204" pitchFamily="18" charset="0"/>
              </a:rPr>
              <a:t>Ép kiểu dữ liệu trong Java</a:t>
            </a:r>
            <a:endParaRPr lang="en-US" kern="0">
              <a:solidFill>
                <a:srgbClr val="002060"/>
              </a:solidFill>
              <a:latin typeface="Cambria" panose="02040503050406030204" pitchFamily="18" charset="0"/>
            </a:endParaRP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C6D99781-479B-7A23-6670-6F6701D58E8D}"/>
              </a:ext>
            </a:extLst>
          </p:cNvPr>
          <p:cNvSpPr>
            <a:spLocks noGrp="1"/>
          </p:cNvSpPr>
          <p:nvPr>
            <p:ph type="sldNum" sz="quarter" idx="12"/>
          </p:nvPr>
        </p:nvSpPr>
        <p:spPr/>
        <p:txBody>
          <a:bodyPr/>
          <a:lstStyle/>
          <a:p>
            <a:fld id="{48FE5571-560F-4DFC-BA97-61ACA5F7ADE1}" type="slidenum">
              <a:rPr lang="en-US" smtClean="0"/>
              <a:pPr/>
              <a:t>7</a:t>
            </a:fld>
            <a:endParaRPr lang="en-US"/>
          </a:p>
        </p:txBody>
      </p:sp>
    </p:spTree>
    <p:extLst>
      <p:ext uri="{BB962C8B-B14F-4D97-AF65-F5344CB8AC3E}">
        <p14:creationId xmlns:p14="http://schemas.microsoft.com/office/powerpoint/2010/main" val="172507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Vì sao phải ép kiểu</a:t>
            </a:r>
          </a:p>
          <a:p>
            <a:pPr lvl="0" algn="just">
              <a:buClr>
                <a:srgbClr val="3DC5C5"/>
              </a:buClr>
              <a:defRPr/>
            </a:pPr>
            <a:r>
              <a:rPr lang="en-US" kern="0">
                <a:solidFill>
                  <a:srgbClr val="002060"/>
                </a:solidFill>
                <a:latin typeface="Cambria" panose="02040503050406030204" pitchFamily="18" charset="0"/>
              </a:rPr>
              <a:t>Ép kiểu rộng</a:t>
            </a:r>
          </a:p>
          <a:p>
            <a:pPr lvl="0" algn="just">
              <a:buClr>
                <a:srgbClr val="3DC5C5"/>
              </a:buClr>
              <a:defRPr/>
            </a:pPr>
            <a:r>
              <a:rPr lang="en-US" kern="0">
                <a:solidFill>
                  <a:srgbClr val="002060"/>
                </a:solidFill>
                <a:latin typeface="Cambria" panose="02040503050406030204" pitchFamily="18" charset="0"/>
              </a:rPr>
              <a:t>Ép kiểu hẹp</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F2D6D298-CA4A-7493-4D6B-44DF06DD34B3}"/>
              </a:ext>
            </a:extLst>
          </p:cNvPr>
          <p:cNvSpPr>
            <a:spLocks noGrp="1"/>
          </p:cNvSpPr>
          <p:nvPr>
            <p:ph type="sldNum" sz="quarter" idx="12"/>
          </p:nvPr>
        </p:nvSpPr>
        <p:spPr/>
        <p:txBody>
          <a:bodyPr/>
          <a:lstStyle/>
          <a:p>
            <a:fld id="{48FE5571-560F-4DFC-BA97-61ACA5F7ADE1}" type="slidenum">
              <a:rPr lang="en-US" smtClean="0"/>
              <a:pPr/>
              <a:t>8</a:t>
            </a:fld>
            <a:endParaRPr lang="en-US"/>
          </a:p>
        </p:txBody>
      </p:sp>
    </p:spTree>
    <p:extLst>
      <p:ext uri="{BB962C8B-B14F-4D97-AF65-F5344CB8AC3E}">
        <p14:creationId xmlns:p14="http://schemas.microsoft.com/office/powerpoint/2010/main" val="1833291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Vì sao phải ép kiểu</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Trong quá trình tính toán đôi khi kết quả trả về không còn giống với kiểu dữ liệu chỉ định ban đầu nên ta cần ép kiểu</a:t>
            </a:r>
          </a:p>
        </p:txBody>
      </p:sp>
      <p:sp>
        <p:nvSpPr>
          <p:cNvPr id="9" name="Slide Number Placeholder 8">
            <a:extLst>
              <a:ext uri="{FF2B5EF4-FFF2-40B4-BE49-F238E27FC236}">
                <a16:creationId xmlns:a16="http://schemas.microsoft.com/office/drawing/2014/main" id="{4D91F296-EC27-4BC3-44F4-998F6DEA5FD5}"/>
              </a:ext>
            </a:extLst>
          </p:cNvPr>
          <p:cNvSpPr>
            <a:spLocks noGrp="1"/>
          </p:cNvSpPr>
          <p:nvPr>
            <p:ph type="sldNum" sz="quarter" idx="12"/>
          </p:nvPr>
        </p:nvSpPr>
        <p:spPr/>
        <p:txBody>
          <a:bodyPr/>
          <a:lstStyle/>
          <a:p>
            <a:fld id="{48FE5571-560F-4DFC-BA97-61ACA5F7ADE1}" type="slidenum">
              <a:rPr lang="en-US" smtClean="0"/>
              <a:pPr/>
              <a:t>9</a:t>
            </a:fld>
            <a:endParaRPr lang="en-US"/>
          </a:p>
        </p:txBody>
      </p:sp>
    </p:spTree>
    <p:extLst>
      <p:ext uri="{BB962C8B-B14F-4D97-AF65-F5344CB8AC3E}">
        <p14:creationId xmlns:p14="http://schemas.microsoft.com/office/powerpoint/2010/main" val="106926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Ép kiểu rộng</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Ép kiểu rộng: Đưa từ kiểu có vùng lưu trữ nhỏ lên kiểu có vùng lưu trữ lớn</a:t>
            </a:r>
            <a:r>
              <a:rPr lang="en-US" kern="0">
                <a:solidFill>
                  <a:srgbClr val="002060"/>
                </a:solidFill>
                <a:latin typeface="Cambria" panose="02040503050406030204" pitchFamily="18" charset="0"/>
                <a:sym typeface="Wingdings" panose="05000000000000000000" pitchFamily="2" charset="2"/>
              </a:rPr>
              <a:t>không sợ mất mát dữ liệu.</a:t>
            </a:r>
          </a:p>
          <a:p>
            <a:pPr lvl="0" algn="just">
              <a:buClr>
                <a:srgbClr val="3DC5C5"/>
              </a:buClr>
              <a:defRPr/>
            </a:pPr>
            <a:r>
              <a:rPr lang="en-US" kern="0">
                <a:solidFill>
                  <a:srgbClr val="002060"/>
                </a:solidFill>
                <a:latin typeface="Cambria" panose="02040503050406030204" pitchFamily="18" charset="0"/>
              </a:rPr>
              <a:t>Ví dụ: int</a:t>
            </a:r>
            <a:r>
              <a:rPr lang="en-US" kern="0">
                <a:solidFill>
                  <a:srgbClr val="002060"/>
                </a:solidFill>
                <a:latin typeface="Cambria" panose="02040503050406030204" pitchFamily="18" charset="0"/>
                <a:sym typeface="Wingdings" panose="05000000000000000000" pitchFamily="2" charset="2"/>
              </a:rPr>
              <a:t>longfloatdouble</a:t>
            </a:r>
          </a:p>
          <a:p>
            <a:pPr marL="0" indent="0" algn="just">
              <a:buClr>
                <a:srgbClr val="3DC5C5"/>
              </a:buClr>
              <a:buNone/>
              <a:defRPr/>
            </a:pPr>
            <a:r>
              <a:rPr lang="en-US" kern="0">
                <a:solidFill>
                  <a:srgbClr val="002060"/>
                </a:solidFill>
                <a:latin typeface="Cambria" panose="02040503050406030204" pitchFamily="18" charset="0"/>
                <a:sym typeface="Wingdings" panose="05000000000000000000" pitchFamily="2" charset="2"/>
              </a:rPr>
              <a:t>double x = (double)1/2;</a:t>
            </a:r>
          </a:p>
          <a:p>
            <a:pPr marL="0" indent="0" algn="just">
              <a:buClr>
                <a:srgbClr val="3DC5C5"/>
              </a:buClr>
              <a:buNone/>
              <a:defRPr/>
            </a:pPr>
            <a:r>
              <a:rPr lang="en-US" kern="0">
                <a:solidFill>
                  <a:srgbClr val="002060"/>
                </a:solidFill>
                <a:latin typeface="Cambria" panose="02040503050406030204" pitchFamily="18" charset="0"/>
                <a:sym typeface="Wingdings" panose="05000000000000000000" pitchFamily="2" charset="2"/>
              </a:rPr>
              <a:t>double x=1.0/2; double/intdouble</a:t>
            </a:r>
          </a:p>
          <a:p>
            <a:pPr marL="0" indent="0" algn="just">
              <a:buClr>
                <a:srgbClr val="3DC5C5"/>
              </a:buClr>
              <a:buNone/>
              <a:defRPr/>
            </a:pPr>
            <a:r>
              <a:rPr lang="en-US" kern="0">
                <a:solidFill>
                  <a:srgbClr val="002060"/>
                </a:solidFill>
                <a:latin typeface="Cambria" panose="02040503050406030204" pitchFamily="18" charset="0"/>
                <a:sym typeface="Wingdings" panose="05000000000000000000" pitchFamily="2" charset="2"/>
              </a:rPr>
              <a:t>double x=1/2 ;  int/int=int00.0</a:t>
            </a:r>
            <a:endParaRPr lang="en-US" kern="0">
              <a:solidFill>
                <a:srgbClr val="002060"/>
              </a:solidFill>
              <a:latin typeface="Cambria" panose="02040503050406030204" pitchFamily="18" charset="0"/>
            </a:endParaRPr>
          </a:p>
          <a:p>
            <a:pPr lvl="0" algn="just">
              <a:buClr>
                <a:srgbClr val="3DC5C5"/>
              </a:buClr>
              <a:defRPr/>
            </a:pPr>
            <a:endParaRPr lang="en-US" kern="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BF5D5E61-3570-9B1D-0409-548BF81B67C3}"/>
              </a:ext>
            </a:extLst>
          </p:cNvPr>
          <p:cNvSpPr>
            <a:spLocks noGrp="1"/>
          </p:cNvSpPr>
          <p:nvPr>
            <p:ph type="sldNum" sz="quarter" idx="12"/>
          </p:nvPr>
        </p:nvSpPr>
        <p:spPr/>
        <p:txBody>
          <a:bodyPr/>
          <a:lstStyle/>
          <a:p>
            <a:fld id="{48FE5571-560F-4DFC-BA97-61ACA5F7ADE1}" type="slidenum">
              <a:rPr lang="en-US" smtClean="0"/>
              <a:pPr/>
              <a:t>10</a:t>
            </a:fld>
            <a:endParaRPr lang="en-US"/>
          </a:p>
        </p:txBody>
      </p:sp>
    </p:spTree>
    <p:extLst>
      <p:ext uri="{BB962C8B-B14F-4D97-AF65-F5344CB8AC3E}">
        <p14:creationId xmlns:p14="http://schemas.microsoft.com/office/powerpoint/2010/main" val="3028354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Ép kiểu hẹp</a:t>
              </a:r>
              <a:endParaRPr lang="en-US" sz="4000" b="1" kern="0" dirty="0">
                <a:solidFill>
                  <a:srgbClr val="00206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Ép kiểu hẹp: Đưa từ kiểu có vùng lưu trữ lớn về kiểu có vùng lưu trữ nhỏ</a:t>
            </a:r>
            <a:r>
              <a:rPr lang="en-US" kern="0">
                <a:solidFill>
                  <a:srgbClr val="002060"/>
                </a:solidFill>
                <a:latin typeface="Cambria" panose="02040503050406030204" pitchFamily="18" charset="0"/>
                <a:sym typeface="Wingdings" panose="05000000000000000000" pitchFamily="2" charset="2"/>
              </a:rPr>
              <a:t>có thể bị mất mát dữ liệu</a:t>
            </a:r>
          </a:p>
          <a:p>
            <a:pPr lvl="0" algn="just">
              <a:buClr>
                <a:srgbClr val="3DC5C5"/>
              </a:buClr>
              <a:defRPr/>
            </a:pPr>
            <a:r>
              <a:rPr lang="en-US" kern="0">
                <a:solidFill>
                  <a:srgbClr val="002060"/>
                </a:solidFill>
                <a:latin typeface="Cambria" panose="02040503050406030204" pitchFamily="18" charset="0"/>
              </a:rPr>
              <a:t>Ví dụ: double</a:t>
            </a:r>
            <a:r>
              <a:rPr lang="en-US" kern="0">
                <a:solidFill>
                  <a:srgbClr val="002060"/>
                </a:solidFill>
                <a:latin typeface="Cambria" panose="02040503050406030204" pitchFamily="18" charset="0"/>
                <a:sym typeface="Wingdings" panose="05000000000000000000" pitchFamily="2" charset="2"/>
              </a:rPr>
              <a:t>floatlongint</a:t>
            </a:r>
          </a:p>
          <a:p>
            <a:pPr marL="0" indent="0" algn="just">
              <a:buClr>
                <a:srgbClr val="3DC5C5"/>
              </a:buClr>
              <a:buNone/>
              <a:defRPr/>
            </a:pPr>
            <a:r>
              <a:rPr lang="en-US" kern="0">
                <a:solidFill>
                  <a:srgbClr val="002060"/>
                </a:solidFill>
                <a:latin typeface="Cambria" panose="02040503050406030204" pitchFamily="18" charset="0"/>
                <a:sym typeface="Wingdings" panose="05000000000000000000" pitchFamily="2" charset="2"/>
              </a:rPr>
              <a:t>int x= (int)1.0/2 </a:t>
            </a:r>
          </a:p>
          <a:p>
            <a:pPr marL="0" indent="0" algn="just">
              <a:buClr>
                <a:srgbClr val="3DC5C5"/>
              </a:buClr>
              <a:buNone/>
              <a:defRPr/>
            </a:pPr>
            <a:endParaRPr lang="en-US" kern="0">
              <a:solidFill>
                <a:srgbClr val="002060"/>
              </a:solidFill>
              <a:latin typeface="Cambria" panose="02040503050406030204" pitchFamily="18" charset="0"/>
              <a:sym typeface="Wingdings" panose="05000000000000000000" pitchFamily="2" charset="2"/>
            </a:endParaRPr>
          </a:p>
          <a:p>
            <a:pPr marL="0" indent="0" algn="just">
              <a:buClr>
                <a:srgbClr val="3DC5C5"/>
              </a:buClr>
              <a:buNone/>
              <a:defRPr/>
            </a:pPr>
            <a:r>
              <a:rPr lang="en-US" kern="0">
                <a:solidFill>
                  <a:srgbClr val="002060"/>
                </a:solidFill>
                <a:latin typeface="Cambria" panose="02040503050406030204" pitchFamily="18" charset="0"/>
                <a:sym typeface="Wingdings" panose="05000000000000000000" pitchFamily="2" charset="2"/>
              </a:rPr>
              <a:t>(int)1.01</a:t>
            </a:r>
            <a:endParaRPr lang="en-US" kern="0">
              <a:solidFill>
                <a:srgbClr val="002060"/>
              </a:solidFill>
              <a:latin typeface="Cambria" panose="02040503050406030204" pitchFamily="18" charset="0"/>
            </a:endParaRPr>
          </a:p>
          <a:p>
            <a:pPr lvl="0" algn="just">
              <a:buClr>
                <a:srgbClr val="3DC5C5"/>
              </a:buClr>
              <a:defRPr/>
            </a:pPr>
            <a:endParaRPr lang="en-US" kern="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27CD18CC-2DDF-7961-7426-1DB8EFCB77A9}"/>
              </a:ext>
            </a:extLst>
          </p:cNvPr>
          <p:cNvSpPr>
            <a:spLocks noGrp="1"/>
          </p:cNvSpPr>
          <p:nvPr>
            <p:ph type="sldNum" sz="quarter" idx="12"/>
          </p:nvPr>
        </p:nvSpPr>
        <p:spPr/>
        <p:txBody>
          <a:bodyPr/>
          <a:lstStyle/>
          <a:p>
            <a:fld id="{48FE5571-560F-4DFC-BA97-61ACA5F7ADE1}" type="slidenum">
              <a:rPr lang="en-US" smtClean="0"/>
              <a:pPr/>
              <a:t>11</a:t>
            </a:fld>
            <a:endParaRPr lang="en-US"/>
          </a:p>
        </p:txBody>
      </p:sp>
    </p:spTree>
    <p:extLst>
      <p:ext uri="{BB962C8B-B14F-4D97-AF65-F5344CB8AC3E}">
        <p14:creationId xmlns:p14="http://schemas.microsoft.com/office/powerpoint/2010/main" val="1211959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vi-VN" kern="0">
                <a:solidFill>
                  <a:srgbClr val="002060"/>
                </a:solidFill>
                <a:latin typeface="Cambria" panose="02040503050406030204" pitchFamily="18" charset="0"/>
              </a:rPr>
              <a:t>Khai báo biến trong Java</a:t>
            </a:r>
            <a:endParaRPr lang="en-US" kern="0">
              <a:solidFill>
                <a:srgbClr val="002060"/>
              </a:solidFill>
              <a:latin typeface="Cambria" panose="02040503050406030204" pitchFamily="18" charset="0"/>
            </a:endParaRP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3500BBAE-E0CB-D1CD-812B-6C97278F7F77}"/>
              </a:ext>
            </a:extLst>
          </p:cNvPr>
          <p:cNvSpPr>
            <a:spLocks noGrp="1"/>
          </p:cNvSpPr>
          <p:nvPr>
            <p:ph type="sldNum" sz="quarter" idx="12"/>
          </p:nvPr>
        </p:nvSpPr>
        <p:spPr/>
        <p:txBody>
          <a:bodyPr/>
          <a:lstStyle/>
          <a:p>
            <a:fld id="{48FE5571-560F-4DFC-BA97-61ACA5F7ADE1}" type="slidenum">
              <a:rPr lang="en-US" smtClean="0"/>
              <a:pPr/>
              <a:t>12</a:t>
            </a:fld>
            <a:endParaRPr lang="en-US"/>
          </a:p>
        </p:txBody>
      </p:sp>
    </p:spTree>
    <p:extLst>
      <p:ext uri="{BB962C8B-B14F-4D97-AF65-F5344CB8AC3E}">
        <p14:creationId xmlns:p14="http://schemas.microsoft.com/office/powerpoint/2010/main" val="1382864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Khái niệm về biến</a:t>
            </a:r>
          </a:p>
          <a:p>
            <a:pPr lvl="0" algn="just">
              <a:buClr>
                <a:srgbClr val="3DC5C5"/>
              </a:buClr>
              <a:defRPr/>
            </a:pPr>
            <a:r>
              <a:rPr lang="en-US" kern="0">
                <a:solidFill>
                  <a:srgbClr val="002060"/>
                </a:solidFill>
                <a:latin typeface="Cambria" panose="02040503050406030204" pitchFamily="18" charset="0"/>
              </a:rPr>
              <a:t>Cách thức và quy tắc đặt tên biến</a:t>
            </a:r>
          </a:p>
          <a:p>
            <a:pPr lvl="0" algn="just">
              <a:buClr>
                <a:srgbClr val="3DC5C5"/>
              </a:buClr>
              <a:defRPr/>
            </a:pPr>
            <a:r>
              <a:rPr lang="en-US" kern="0">
                <a:solidFill>
                  <a:srgbClr val="002060"/>
                </a:solidFill>
                <a:latin typeface="Cambria" panose="02040503050406030204" pitchFamily="18" charset="0"/>
              </a:rPr>
              <a:t>Cách sử dụng tên biến</a:t>
            </a:r>
          </a:p>
          <a:p>
            <a:pPr lvl="0" algn="just">
              <a:buClr>
                <a:srgbClr val="3DC5C5"/>
              </a:buClr>
              <a:defRPr/>
            </a:pPr>
            <a:r>
              <a:rPr lang="en-US" kern="0">
                <a:solidFill>
                  <a:srgbClr val="002060"/>
                </a:solidFill>
                <a:latin typeface="Cambria" panose="02040503050406030204" pitchFamily="18" charset="0"/>
              </a:rPr>
              <a:t>Khai báo hằng số</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50F24329-0F64-846F-8E82-80A0A3711676}"/>
              </a:ext>
            </a:extLst>
          </p:cNvPr>
          <p:cNvSpPr>
            <a:spLocks noGrp="1"/>
          </p:cNvSpPr>
          <p:nvPr>
            <p:ph type="sldNum" sz="quarter" idx="12"/>
          </p:nvPr>
        </p:nvSpPr>
        <p:spPr/>
        <p:txBody>
          <a:bodyPr/>
          <a:lstStyle/>
          <a:p>
            <a:fld id="{48FE5571-560F-4DFC-BA97-61ACA5F7ADE1}" type="slidenum">
              <a:rPr lang="en-US" smtClean="0"/>
              <a:pPr/>
              <a:t>13</a:t>
            </a:fld>
            <a:endParaRPr lang="en-US"/>
          </a:p>
        </p:txBody>
      </p:sp>
    </p:spTree>
    <p:extLst>
      <p:ext uri="{BB962C8B-B14F-4D97-AF65-F5344CB8AC3E}">
        <p14:creationId xmlns:p14="http://schemas.microsoft.com/office/powerpoint/2010/main" val="3844248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Khái niệm về biến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50000"/>
              </a:lnSpc>
              <a:spcBef>
                <a:spcPts val="600"/>
              </a:spcBef>
              <a:spcAft>
                <a:spcPts val="600"/>
              </a:spcAft>
            </a:pPr>
            <a:r>
              <a:rPr lang="en-US" altLang="en-US" sz="2800" kern="0">
                <a:solidFill>
                  <a:schemeClr val="tx2"/>
                </a:solidFill>
                <a:latin typeface="Cambria" panose="02040503050406030204" pitchFamily="18" charset="0"/>
                <a:cs typeface="Tahoma" panose="020B0604030504040204" pitchFamily="34" charset="0"/>
              </a:rPr>
              <a:t>Biến là đơn vị lưu trữ cơ bản trong lập trình Java</a:t>
            </a:r>
          </a:p>
          <a:p>
            <a:pPr algn="just">
              <a:lnSpc>
                <a:spcPct val="150000"/>
              </a:lnSpc>
              <a:spcBef>
                <a:spcPts val="600"/>
              </a:spcBef>
              <a:spcAft>
                <a:spcPts val="600"/>
              </a:spcAft>
            </a:pPr>
            <a:r>
              <a:rPr lang="en-US" altLang="en-US" sz="2800" kern="0">
                <a:solidFill>
                  <a:schemeClr val="tx2"/>
                </a:solidFill>
                <a:latin typeface="Cambria" panose="02040503050406030204" pitchFamily="18" charset="0"/>
                <a:cs typeface="Tahoma" panose="020B0604030504040204" pitchFamily="34" charset="0"/>
              </a:rPr>
              <a:t>Biến là các thành phần xác định dữ liệu và được dùng để tham chiếu đến các giá trị xác định được tạo ra trong chương trình.</a:t>
            </a:r>
          </a:p>
          <a:p>
            <a:pPr algn="just">
              <a:lnSpc>
                <a:spcPct val="150000"/>
              </a:lnSpc>
              <a:spcBef>
                <a:spcPts val="600"/>
              </a:spcBef>
              <a:spcAft>
                <a:spcPts val="600"/>
              </a:spcAft>
            </a:pPr>
            <a:r>
              <a:rPr lang="en-US" altLang="en-US" sz="2800" kern="0">
                <a:solidFill>
                  <a:schemeClr val="tx2"/>
                </a:solidFill>
                <a:latin typeface="Cambria" panose="02040503050406030204" pitchFamily="18" charset="0"/>
                <a:cs typeface="Tahoma" panose="020B0604030504040204" pitchFamily="34" charset="0"/>
              </a:rPr>
              <a:t>Tất cả các biến khi sử dụng phải được khởi tạo trước</a:t>
            </a:r>
          </a:p>
        </p:txBody>
      </p:sp>
      <p:sp>
        <p:nvSpPr>
          <p:cNvPr id="9" name="Slide Number Placeholder 8">
            <a:extLst>
              <a:ext uri="{FF2B5EF4-FFF2-40B4-BE49-F238E27FC236}">
                <a16:creationId xmlns:a16="http://schemas.microsoft.com/office/drawing/2014/main" id="{5F69A527-5966-B8B0-3A8A-5B7BEC876EF5}"/>
              </a:ext>
            </a:extLst>
          </p:cNvPr>
          <p:cNvSpPr>
            <a:spLocks noGrp="1"/>
          </p:cNvSpPr>
          <p:nvPr>
            <p:ph type="sldNum" sz="quarter" idx="12"/>
          </p:nvPr>
        </p:nvSpPr>
        <p:spPr/>
        <p:txBody>
          <a:bodyPr/>
          <a:lstStyle/>
          <a:p>
            <a:fld id="{48FE5571-560F-4DFC-BA97-61ACA5F7ADE1}" type="slidenum">
              <a:rPr lang="en-US" smtClean="0"/>
              <a:pPr/>
              <a:t>14</a:t>
            </a:fld>
            <a:endParaRPr lang="en-US"/>
          </a:p>
        </p:txBody>
      </p:sp>
    </p:spTree>
    <p:extLst>
      <p:ext uri="{BB962C8B-B14F-4D97-AF65-F5344CB8AC3E}">
        <p14:creationId xmlns:p14="http://schemas.microsoft.com/office/powerpoint/2010/main" val="1048664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257800" cy="508000"/>
            <a:chOff x="789624" y="1191463"/>
            <a:chExt cx="5257800" cy="508000"/>
          </a:xfrm>
        </p:grpSpPr>
        <p:sp>
          <p:nvSpPr>
            <p:cNvPr id="3" name="AutoShape 52"/>
            <p:cNvSpPr>
              <a:spLocks noChangeArrowheads="1"/>
            </p:cNvSpPr>
            <p:nvPr/>
          </p:nvSpPr>
          <p:spPr bwMode="gray">
            <a:xfrm>
              <a:off x="990600" y="1191463"/>
              <a:ext cx="5056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Cách thức và quy tắc đặt tên biến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50000"/>
              </a:lnSpc>
              <a:spcBef>
                <a:spcPts val="300"/>
              </a:spcBef>
              <a:spcAft>
                <a:spcPts val="300"/>
              </a:spcAft>
            </a:pPr>
            <a:r>
              <a:rPr lang="en-US" altLang="en-US" sz="2800" kern="0">
                <a:solidFill>
                  <a:schemeClr val="tx2"/>
                </a:solidFill>
                <a:latin typeface="Cambria" panose="02040503050406030204" pitchFamily="18" charset="0"/>
                <a:cs typeface="Tahoma" panose="020B0604030504040204" pitchFamily="34" charset="0"/>
              </a:rPr>
              <a:t>Cách mô tả biến:</a:t>
            </a:r>
          </a:p>
          <a:p>
            <a:pPr marL="457200" lvl="1" indent="0" algn="just">
              <a:lnSpc>
                <a:spcPct val="150000"/>
              </a:lnSpc>
              <a:spcBef>
                <a:spcPts val="300"/>
              </a:spcBef>
              <a:spcAft>
                <a:spcPts val="300"/>
              </a:spcAft>
              <a:buNone/>
            </a:pPr>
            <a:r>
              <a:rPr lang="en-US" altLang="en-US" kern="0">
                <a:solidFill>
                  <a:schemeClr val="tx2"/>
                </a:solidFill>
                <a:latin typeface="Cambria" panose="02040503050406030204" pitchFamily="18" charset="0"/>
                <a:cs typeface="Tahoma" panose="020B0604030504040204" pitchFamily="34" charset="0"/>
              </a:rPr>
              <a:t>            [datatype]	[tên biến];</a:t>
            </a:r>
          </a:p>
          <a:p>
            <a:pPr marL="457200" lvl="1" indent="0" algn="just">
              <a:lnSpc>
                <a:spcPct val="150000"/>
              </a:lnSpc>
              <a:spcBef>
                <a:spcPts val="300"/>
              </a:spcBef>
              <a:spcAft>
                <a:spcPts val="300"/>
              </a:spcAft>
              <a:buNone/>
            </a:pPr>
            <a:r>
              <a:rPr lang="en-US" altLang="en-US" kern="0">
                <a:solidFill>
                  <a:schemeClr val="tx2"/>
                </a:solidFill>
                <a:latin typeface="Cambria" panose="02040503050406030204" pitchFamily="18" charset="0"/>
                <a:cs typeface="Tahoma" panose="020B0604030504040204" pitchFamily="34" charset="0"/>
              </a:rPr>
              <a:t> int x;</a:t>
            </a:r>
          </a:p>
          <a:p>
            <a:pPr algn="just">
              <a:lnSpc>
                <a:spcPct val="150000"/>
              </a:lnSpc>
              <a:spcBef>
                <a:spcPts val="300"/>
              </a:spcBef>
              <a:spcAft>
                <a:spcPts val="300"/>
              </a:spcAft>
              <a:buNone/>
            </a:pPr>
            <a:r>
              <a:rPr lang="en-US" altLang="en-US" sz="2800" kern="0">
                <a:solidFill>
                  <a:schemeClr val="tx2"/>
                </a:solidFill>
                <a:latin typeface="Cambria" panose="02040503050406030204" pitchFamily="18" charset="0"/>
                <a:cs typeface="Tahoma" panose="020B0604030504040204" pitchFamily="34" charset="0"/>
              </a:rPr>
              <a:t>   Trong đó:</a:t>
            </a:r>
          </a:p>
          <a:p>
            <a:pPr algn="just">
              <a:lnSpc>
                <a:spcPct val="150000"/>
              </a:lnSpc>
              <a:spcBef>
                <a:spcPts val="300"/>
              </a:spcBef>
              <a:spcAft>
                <a:spcPts val="300"/>
              </a:spcAft>
              <a:buFont typeface="Tahoma" panose="020B0604030504040204" pitchFamily="34" charset="0"/>
              <a:buChar char="●"/>
            </a:pPr>
            <a:r>
              <a:rPr lang="en-US" altLang="en-US" sz="2800" kern="0">
                <a:solidFill>
                  <a:schemeClr val="tx2"/>
                </a:solidFill>
                <a:latin typeface="Cambria" panose="02040503050406030204" pitchFamily="18" charset="0"/>
                <a:cs typeface="Tahoma" panose="020B0604030504040204" pitchFamily="34" charset="0"/>
              </a:rPr>
              <a:t>Datatype: kiểu dữ liệu của biến</a:t>
            </a:r>
          </a:p>
          <a:p>
            <a:pPr algn="just">
              <a:lnSpc>
                <a:spcPct val="150000"/>
              </a:lnSpc>
              <a:spcBef>
                <a:spcPts val="300"/>
              </a:spcBef>
              <a:spcAft>
                <a:spcPts val="300"/>
              </a:spcAft>
              <a:buFont typeface="Tahoma" panose="020B0604030504040204" pitchFamily="34" charset="0"/>
              <a:buChar char="●"/>
            </a:pPr>
            <a:r>
              <a:rPr lang="en-US" altLang="en-US" sz="2800" kern="0">
                <a:solidFill>
                  <a:schemeClr val="tx2"/>
                </a:solidFill>
                <a:latin typeface="Cambria" panose="02040503050406030204" pitchFamily="18" charset="0"/>
                <a:cs typeface="Tahoma" panose="020B0604030504040204" pitchFamily="34" charset="0"/>
              </a:rPr>
              <a:t>Tên biến: tên biến cần sử dụng</a:t>
            </a:r>
          </a:p>
          <a:p>
            <a:pPr algn="just">
              <a:lnSpc>
                <a:spcPct val="150000"/>
              </a:lnSpc>
              <a:spcBef>
                <a:spcPts val="300"/>
              </a:spcBef>
              <a:spcAft>
                <a:spcPts val="300"/>
              </a:spcAft>
            </a:pPr>
            <a:r>
              <a:rPr lang="en-US" altLang="en-US" sz="2800" kern="0">
                <a:solidFill>
                  <a:schemeClr val="tx2"/>
                </a:solidFill>
                <a:latin typeface="Cambria" panose="02040503050406030204" pitchFamily="18" charset="0"/>
                <a:cs typeface="Tahoma" panose="020B0604030504040204" pitchFamily="34" charset="0"/>
              </a:rPr>
              <a:t>Nếu giá trị của biến không thay đổi trong suốt quá trình hoạt động thì gọi là hằng.</a:t>
            </a:r>
          </a:p>
        </p:txBody>
      </p:sp>
      <p:sp>
        <p:nvSpPr>
          <p:cNvPr id="9" name="Slide Number Placeholder 8">
            <a:extLst>
              <a:ext uri="{FF2B5EF4-FFF2-40B4-BE49-F238E27FC236}">
                <a16:creationId xmlns:a16="http://schemas.microsoft.com/office/drawing/2014/main" id="{066CF001-8B77-98D9-9CB7-79ABCF9ABB3A}"/>
              </a:ext>
            </a:extLst>
          </p:cNvPr>
          <p:cNvSpPr>
            <a:spLocks noGrp="1"/>
          </p:cNvSpPr>
          <p:nvPr>
            <p:ph type="sldNum" sz="quarter" idx="12"/>
          </p:nvPr>
        </p:nvSpPr>
        <p:spPr/>
        <p:txBody>
          <a:bodyPr/>
          <a:lstStyle/>
          <a:p>
            <a:fld id="{48FE5571-560F-4DFC-BA97-61ACA5F7ADE1}" type="slidenum">
              <a:rPr lang="en-US" smtClean="0"/>
              <a:pPr/>
              <a:t>15</a:t>
            </a:fld>
            <a:endParaRPr lang="en-US"/>
          </a:p>
        </p:txBody>
      </p:sp>
    </p:spTree>
    <p:extLst>
      <p:ext uri="{BB962C8B-B14F-4D97-AF65-F5344CB8AC3E}">
        <p14:creationId xmlns:p14="http://schemas.microsoft.com/office/powerpoint/2010/main" val="1942123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257800" cy="508000"/>
            <a:chOff x="789624" y="1191463"/>
            <a:chExt cx="5257800" cy="508000"/>
          </a:xfrm>
        </p:grpSpPr>
        <p:sp>
          <p:nvSpPr>
            <p:cNvPr id="3" name="AutoShape 52"/>
            <p:cNvSpPr>
              <a:spLocks noChangeArrowheads="1"/>
            </p:cNvSpPr>
            <p:nvPr/>
          </p:nvSpPr>
          <p:spPr bwMode="gray">
            <a:xfrm>
              <a:off x="990600" y="1191463"/>
              <a:ext cx="5056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Cách thức và quy tắc đặt tên biến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1600201" y="1066800"/>
            <a:ext cx="876299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1" algn="just" eaLnBrk="0" hangingPunct="0">
              <a:lnSpc>
                <a:spcPct val="150000"/>
              </a:lnSpc>
              <a:spcBef>
                <a:spcPts val="300"/>
              </a:spcBef>
              <a:spcAft>
                <a:spcPts val="300"/>
              </a:spcAft>
              <a:buClr>
                <a:srgbClr val="333399"/>
              </a:buClr>
              <a:buFont typeface="Wingdings" panose="05000000000000000000" pitchFamily="2" charset="2"/>
              <a:buChar char="v"/>
              <a:defRPr/>
            </a:pPr>
            <a:r>
              <a:rPr lang="en-US" altLang="en-US" sz="2400" b="1" u="sng" kern="0">
                <a:solidFill>
                  <a:srgbClr val="333399"/>
                </a:solidFill>
                <a:latin typeface="Cambria" panose="02040503050406030204" pitchFamily="18" charset="0"/>
                <a:cs typeface="Tahoma" panose="020B0604030504040204" pitchFamily="34" charset="0"/>
              </a:rPr>
              <a:t> Qui tắc đặt tên biến:</a:t>
            </a:r>
          </a:p>
          <a:p>
            <a:pPr marL="692150" lvl="1" indent="-234950" algn="just" eaLnBrk="0" hangingPunct="0">
              <a:spcBef>
                <a:spcPts val="300"/>
              </a:spcBef>
              <a:spcAft>
                <a:spcPts val="300"/>
              </a:spcAft>
              <a:buClr>
                <a:srgbClr val="333399"/>
              </a:buClr>
              <a:buFontTx/>
              <a:buChar char="●"/>
              <a:defRPr/>
            </a:pPr>
            <a:r>
              <a:rPr lang="en-US" altLang="en-US" sz="2400" kern="0">
                <a:solidFill>
                  <a:srgbClr val="333399"/>
                </a:solidFill>
                <a:latin typeface="Cambria" panose="02040503050406030204" pitchFamily="18" charset="0"/>
                <a:cs typeface="Tahoma" panose="020B0604030504040204" pitchFamily="34" charset="0"/>
              </a:rPr>
              <a:t>Gồm các ký tự chữ, ký tự số, dấu gạch dưới ‘_’, và dấu ‘$’.</a:t>
            </a:r>
          </a:p>
          <a:p>
            <a:pPr marL="692150" lvl="1" indent="-234950" algn="just" eaLnBrk="0" hangingPunct="0">
              <a:spcBef>
                <a:spcPts val="300"/>
              </a:spcBef>
              <a:spcAft>
                <a:spcPts val="300"/>
              </a:spcAft>
              <a:buClr>
                <a:srgbClr val="333399"/>
              </a:buClr>
              <a:buFontTx/>
              <a:buChar char="●"/>
              <a:defRPr/>
            </a:pPr>
            <a:r>
              <a:rPr lang="en-US" altLang="en-US" sz="2400" kern="0">
                <a:solidFill>
                  <a:srgbClr val="333399"/>
                </a:solidFill>
                <a:latin typeface="Cambria" panose="02040503050406030204" pitchFamily="18" charset="0"/>
                <a:cs typeface="Tahoma" panose="020B0604030504040204" pitchFamily="34" charset="0"/>
              </a:rPr>
              <a:t>Bắt đầu bằng ký tự chữ: int 1x ; int x1;</a:t>
            </a:r>
          </a:p>
          <a:p>
            <a:pPr marL="692150" lvl="1" indent="-234950" algn="just" eaLnBrk="0" hangingPunct="0">
              <a:spcBef>
                <a:spcPts val="300"/>
              </a:spcBef>
              <a:spcAft>
                <a:spcPts val="300"/>
              </a:spcAft>
              <a:buClr>
                <a:srgbClr val="333399"/>
              </a:buClr>
              <a:buFontTx/>
              <a:buChar char="●"/>
              <a:defRPr/>
            </a:pPr>
            <a:r>
              <a:rPr lang="en-US" altLang="en-US" sz="2400" kern="0">
                <a:solidFill>
                  <a:srgbClr val="333399"/>
                </a:solidFill>
                <a:latin typeface="Cambria" panose="02040503050406030204" pitchFamily="18" charset="0"/>
                <a:cs typeface="Tahoma" panose="020B0604030504040204" pitchFamily="34" charset="0"/>
              </a:rPr>
              <a:t>Không được trùng với từ khóa và từ dành riêng của Java:</a:t>
            </a:r>
          </a:p>
          <a:p>
            <a:pPr marL="1092200" lvl="2" indent="-234950" algn="just" eaLnBrk="0" hangingPunct="0">
              <a:spcBef>
                <a:spcPts val="300"/>
              </a:spcBef>
              <a:spcAft>
                <a:spcPts val="300"/>
              </a:spcAft>
              <a:buClr>
                <a:srgbClr val="333399"/>
              </a:buClr>
              <a:buFontTx/>
              <a:buChar char="●"/>
              <a:defRPr/>
            </a:pPr>
            <a:r>
              <a:rPr lang="en-US" altLang="en-US" sz="2000" kern="0">
                <a:solidFill>
                  <a:srgbClr val="333399"/>
                </a:solidFill>
                <a:latin typeface="Cambria" panose="02040503050406030204" pitchFamily="18" charset="0"/>
                <a:cs typeface="Tahoma" panose="020B0604030504040204" pitchFamily="34" charset="0"/>
              </a:rPr>
              <a:t>int int</a:t>
            </a:r>
          </a:p>
          <a:p>
            <a:pPr marL="692150" lvl="1" indent="-234950" algn="just" eaLnBrk="0" hangingPunct="0">
              <a:spcBef>
                <a:spcPts val="300"/>
              </a:spcBef>
              <a:spcAft>
                <a:spcPts val="300"/>
              </a:spcAft>
              <a:buClr>
                <a:srgbClr val="333399"/>
              </a:buClr>
              <a:buFontTx/>
              <a:buChar char="●"/>
              <a:defRPr/>
            </a:pPr>
            <a:r>
              <a:rPr lang="en-US" altLang="en-US" sz="2400" kern="0">
                <a:solidFill>
                  <a:srgbClr val="333399"/>
                </a:solidFill>
                <a:latin typeface="Cambria" panose="02040503050406030204" pitchFamily="18" charset="0"/>
                <a:cs typeface="Tahoma" panose="020B0604030504040204" pitchFamily="34" charset="0"/>
              </a:rPr>
              <a:t>Có phân biệt chữ hoa – thường: int x, X;</a:t>
            </a:r>
          </a:p>
          <a:p>
            <a:pPr marL="692150" lvl="1" indent="-234950" algn="just" eaLnBrk="0" hangingPunct="0">
              <a:spcBef>
                <a:spcPts val="300"/>
              </a:spcBef>
              <a:spcAft>
                <a:spcPts val="300"/>
              </a:spcAft>
              <a:buClr>
                <a:srgbClr val="333399"/>
              </a:buClr>
              <a:buFontTx/>
              <a:buChar char="●"/>
              <a:defRPr/>
            </a:pPr>
            <a:r>
              <a:rPr lang="en-US" altLang="en-US" sz="2400" kern="0">
                <a:solidFill>
                  <a:srgbClr val="333399"/>
                </a:solidFill>
                <a:latin typeface="Cambria" panose="02040503050406030204" pitchFamily="18" charset="0"/>
                <a:cs typeface="Tahoma" panose="020B0604030504040204" pitchFamily="34" charset="0"/>
              </a:rPr>
              <a:t>Chỉ gồm một từ đơn và nên viết chữ thường.</a:t>
            </a:r>
          </a:p>
          <a:p>
            <a:pPr marL="692150" lvl="1" indent="-234950" algn="just" eaLnBrk="0" hangingPunct="0">
              <a:spcBef>
                <a:spcPts val="300"/>
              </a:spcBef>
              <a:spcAft>
                <a:spcPts val="300"/>
              </a:spcAft>
              <a:buClr>
                <a:srgbClr val="333399"/>
              </a:buClr>
              <a:buFontTx/>
              <a:buChar char="●"/>
              <a:defRPr/>
            </a:pPr>
            <a:r>
              <a:rPr lang="en-US" altLang="en-US" sz="2400" kern="0">
                <a:solidFill>
                  <a:srgbClr val="333399"/>
                </a:solidFill>
                <a:latin typeface="Cambria" panose="02040503050406030204" pitchFamily="18" charset="0"/>
              </a:rPr>
              <a:t>Nếu tên biến gồm nhiều từ, ký tự đầu của từ đầu viết thường, ký tự đầu của mỗi từ kế tiếp viết hoa;</a:t>
            </a:r>
          </a:p>
          <a:p>
            <a:pPr marL="457200" lvl="1" indent="0" algn="just" eaLnBrk="0" hangingPunct="0">
              <a:spcBef>
                <a:spcPts val="300"/>
              </a:spcBef>
              <a:spcAft>
                <a:spcPts val="300"/>
              </a:spcAft>
              <a:buClr>
                <a:srgbClr val="333399"/>
              </a:buClr>
              <a:buNone/>
              <a:defRPr/>
            </a:pPr>
            <a:r>
              <a:rPr lang="en-US" altLang="en-US" sz="2400" kern="0">
                <a:solidFill>
                  <a:srgbClr val="333399"/>
                </a:solidFill>
                <a:latin typeface="Cambria" panose="02040503050406030204" pitchFamily="18" charset="0"/>
              </a:rPr>
              <a:t>int ma;</a:t>
            </a:r>
          </a:p>
          <a:p>
            <a:pPr marL="457200" lvl="1" indent="0" algn="just" eaLnBrk="0" hangingPunct="0">
              <a:spcBef>
                <a:spcPts val="300"/>
              </a:spcBef>
              <a:spcAft>
                <a:spcPts val="300"/>
              </a:spcAft>
              <a:buClr>
                <a:srgbClr val="333399"/>
              </a:buClr>
              <a:buNone/>
              <a:defRPr/>
            </a:pPr>
            <a:r>
              <a:rPr lang="en-US" altLang="en-US" sz="2400" kern="0">
                <a:solidFill>
                  <a:srgbClr val="333399"/>
                </a:solidFill>
                <a:latin typeface="Cambria" panose="02040503050406030204" pitchFamily="18" charset="0"/>
              </a:rPr>
              <a:t>int maSo;</a:t>
            </a:r>
          </a:p>
        </p:txBody>
      </p:sp>
      <p:sp>
        <p:nvSpPr>
          <p:cNvPr id="9" name="Slide Number Placeholder 8">
            <a:extLst>
              <a:ext uri="{FF2B5EF4-FFF2-40B4-BE49-F238E27FC236}">
                <a16:creationId xmlns:a16="http://schemas.microsoft.com/office/drawing/2014/main" id="{F8757931-AD7A-E0B3-025C-B745407C3F14}"/>
              </a:ext>
            </a:extLst>
          </p:cNvPr>
          <p:cNvSpPr>
            <a:spLocks noGrp="1"/>
          </p:cNvSpPr>
          <p:nvPr>
            <p:ph type="sldNum" sz="quarter" idx="12"/>
          </p:nvPr>
        </p:nvSpPr>
        <p:spPr/>
        <p:txBody>
          <a:bodyPr/>
          <a:lstStyle/>
          <a:p>
            <a:fld id="{48FE5571-560F-4DFC-BA97-61ACA5F7ADE1}" type="slidenum">
              <a:rPr lang="en-US" smtClean="0"/>
              <a:pPr/>
              <a:t>16</a:t>
            </a:fld>
            <a:endParaRPr lang="en-US"/>
          </a:p>
        </p:txBody>
      </p:sp>
    </p:spTree>
    <p:extLst>
      <p:ext uri="{BB962C8B-B14F-4D97-AF65-F5344CB8AC3E}">
        <p14:creationId xmlns:p14="http://schemas.microsoft.com/office/powerpoint/2010/main" val="707306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Cách sử dụng tên biến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Rectangle 8"/>
          <p:cNvSpPr/>
          <p:nvPr/>
        </p:nvSpPr>
        <p:spPr>
          <a:xfrm>
            <a:off x="2179210" y="1219201"/>
            <a:ext cx="4572000" cy="1384995"/>
          </a:xfrm>
          <a:prstGeom prst="rect">
            <a:avLst/>
          </a:prstGeom>
        </p:spPr>
        <p:txBody>
          <a:bodyPr>
            <a:spAutoFit/>
          </a:bodyPr>
          <a:lstStyle/>
          <a:p>
            <a:r>
              <a:rPr lang="en-US" sz="2800" b="1">
                <a:solidFill>
                  <a:srgbClr val="7F0055"/>
                </a:solidFill>
                <a:latin typeface="Courier New" panose="02070309020205020404" pitchFamily="49" charset="0"/>
              </a:rPr>
              <a:t>int</a:t>
            </a:r>
            <a:r>
              <a:rPr lang="en-US" sz="2800" b="1">
                <a:solidFill>
                  <a:srgbClr val="000000"/>
                </a:solidFill>
                <a:latin typeface="Courier New" panose="02070309020205020404" pitchFamily="49" charset="0"/>
              </a:rPr>
              <a:t> b=5;</a:t>
            </a:r>
          </a:p>
          <a:p>
            <a:r>
              <a:rPr lang="en-US" sz="2800" b="1">
                <a:solidFill>
                  <a:srgbClr val="7F0055"/>
                </a:solidFill>
                <a:latin typeface="Courier New" panose="02070309020205020404" pitchFamily="49" charset="0"/>
              </a:rPr>
              <a:t>int</a:t>
            </a:r>
            <a:r>
              <a:rPr lang="en-US" sz="2800" b="1">
                <a:solidFill>
                  <a:srgbClr val="000000"/>
                </a:solidFill>
                <a:latin typeface="Courier New" panose="02070309020205020404" pitchFamily="49" charset="0"/>
              </a:rPr>
              <a:t> c=7;</a:t>
            </a:r>
          </a:p>
          <a:p>
            <a:r>
              <a:rPr lang="en-US" sz="2800" b="1">
                <a:solidFill>
                  <a:srgbClr val="7F0055"/>
                </a:solidFill>
                <a:latin typeface="Courier New" panose="02070309020205020404" pitchFamily="49" charset="0"/>
              </a:rPr>
              <a:t>double</a:t>
            </a:r>
            <a:r>
              <a:rPr lang="en-US" sz="2800" b="1">
                <a:solidFill>
                  <a:srgbClr val="000000"/>
                </a:solidFill>
                <a:latin typeface="Courier New" panose="02070309020205020404" pitchFamily="49" charset="0"/>
              </a:rPr>
              <a:t> </a:t>
            </a:r>
            <a:r>
              <a:rPr lang="en-US" sz="2800" b="1" u="sng">
                <a:solidFill>
                  <a:srgbClr val="000000"/>
                </a:solidFill>
                <a:latin typeface="Courier New" panose="02070309020205020404" pitchFamily="49" charset="0"/>
              </a:rPr>
              <a:t>x=-b*1.0/c;</a:t>
            </a:r>
            <a:endParaRPr lang="en-US" sz="2800"/>
          </a:p>
        </p:txBody>
      </p:sp>
      <p:sp>
        <p:nvSpPr>
          <p:cNvPr id="8" name="Slide Number Placeholder 7">
            <a:extLst>
              <a:ext uri="{FF2B5EF4-FFF2-40B4-BE49-F238E27FC236}">
                <a16:creationId xmlns:a16="http://schemas.microsoft.com/office/drawing/2014/main" id="{8A193F37-7A9D-0ABA-D183-CD6815428A84}"/>
              </a:ext>
            </a:extLst>
          </p:cNvPr>
          <p:cNvSpPr>
            <a:spLocks noGrp="1"/>
          </p:cNvSpPr>
          <p:nvPr>
            <p:ph type="sldNum" sz="quarter" idx="12"/>
          </p:nvPr>
        </p:nvSpPr>
        <p:spPr/>
        <p:txBody>
          <a:bodyPr/>
          <a:lstStyle/>
          <a:p>
            <a:fld id="{48FE5571-560F-4DFC-BA97-61ACA5F7ADE1}" type="slidenum">
              <a:rPr lang="en-US" smtClean="0"/>
              <a:pPr/>
              <a:t>17</a:t>
            </a:fld>
            <a:endParaRPr lang="en-US"/>
          </a:p>
        </p:txBody>
      </p:sp>
    </p:spTree>
    <p:extLst>
      <p:ext uri="{BB962C8B-B14F-4D97-AF65-F5344CB8AC3E}">
        <p14:creationId xmlns:p14="http://schemas.microsoft.com/office/powerpoint/2010/main" val="2554732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Khai báo hằng số</a:t>
              </a:r>
              <a:endParaRPr lang="en-US" sz="4000" b="1" kern="0" dirty="0">
                <a:solidFill>
                  <a:srgbClr val="00206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1295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Hằng số sẽ không bị đổi giá trị trong suốt quá trình thực thi phần mềm.</a:t>
            </a:r>
          </a:p>
          <a:p>
            <a:pPr lvl="0" algn="just">
              <a:buClr>
                <a:srgbClr val="3DC5C5"/>
              </a:buClr>
              <a:defRPr/>
            </a:pPr>
            <a:endParaRPr lang="en-US" kern="0" dirty="0">
              <a:solidFill>
                <a:srgbClr val="002060"/>
              </a:solidFill>
              <a:latin typeface="Cambria" panose="02040503050406030204" pitchFamily="18" charset="0"/>
            </a:endParaRPr>
          </a:p>
        </p:txBody>
      </p:sp>
      <p:sp>
        <p:nvSpPr>
          <p:cNvPr id="9" name="Rectangle 8"/>
          <p:cNvSpPr/>
          <p:nvPr/>
        </p:nvSpPr>
        <p:spPr>
          <a:xfrm>
            <a:off x="3083098" y="2200660"/>
            <a:ext cx="4695516" cy="1384995"/>
          </a:xfrm>
          <a:prstGeom prst="rect">
            <a:avLst/>
          </a:prstGeom>
        </p:spPr>
        <p:txBody>
          <a:bodyPr wrap="none">
            <a:spAutoFit/>
          </a:bodyPr>
          <a:lstStyle/>
          <a:p>
            <a:r>
              <a:rPr lang="en-US" sz="2800" b="1">
                <a:solidFill>
                  <a:srgbClr val="7F0055"/>
                </a:solidFill>
                <a:highlight>
                  <a:srgbClr val="E8F2FE"/>
                </a:highlight>
                <a:latin typeface="Courier New" panose="02070309020205020404" pitchFamily="49" charset="0"/>
              </a:rPr>
              <a:t>final</a:t>
            </a:r>
            <a:r>
              <a:rPr lang="en-US" sz="2800" b="1">
                <a:solidFill>
                  <a:srgbClr val="000000"/>
                </a:solidFill>
                <a:highlight>
                  <a:srgbClr val="E8F2FE"/>
                </a:highlight>
                <a:latin typeface="Courier New" panose="02070309020205020404" pitchFamily="49" charset="0"/>
              </a:rPr>
              <a:t> </a:t>
            </a:r>
            <a:r>
              <a:rPr lang="en-US" sz="2800" b="1">
                <a:solidFill>
                  <a:srgbClr val="7F0055"/>
                </a:solidFill>
                <a:highlight>
                  <a:srgbClr val="E8F2FE"/>
                </a:highlight>
                <a:latin typeface="Courier New" panose="02070309020205020404" pitchFamily="49" charset="0"/>
              </a:rPr>
              <a:t>double</a:t>
            </a:r>
            <a:r>
              <a:rPr lang="en-US" sz="2800" b="1">
                <a:solidFill>
                  <a:srgbClr val="000000"/>
                </a:solidFill>
                <a:highlight>
                  <a:srgbClr val="E8F2FE"/>
                </a:highlight>
                <a:latin typeface="Courier New" panose="02070309020205020404" pitchFamily="49" charset="0"/>
              </a:rPr>
              <a:t> </a:t>
            </a:r>
            <a:r>
              <a:rPr lang="en-US" sz="2800" b="1" u="sng">
                <a:solidFill>
                  <a:srgbClr val="000000"/>
                </a:solidFill>
                <a:highlight>
                  <a:srgbClr val="E8F2FE"/>
                </a:highlight>
                <a:latin typeface="Courier New" panose="02070309020205020404" pitchFamily="49" charset="0"/>
              </a:rPr>
              <a:t>PI=3.14;</a:t>
            </a:r>
          </a:p>
          <a:p>
            <a:endParaRPr lang="en-US" sz="2800" b="1" u="sng">
              <a:solidFill>
                <a:srgbClr val="000000"/>
              </a:solidFill>
              <a:highlight>
                <a:srgbClr val="E8F2FE"/>
              </a:highlight>
              <a:latin typeface="Courier New" panose="02070309020205020404" pitchFamily="49" charset="0"/>
            </a:endParaRPr>
          </a:p>
          <a:p>
            <a:r>
              <a:rPr lang="en-US" sz="2800" b="1" u="sng">
                <a:solidFill>
                  <a:srgbClr val="000000"/>
                </a:solidFill>
                <a:highlight>
                  <a:srgbClr val="E8F2FE"/>
                </a:highlight>
                <a:latin typeface="Courier New" panose="02070309020205020404" pitchFamily="49" charset="0"/>
              </a:rPr>
              <a:t>PI=3.15;</a:t>
            </a:r>
            <a:endParaRPr lang="en-US" sz="2800"/>
          </a:p>
        </p:txBody>
      </p:sp>
      <p:sp>
        <p:nvSpPr>
          <p:cNvPr id="10" name="Slide Number Placeholder 9">
            <a:extLst>
              <a:ext uri="{FF2B5EF4-FFF2-40B4-BE49-F238E27FC236}">
                <a16:creationId xmlns:a16="http://schemas.microsoft.com/office/drawing/2014/main" id="{7180A3E4-453E-4EC4-ED16-F365588E5C50}"/>
              </a:ext>
            </a:extLst>
          </p:cNvPr>
          <p:cNvSpPr>
            <a:spLocks noGrp="1"/>
          </p:cNvSpPr>
          <p:nvPr>
            <p:ph type="sldNum" sz="quarter" idx="12"/>
          </p:nvPr>
        </p:nvSpPr>
        <p:spPr/>
        <p:txBody>
          <a:bodyPr/>
          <a:lstStyle/>
          <a:p>
            <a:fld id="{48FE5571-560F-4DFC-BA97-61ACA5F7ADE1}" type="slidenum">
              <a:rPr lang="en-US" smtClean="0"/>
              <a:pPr/>
              <a:t>18</a:t>
            </a:fld>
            <a:endParaRPr lang="en-US"/>
          </a:p>
        </p:txBody>
      </p:sp>
    </p:spTree>
    <p:extLst>
      <p:ext uri="{BB962C8B-B14F-4D97-AF65-F5344CB8AC3E}">
        <p14:creationId xmlns:p14="http://schemas.microsoft.com/office/powerpoint/2010/main" val="1626886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vi-VN" kern="0">
                <a:solidFill>
                  <a:srgbClr val="002060"/>
                </a:solidFill>
                <a:latin typeface="Cambria" panose="02040503050406030204" pitchFamily="18" charset="0"/>
              </a:rPr>
              <a:t>Các phép toán trong Java</a:t>
            </a:r>
            <a:endParaRPr lang="en-US" kern="0">
              <a:solidFill>
                <a:srgbClr val="002060"/>
              </a:solidFill>
              <a:latin typeface="Cambria" panose="02040503050406030204" pitchFamily="18" charset="0"/>
            </a:endParaRP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8BD9A5E9-A98C-0D74-8912-54C17622481E}"/>
              </a:ext>
            </a:extLst>
          </p:cNvPr>
          <p:cNvSpPr>
            <a:spLocks noGrp="1"/>
          </p:cNvSpPr>
          <p:nvPr>
            <p:ph type="sldNum" sz="quarter" idx="12"/>
          </p:nvPr>
        </p:nvSpPr>
        <p:spPr/>
        <p:txBody>
          <a:bodyPr/>
          <a:lstStyle/>
          <a:p>
            <a:fld id="{48FE5571-560F-4DFC-BA97-61ACA5F7ADE1}" type="slidenum">
              <a:rPr lang="en-US" smtClean="0"/>
              <a:pPr/>
              <a:t>19</a:t>
            </a:fld>
            <a:endParaRPr lang="en-US"/>
          </a:p>
        </p:txBody>
      </p:sp>
    </p:spTree>
    <p:extLst>
      <p:ext uri="{BB962C8B-B14F-4D97-AF65-F5344CB8AC3E}">
        <p14:creationId xmlns:p14="http://schemas.microsoft.com/office/powerpoint/2010/main" val="17013092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vi-VN" kern="0">
                <a:solidFill>
                  <a:srgbClr val="002060"/>
                </a:solidFill>
                <a:latin typeface="Cambria" panose="02040503050406030204" pitchFamily="18" charset="0"/>
              </a:rPr>
              <a:t>Phép gán</a:t>
            </a:r>
          </a:p>
          <a:p>
            <a:pPr marL="0" indent="0" algn="just">
              <a:buClr>
                <a:srgbClr val="3DC5C5"/>
              </a:buClr>
              <a:buNone/>
              <a:defRPr/>
            </a:pPr>
            <a:r>
              <a:rPr lang="vi-VN" kern="0">
                <a:solidFill>
                  <a:srgbClr val="002060"/>
                </a:solidFill>
                <a:latin typeface="Cambria" panose="02040503050406030204" pitchFamily="18" charset="0"/>
              </a:rPr>
              <a:t>       =   +=  -=  </a:t>
            </a:r>
            <a:r>
              <a:rPr lang="en-US" kern="0">
                <a:solidFill>
                  <a:srgbClr val="002060"/>
                </a:solidFill>
                <a:latin typeface="Cambria" panose="02040503050406030204" pitchFamily="18" charset="0"/>
              </a:rPr>
              <a:t>*=, /=</a:t>
            </a:r>
            <a:endParaRPr lang="vi-VN" kern="0">
              <a:solidFill>
                <a:srgbClr val="002060"/>
              </a:solidFill>
              <a:latin typeface="Cambria" panose="02040503050406030204" pitchFamily="18" charset="0"/>
            </a:endParaRPr>
          </a:p>
          <a:p>
            <a:pPr lvl="0" algn="just">
              <a:buClr>
                <a:srgbClr val="3DC5C5"/>
              </a:buClr>
              <a:defRPr/>
            </a:pPr>
            <a:r>
              <a:rPr lang="vi-VN" kern="0">
                <a:solidFill>
                  <a:srgbClr val="002060"/>
                </a:solidFill>
                <a:latin typeface="Cambria" panose="02040503050406030204" pitchFamily="18" charset="0"/>
              </a:rPr>
              <a:t>Phép toán toán học cơ bản</a:t>
            </a:r>
          </a:p>
          <a:p>
            <a:pPr marL="0" indent="0" algn="just">
              <a:buClr>
                <a:srgbClr val="3DC5C5"/>
              </a:buClr>
              <a:buNone/>
              <a:defRPr/>
            </a:pPr>
            <a:r>
              <a:rPr lang="vi-VN" kern="0">
                <a:solidFill>
                  <a:srgbClr val="002060"/>
                </a:solidFill>
                <a:latin typeface="Cambria" panose="02040503050406030204" pitchFamily="18" charset="0"/>
              </a:rPr>
              <a:t>        +   -   *   /   %   </a:t>
            </a:r>
          </a:p>
          <a:p>
            <a:pPr lvl="0" algn="just">
              <a:buClr>
                <a:srgbClr val="3DC5C5"/>
              </a:buClr>
              <a:defRPr/>
            </a:pPr>
            <a:r>
              <a:rPr lang="vi-VN" kern="0">
                <a:solidFill>
                  <a:srgbClr val="002060"/>
                </a:solidFill>
                <a:latin typeface="Cambria" panose="02040503050406030204" pitchFamily="18" charset="0"/>
              </a:rPr>
              <a:t>Phép toán so sánh</a:t>
            </a:r>
          </a:p>
          <a:p>
            <a:pPr marL="0" indent="0" algn="just">
              <a:buClr>
                <a:srgbClr val="3DC5C5"/>
              </a:buClr>
              <a:buNone/>
              <a:defRPr/>
            </a:pPr>
            <a:r>
              <a:rPr lang="vi-VN" kern="0">
                <a:solidFill>
                  <a:srgbClr val="002060"/>
                </a:solidFill>
                <a:latin typeface="Cambria" panose="02040503050406030204" pitchFamily="18" charset="0"/>
              </a:rPr>
              <a:t>        ==   &gt;   &lt;   !=  &gt;=   &lt;=</a:t>
            </a:r>
          </a:p>
          <a:p>
            <a:pPr lvl="0" algn="just">
              <a:buClr>
                <a:srgbClr val="3DC5C5"/>
              </a:buClr>
              <a:defRPr/>
            </a:pPr>
            <a:r>
              <a:rPr lang="vi-VN" kern="0">
                <a:solidFill>
                  <a:srgbClr val="002060"/>
                </a:solidFill>
                <a:latin typeface="Cambria" panose="02040503050406030204" pitchFamily="18" charset="0"/>
              </a:rPr>
              <a:t>Phép toán logic</a:t>
            </a:r>
          </a:p>
          <a:p>
            <a:pPr marL="0" indent="0" algn="just">
              <a:buClr>
                <a:srgbClr val="3DC5C5"/>
              </a:buClr>
              <a:buNone/>
              <a:defRPr/>
            </a:pPr>
            <a:r>
              <a:rPr lang="vi-VN" kern="0">
                <a:solidFill>
                  <a:srgbClr val="002060"/>
                </a:solidFill>
                <a:latin typeface="Cambria" panose="02040503050406030204" pitchFamily="18" charset="0"/>
              </a:rPr>
              <a:t>        !   &amp;&amp;   ||</a:t>
            </a:r>
          </a:p>
          <a:p>
            <a:pPr lvl="0" algn="just">
              <a:buClr>
                <a:srgbClr val="3DC5C5"/>
              </a:buClr>
              <a:defRPr/>
            </a:pPr>
            <a:r>
              <a:rPr lang="vi-VN" kern="0">
                <a:solidFill>
                  <a:srgbClr val="002060"/>
                </a:solidFill>
                <a:latin typeface="Cambria" panose="02040503050406030204" pitchFamily="18" charset="0"/>
              </a:rPr>
              <a:t>Phép toán tăng dần ++, giảm dần --</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03E86FD7-3A5A-A0C6-CA97-C5FD4D7D69A7}"/>
              </a:ext>
            </a:extLst>
          </p:cNvPr>
          <p:cNvSpPr>
            <a:spLocks noGrp="1"/>
          </p:cNvSpPr>
          <p:nvPr>
            <p:ph type="sldNum" sz="quarter" idx="12"/>
          </p:nvPr>
        </p:nvSpPr>
        <p:spPr/>
        <p:txBody>
          <a:bodyPr/>
          <a:lstStyle/>
          <a:p>
            <a:fld id="{48FE5571-560F-4DFC-BA97-61ACA5F7ADE1}" type="slidenum">
              <a:rPr lang="en-US" smtClean="0"/>
              <a:pPr/>
              <a:t>20</a:t>
            </a:fld>
            <a:endParaRPr lang="en-US"/>
          </a:p>
        </p:txBody>
      </p:sp>
    </p:spTree>
    <p:extLst>
      <p:ext uri="{BB962C8B-B14F-4D97-AF65-F5344CB8AC3E}">
        <p14:creationId xmlns:p14="http://schemas.microsoft.com/office/powerpoint/2010/main" val="35638491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Phép gán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10" name="Table 9"/>
          <p:cNvGraphicFramePr>
            <a:graphicFrameLocks noGrp="1"/>
          </p:cNvGraphicFramePr>
          <p:nvPr/>
        </p:nvGraphicFramePr>
        <p:xfrm>
          <a:off x="2286000" y="1295400"/>
          <a:ext cx="8077200" cy="4800600"/>
        </p:xfrm>
        <a:graphic>
          <a:graphicData uri="http://schemas.openxmlformats.org/drawingml/2006/table">
            <a:tbl>
              <a:tblPr firstRow="1" firstCol="1" bandRow="1">
                <a:tableStyleId>{5C22544A-7EE6-4342-B048-85BDC9FD1C3A}</a:tableStyleId>
              </a:tblPr>
              <a:tblGrid>
                <a:gridCol w="1305673">
                  <a:extLst>
                    <a:ext uri="{9D8B030D-6E8A-4147-A177-3AD203B41FA5}">
                      <a16:colId xmlns:a16="http://schemas.microsoft.com/office/drawing/2014/main" val="20000"/>
                    </a:ext>
                  </a:extLst>
                </a:gridCol>
                <a:gridCol w="5619152">
                  <a:extLst>
                    <a:ext uri="{9D8B030D-6E8A-4147-A177-3AD203B41FA5}">
                      <a16:colId xmlns:a16="http://schemas.microsoft.com/office/drawing/2014/main" val="20001"/>
                    </a:ext>
                  </a:extLst>
                </a:gridCol>
                <a:gridCol w="1152375">
                  <a:extLst>
                    <a:ext uri="{9D8B030D-6E8A-4147-A177-3AD203B41FA5}">
                      <a16:colId xmlns:a16="http://schemas.microsoft.com/office/drawing/2014/main" val="20002"/>
                    </a:ext>
                  </a:extLst>
                </a:gridCol>
              </a:tblGrid>
              <a:tr h="518292">
                <a:tc>
                  <a:txBody>
                    <a:bodyPr/>
                    <a:lstStyle/>
                    <a:p>
                      <a:pPr algn="ctr">
                        <a:lnSpc>
                          <a:spcPct val="107000"/>
                        </a:lnSpc>
                        <a:spcAft>
                          <a:spcPts val="0"/>
                        </a:spcAft>
                      </a:pPr>
                      <a:r>
                        <a:rPr lang="en-US" sz="2400" dirty="0" err="1">
                          <a:effectLst/>
                          <a:latin typeface="Cambria" panose="02040503050406030204" pitchFamily="18" charset="0"/>
                        </a:rPr>
                        <a:t>Ký</a:t>
                      </a:r>
                      <a:r>
                        <a:rPr lang="en-US" sz="2400" dirty="0">
                          <a:effectLst/>
                          <a:latin typeface="Cambria" panose="02040503050406030204" pitchFamily="18" charset="0"/>
                        </a:rPr>
                        <a:t> </a:t>
                      </a:r>
                      <a:r>
                        <a:rPr lang="en-US" sz="2400" dirty="0" err="1">
                          <a:effectLst/>
                          <a:latin typeface="Cambria" panose="02040503050406030204" pitchFamily="18" charset="0"/>
                        </a:rPr>
                        <a:t>hiệu</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68586" marR="68586" marT="0" marB="0"/>
                </a:tc>
                <a:tc>
                  <a:txBody>
                    <a:bodyPr/>
                    <a:lstStyle/>
                    <a:p>
                      <a:pPr algn="ctr">
                        <a:lnSpc>
                          <a:spcPct val="107000"/>
                        </a:lnSpc>
                        <a:spcAft>
                          <a:spcPts val="0"/>
                        </a:spcAft>
                      </a:pPr>
                      <a:r>
                        <a:rPr lang="en-US" sz="2400">
                          <a:effectLst/>
                          <a:latin typeface="Cambria" panose="02040503050406030204" pitchFamily="18" charset="0"/>
                        </a:rPr>
                        <a:t>Mô tả</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6" marR="68586" marT="0" marB="0"/>
                </a:tc>
                <a:tc>
                  <a:txBody>
                    <a:bodyPr/>
                    <a:lstStyle/>
                    <a:p>
                      <a:pPr algn="ctr">
                        <a:lnSpc>
                          <a:spcPct val="107000"/>
                        </a:lnSpc>
                        <a:spcAft>
                          <a:spcPts val="0"/>
                        </a:spcAft>
                      </a:pPr>
                      <a:r>
                        <a:rPr lang="en-US" sz="2400">
                          <a:effectLst/>
                          <a:latin typeface="Cambria" panose="02040503050406030204" pitchFamily="18" charset="0"/>
                        </a:rPr>
                        <a:t>Ví dụ</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6" marR="68586" marT="0" marB="0"/>
                </a:tc>
                <a:extLst>
                  <a:ext uri="{0D108BD9-81ED-4DB2-BD59-A6C34878D82A}">
                    <a16:rowId xmlns:a16="http://schemas.microsoft.com/office/drawing/2014/main" val="10000"/>
                  </a:ext>
                </a:extLst>
              </a:tr>
              <a:tr h="775935">
                <a:tc>
                  <a:txBody>
                    <a:bodyPr/>
                    <a:lstStyle/>
                    <a:p>
                      <a:pPr algn="ctr">
                        <a:lnSpc>
                          <a:spcPct val="107000"/>
                        </a:lnSpc>
                        <a:spcAft>
                          <a:spcPts val="0"/>
                        </a:spcAft>
                      </a:pPr>
                      <a:r>
                        <a:rPr lang="en-US" sz="2400" dirty="0">
                          <a:effectLst/>
                          <a:latin typeface="Cambria" panose="02040503050406030204" pitchFamily="18" charset="0"/>
                        </a:rPr>
                        <a:t>=</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68586" marR="68586" marT="0" marB="0"/>
                </a:tc>
                <a:tc>
                  <a:txBody>
                    <a:bodyPr/>
                    <a:lstStyle/>
                    <a:p>
                      <a:pPr algn="just">
                        <a:lnSpc>
                          <a:spcPct val="107000"/>
                        </a:lnSpc>
                        <a:spcAft>
                          <a:spcPts val="0"/>
                        </a:spcAft>
                      </a:pPr>
                      <a:r>
                        <a:rPr lang="en-US" sz="2400">
                          <a:effectLst/>
                          <a:latin typeface="Cambria" panose="02040503050406030204" pitchFamily="18" charset="0"/>
                        </a:rPr>
                        <a:t>Gán toán tử hạng hai cho toán tử hạng nhất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6" marR="68586" marT="0" marB="0"/>
                </a:tc>
                <a:tc>
                  <a:txBody>
                    <a:bodyPr/>
                    <a:lstStyle/>
                    <a:p>
                      <a:pPr algn="just">
                        <a:lnSpc>
                          <a:spcPct val="107000"/>
                        </a:lnSpc>
                        <a:spcAft>
                          <a:spcPts val="0"/>
                        </a:spcAft>
                      </a:pPr>
                      <a:r>
                        <a:rPr lang="en-US" sz="2400">
                          <a:effectLst/>
                          <a:latin typeface="Cambria" panose="02040503050406030204" pitchFamily="18" charset="0"/>
                        </a:rPr>
                        <a:t>a = 1</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6" marR="68586" marT="0" marB="0"/>
                </a:tc>
                <a:extLst>
                  <a:ext uri="{0D108BD9-81ED-4DB2-BD59-A6C34878D82A}">
                    <a16:rowId xmlns:a16="http://schemas.microsoft.com/office/drawing/2014/main" val="10001"/>
                  </a:ext>
                </a:extLst>
              </a:tr>
              <a:tr h="1178568">
                <a:tc>
                  <a:txBody>
                    <a:bodyPr/>
                    <a:lstStyle/>
                    <a:p>
                      <a:pPr algn="ctr">
                        <a:lnSpc>
                          <a:spcPct val="107000"/>
                        </a:lnSpc>
                        <a:spcAft>
                          <a:spcPts val="0"/>
                        </a:spcAft>
                      </a:pPr>
                      <a:r>
                        <a:rPr lang="en-US" sz="2400">
                          <a:effectLst/>
                          <a:latin typeface="Cambria" panose="020405030504060302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6" marR="68586" marT="0" marB="0"/>
                </a:tc>
                <a:tc>
                  <a:txBody>
                    <a:bodyPr/>
                    <a:lstStyle/>
                    <a:p>
                      <a:pPr algn="just">
                        <a:lnSpc>
                          <a:spcPct val="107000"/>
                        </a:lnSpc>
                        <a:spcAft>
                          <a:spcPts val="0"/>
                        </a:spcAft>
                      </a:pPr>
                      <a:r>
                        <a:rPr lang="en-US" sz="2400">
                          <a:effectLst/>
                          <a:latin typeface="Cambria" panose="02040503050406030204" pitchFamily="18" charset="0"/>
                        </a:rPr>
                        <a:t>Cộng hoặc nối chuỗi toán hạng sau vào toán hạng đầu và gán kết quả cho toán hạng đầu</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6" marR="68586" marT="0" marB="0"/>
                </a:tc>
                <a:tc>
                  <a:txBody>
                    <a:bodyPr/>
                    <a:lstStyle/>
                    <a:p>
                      <a:pPr algn="just">
                        <a:lnSpc>
                          <a:spcPct val="107000"/>
                        </a:lnSpc>
                        <a:spcAft>
                          <a:spcPts val="0"/>
                        </a:spcAft>
                      </a:pPr>
                      <a:r>
                        <a:rPr lang="en-US" sz="2400">
                          <a:effectLst/>
                          <a:latin typeface="Cambria" panose="02040503050406030204" pitchFamily="18" charset="0"/>
                        </a:rPr>
                        <a:t>a += 1</a:t>
                      </a:r>
                    </a:p>
                    <a:p>
                      <a:pPr algn="just">
                        <a:lnSpc>
                          <a:spcPct val="107000"/>
                        </a:lnSpc>
                        <a:spcAft>
                          <a:spcPts val="0"/>
                        </a:spcAft>
                      </a:pPr>
                      <a:r>
                        <a:rPr lang="en-US" sz="2400">
                          <a:effectLst/>
                          <a:latin typeface="Cambria" panose="02040503050406030204" pitchFamily="18" charset="0"/>
                          <a:ea typeface="Calibri" panose="020F0502020204030204" pitchFamily="34" charset="0"/>
                          <a:cs typeface="Times New Roman" panose="02020603050405020304" pitchFamily="18" charset="0"/>
                        </a:rPr>
                        <a:t>a=a+1</a:t>
                      </a:r>
                    </a:p>
                  </a:txBody>
                  <a:tcPr marL="68586" marR="68586" marT="0" marB="0"/>
                </a:tc>
                <a:extLst>
                  <a:ext uri="{0D108BD9-81ED-4DB2-BD59-A6C34878D82A}">
                    <a16:rowId xmlns:a16="http://schemas.microsoft.com/office/drawing/2014/main" val="10002"/>
                  </a:ext>
                </a:extLst>
              </a:tr>
              <a:tr h="775935">
                <a:tc>
                  <a:txBody>
                    <a:bodyPr/>
                    <a:lstStyle/>
                    <a:p>
                      <a:pPr algn="ctr">
                        <a:lnSpc>
                          <a:spcPct val="107000"/>
                        </a:lnSpc>
                        <a:spcAft>
                          <a:spcPts val="0"/>
                        </a:spcAft>
                      </a:pPr>
                      <a:r>
                        <a:rPr lang="en-US" sz="2400">
                          <a:effectLst/>
                          <a:latin typeface="Cambria" panose="020405030504060302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6" marR="68586" marT="0" marB="0"/>
                </a:tc>
                <a:tc>
                  <a:txBody>
                    <a:bodyPr/>
                    <a:lstStyle/>
                    <a:p>
                      <a:pPr algn="just">
                        <a:lnSpc>
                          <a:spcPct val="107000"/>
                        </a:lnSpc>
                        <a:spcAft>
                          <a:spcPts val="0"/>
                        </a:spcAft>
                      </a:pPr>
                      <a:r>
                        <a:rPr lang="en-US" sz="2400" dirty="0" err="1">
                          <a:effectLst/>
                          <a:latin typeface="Cambria" panose="02040503050406030204" pitchFamily="18" charset="0"/>
                        </a:rPr>
                        <a:t>Trừ</a:t>
                      </a:r>
                      <a:r>
                        <a:rPr lang="en-US" sz="2400" dirty="0">
                          <a:effectLst/>
                          <a:latin typeface="Cambria" panose="02040503050406030204" pitchFamily="18" charset="0"/>
                        </a:rPr>
                        <a:t> </a:t>
                      </a:r>
                      <a:r>
                        <a:rPr lang="en-US" sz="2400" dirty="0" err="1">
                          <a:effectLst/>
                          <a:latin typeface="Cambria" panose="02040503050406030204" pitchFamily="18" charset="0"/>
                        </a:rPr>
                        <a:t>toán</a:t>
                      </a:r>
                      <a:r>
                        <a:rPr lang="en-US" sz="2400" dirty="0">
                          <a:effectLst/>
                          <a:latin typeface="Cambria" panose="02040503050406030204" pitchFamily="18" charset="0"/>
                        </a:rPr>
                        <a:t> </a:t>
                      </a:r>
                      <a:r>
                        <a:rPr lang="en-US" sz="2400" dirty="0" err="1">
                          <a:effectLst/>
                          <a:latin typeface="Cambria" panose="02040503050406030204" pitchFamily="18" charset="0"/>
                        </a:rPr>
                        <a:t>hạng</a:t>
                      </a:r>
                      <a:r>
                        <a:rPr lang="en-US" sz="2400" dirty="0">
                          <a:effectLst/>
                          <a:latin typeface="Cambria" panose="02040503050406030204" pitchFamily="18" charset="0"/>
                        </a:rPr>
                        <a:t> </a:t>
                      </a:r>
                      <a:r>
                        <a:rPr lang="en-US" sz="2400" dirty="0" err="1">
                          <a:effectLst/>
                          <a:latin typeface="Cambria" panose="02040503050406030204" pitchFamily="18" charset="0"/>
                        </a:rPr>
                        <a:t>sau</a:t>
                      </a:r>
                      <a:r>
                        <a:rPr lang="en-US" sz="2400" dirty="0">
                          <a:effectLst/>
                          <a:latin typeface="Cambria" panose="02040503050406030204" pitchFamily="18" charset="0"/>
                        </a:rPr>
                        <a:t> </a:t>
                      </a:r>
                      <a:r>
                        <a:rPr lang="en-US" sz="2400" dirty="0" err="1">
                          <a:effectLst/>
                          <a:latin typeface="Cambria" panose="02040503050406030204" pitchFamily="18" charset="0"/>
                        </a:rPr>
                        <a:t>khỏi</a:t>
                      </a:r>
                      <a:r>
                        <a:rPr lang="en-US" sz="2400" dirty="0">
                          <a:effectLst/>
                          <a:latin typeface="Cambria" panose="02040503050406030204" pitchFamily="18" charset="0"/>
                        </a:rPr>
                        <a:t> </a:t>
                      </a:r>
                      <a:r>
                        <a:rPr lang="en-US" sz="2400" dirty="0" err="1">
                          <a:effectLst/>
                          <a:latin typeface="Cambria" panose="02040503050406030204" pitchFamily="18" charset="0"/>
                        </a:rPr>
                        <a:t>toán</a:t>
                      </a:r>
                      <a:r>
                        <a:rPr lang="en-US" sz="2400" dirty="0">
                          <a:effectLst/>
                          <a:latin typeface="Cambria" panose="02040503050406030204" pitchFamily="18" charset="0"/>
                        </a:rPr>
                        <a:t> </a:t>
                      </a:r>
                      <a:r>
                        <a:rPr lang="en-US" sz="2400" dirty="0" err="1">
                          <a:effectLst/>
                          <a:latin typeface="Cambria" panose="02040503050406030204" pitchFamily="18" charset="0"/>
                        </a:rPr>
                        <a:t>hạng</a:t>
                      </a:r>
                      <a:r>
                        <a:rPr lang="en-US" sz="2400" dirty="0">
                          <a:effectLst/>
                          <a:latin typeface="Cambria" panose="02040503050406030204" pitchFamily="18" charset="0"/>
                        </a:rPr>
                        <a:t> </a:t>
                      </a:r>
                      <a:r>
                        <a:rPr lang="en-US" sz="2400" dirty="0" err="1">
                          <a:effectLst/>
                          <a:latin typeface="Cambria" panose="02040503050406030204" pitchFamily="18" charset="0"/>
                        </a:rPr>
                        <a:t>đầu</a:t>
                      </a:r>
                      <a:r>
                        <a:rPr lang="en-US" sz="2400" dirty="0">
                          <a:effectLst/>
                          <a:latin typeface="Cambria" panose="02040503050406030204" pitchFamily="18" charset="0"/>
                        </a:rPr>
                        <a:t> </a:t>
                      </a:r>
                      <a:r>
                        <a:rPr lang="en-US" sz="2400" dirty="0" err="1">
                          <a:effectLst/>
                          <a:latin typeface="Cambria" panose="02040503050406030204" pitchFamily="18" charset="0"/>
                        </a:rPr>
                        <a:t>và</a:t>
                      </a:r>
                      <a:r>
                        <a:rPr lang="en-US" sz="2400" dirty="0">
                          <a:effectLst/>
                          <a:latin typeface="Cambria" panose="02040503050406030204" pitchFamily="18" charset="0"/>
                        </a:rPr>
                        <a:t> </a:t>
                      </a:r>
                      <a:r>
                        <a:rPr lang="en-US" sz="2400" dirty="0" err="1">
                          <a:effectLst/>
                          <a:latin typeface="Cambria" panose="02040503050406030204" pitchFamily="18" charset="0"/>
                        </a:rPr>
                        <a:t>gán</a:t>
                      </a:r>
                      <a:r>
                        <a:rPr lang="en-US" sz="2400" dirty="0">
                          <a:effectLst/>
                          <a:latin typeface="Cambria" panose="02040503050406030204" pitchFamily="18" charset="0"/>
                        </a:rPr>
                        <a:t> </a:t>
                      </a:r>
                      <a:r>
                        <a:rPr lang="en-US" sz="2400" dirty="0" err="1">
                          <a:effectLst/>
                          <a:latin typeface="Cambria" panose="02040503050406030204" pitchFamily="18" charset="0"/>
                        </a:rPr>
                        <a:t>kết</a:t>
                      </a:r>
                      <a:r>
                        <a:rPr lang="en-US" sz="2400" dirty="0">
                          <a:effectLst/>
                          <a:latin typeface="Cambria" panose="02040503050406030204" pitchFamily="18" charset="0"/>
                        </a:rPr>
                        <a:t> </a:t>
                      </a:r>
                      <a:r>
                        <a:rPr lang="en-US" sz="2400" dirty="0" err="1">
                          <a:effectLst/>
                          <a:latin typeface="Cambria" panose="02040503050406030204" pitchFamily="18" charset="0"/>
                        </a:rPr>
                        <a:t>quả</a:t>
                      </a:r>
                      <a:r>
                        <a:rPr lang="en-US" sz="2400" dirty="0">
                          <a:effectLst/>
                          <a:latin typeface="Cambria" panose="02040503050406030204" pitchFamily="18" charset="0"/>
                        </a:rPr>
                        <a:t> </a:t>
                      </a:r>
                      <a:r>
                        <a:rPr lang="en-US" sz="2400" dirty="0" err="1">
                          <a:effectLst/>
                          <a:latin typeface="Cambria" panose="02040503050406030204" pitchFamily="18" charset="0"/>
                        </a:rPr>
                        <a:t>cho</a:t>
                      </a:r>
                      <a:r>
                        <a:rPr lang="en-US" sz="2400" dirty="0">
                          <a:effectLst/>
                          <a:latin typeface="Cambria" panose="02040503050406030204" pitchFamily="18" charset="0"/>
                        </a:rPr>
                        <a:t> </a:t>
                      </a:r>
                      <a:r>
                        <a:rPr lang="en-US" sz="2400" dirty="0" err="1">
                          <a:effectLst/>
                          <a:latin typeface="Cambria" panose="02040503050406030204" pitchFamily="18" charset="0"/>
                        </a:rPr>
                        <a:t>toán</a:t>
                      </a:r>
                      <a:r>
                        <a:rPr lang="en-US" sz="2400" dirty="0">
                          <a:effectLst/>
                          <a:latin typeface="Cambria" panose="02040503050406030204" pitchFamily="18" charset="0"/>
                        </a:rPr>
                        <a:t> </a:t>
                      </a:r>
                      <a:r>
                        <a:rPr lang="en-US" sz="2400" dirty="0" err="1">
                          <a:effectLst/>
                          <a:latin typeface="Cambria" panose="02040503050406030204" pitchFamily="18" charset="0"/>
                        </a:rPr>
                        <a:t>hạng</a:t>
                      </a:r>
                      <a:r>
                        <a:rPr lang="en-US" sz="2400" dirty="0">
                          <a:effectLst/>
                          <a:latin typeface="Cambria" panose="02040503050406030204" pitchFamily="18" charset="0"/>
                        </a:rPr>
                        <a:t> </a:t>
                      </a:r>
                      <a:r>
                        <a:rPr lang="en-US" sz="2400" dirty="0" err="1">
                          <a:effectLst/>
                          <a:latin typeface="Cambria" panose="02040503050406030204" pitchFamily="18" charset="0"/>
                        </a:rPr>
                        <a:t>đầu</a:t>
                      </a:r>
                      <a:r>
                        <a:rPr lang="en-US" sz="2400" dirty="0">
                          <a:effectLst/>
                          <a:latin typeface="Cambria" panose="02040503050406030204" pitchFamily="18" charset="0"/>
                        </a:rPr>
                        <a:t>.</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68586" marR="68586" marT="0" marB="0"/>
                </a:tc>
                <a:tc>
                  <a:txBody>
                    <a:bodyPr/>
                    <a:lstStyle/>
                    <a:p>
                      <a:pPr algn="just">
                        <a:lnSpc>
                          <a:spcPct val="107000"/>
                        </a:lnSpc>
                        <a:spcAft>
                          <a:spcPts val="0"/>
                        </a:spcAft>
                      </a:pPr>
                      <a:r>
                        <a:rPr lang="en-US" sz="2400">
                          <a:effectLst/>
                          <a:latin typeface="Cambria" panose="02040503050406030204" pitchFamily="18" charset="0"/>
                        </a:rPr>
                        <a:t>a -= 1</a:t>
                      </a:r>
                    </a:p>
                    <a:p>
                      <a:pPr algn="just">
                        <a:lnSpc>
                          <a:spcPct val="107000"/>
                        </a:lnSpc>
                        <a:spcAft>
                          <a:spcPts val="0"/>
                        </a:spcAft>
                      </a:pPr>
                      <a:r>
                        <a:rPr lang="en-US" sz="2400">
                          <a:effectLst/>
                          <a:latin typeface="Cambria" panose="02040503050406030204" pitchFamily="18" charset="0"/>
                          <a:ea typeface="Calibri" panose="020F0502020204030204" pitchFamily="34" charset="0"/>
                          <a:cs typeface="Times New Roman" panose="02020603050405020304" pitchFamily="18" charset="0"/>
                        </a:rPr>
                        <a:t>a=a-1</a:t>
                      </a:r>
                    </a:p>
                  </a:txBody>
                  <a:tcPr marL="68586" marR="68586" marT="0" marB="0"/>
                </a:tc>
                <a:extLst>
                  <a:ext uri="{0D108BD9-81ED-4DB2-BD59-A6C34878D82A}">
                    <a16:rowId xmlns:a16="http://schemas.microsoft.com/office/drawing/2014/main" val="10003"/>
                  </a:ext>
                </a:extLst>
              </a:tr>
              <a:tr h="775935">
                <a:tc>
                  <a:txBody>
                    <a:bodyPr/>
                    <a:lstStyle/>
                    <a:p>
                      <a:pPr algn="ctr">
                        <a:lnSpc>
                          <a:spcPct val="107000"/>
                        </a:lnSpc>
                        <a:spcAft>
                          <a:spcPts val="0"/>
                        </a:spcAft>
                      </a:pPr>
                      <a:r>
                        <a:rPr lang="en-US" sz="2400">
                          <a:effectLst/>
                          <a:latin typeface="Cambria" panose="020405030504060302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6" marR="68586" marT="0" marB="0"/>
                </a:tc>
                <a:tc>
                  <a:txBody>
                    <a:bodyPr/>
                    <a:lstStyle/>
                    <a:p>
                      <a:pPr algn="just">
                        <a:lnSpc>
                          <a:spcPct val="107000"/>
                        </a:lnSpc>
                        <a:spcAft>
                          <a:spcPts val="0"/>
                        </a:spcAft>
                      </a:pPr>
                      <a:r>
                        <a:rPr lang="en-US" sz="2400">
                          <a:effectLst/>
                          <a:latin typeface="Cambria" panose="02040503050406030204" pitchFamily="18" charset="0"/>
                        </a:rPr>
                        <a:t>Nhân toán hạng sau vào toán hạng đầu và gán kết quả cho toán hạng đầu</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6" marR="68586" marT="0" marB="0"/>
                </a:tc>
                <a:tc>
                  <a:txBody>
                    <a:bodyPr/>
                    <a:lstStyle/>
                    <a:p>
                      <a:pPr algn="just">
                        <a:lnSpc>
                          <a:spcPct val="107000"/>
                        </a:lnSpc>
                        <a:spcAft>
                          <a:spcPts val="0"/>
                        </a:spcAft>
                      </a:pPr>
                      <a:r>
                        <a:rPr lang="en-US" sz="2400">
                          <a:effectLst/>
                          <a:latin typeface="Cambria" panose="02040503050406030204" pitchFamily="18" charset="0"/>
                        </a:rPr>
                        <a:t>a *= 2</a:t>
                      </a:r>
                    </a:p>
                    <a:p>
                      <a:pPr algn="just">
                        <a:lnSpc>
                          <a:spcPct val="107000"/>
                        </a:lnSpc>
                        <a:spcAft>
                          <a:spcPts val="0"/>
                        </a:spcAft>
                      </a:pPr>
                      <a:r>
                        <a:rPr lang="en-US" sz="2400">
                          <a:effectLst/>
                          <a:latin typeface="Cambria" panose="02040503050406030204" pitchFamily="18" charset="0"/>
                          <a:ea typeface="Calibri" panose="020F0502020204030204" pitchFamily="34" charset="0"/>
                          <a:cs typeface="Times New Roman" panose="02020603050405020304" pitchFamily="18" charset="0"/>
                        </a:rPr>
                        <a:t>a=a*2</a:t>
                      </a:r>
                    </a:p>
                  </a:txBody>
                  <a:tcPr marL="68586" marR="68586" marT="0" marB="0"/>
                </a:tc>
                <a:extLst>
                  <a:ext uri="{0D108BD9-81ED-4DB2-BD59-A6C34878D82A}">
                    <a16:rowId xmlns:a16="http://schemas.microsoft.com/office/drawing/2014/main" val="10004"/>
                  </a:ext>
                </a:extLst>
              </a:tr>
              <a:tr h="775935">
                <a:tc>
                  <a:txBody>
                    <a:bodyPr/>
                    <a:lstStyle/>
                    <a:p>
                      <a:pPr algn="ctr">
                        <a:lnSpc>
                          <a:spcPct val="107000"/>
                        </a:lnSpc>
                        <a:spcAft>
                          <a:spcPts val="0"/>
                        </a:spcAft>
                      </a:pPr>
                      <a:r>
                        <a:rPr lang="en-US" sz="2400">
                          <a:effectLst/>
                          <a:latin typeface="Cambria" panose="020405030504060302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6" marR="68586" marT="0" marB="0"/>
                </a:tc>
                <a:tc>
                  <a:txBody>
                    <a:bodyPr/>
                    <a:lstStyle/>
                    <a:p>
                      <a:pPr algn="just">
                        <a:lnSpc>
                          <a:spcPct val="107000"/>
                        </a:lnSpc>
                        <a:spcAft>
                          <a:spcPts val="0"/>
                        </a:spcAft>
                      </a:pPr>
                      <a:r>
                        <a:rPr lang="en-US" sz="2400">
                          <a:effectLst/>
                          <a:latin typeface="Cambria" panose="02040503050406030204" pitchFamily="18" charset="0"/>
                        </a:rPr>
                        <a:t>Chia toán hạng sau cho toán hạng đầu và gán kết quả cho toán hạng đầu</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6" marR="68586" marT="0" marB="0"/>
                </a:tc>
                <a:tc>
                  <a:txBody>
                    <a:bodyPr/>
                    <a:lstStyle/>
                    <a:p>
                      <a:pPr algn="just">
                        <a:lnSpc>
                          <a:spcPct val="107000"/>
                        </a:lnSpc>
                        <a:spcAft>
                          <a:spcPts val="0"/>
                        </a:spcAft>
                      </a:pPr>
                      <a:r>
                        <a:rPr lang="en-US" sz="2400" dirty="0">
                          <a:effectLst/>
                          <a:latin typeface="Cambria" panose="02040503050406030204" pitchFamily="18" charset="0"/>
                        </a:rPr>
                        <a:t>a </a:t>
                      </a:r>
                      <a:r>
                        <a:rPr lang="en-US" sz="2400">
                          <a:effectLst/>
                          <a:latin typeface="Cambria" panose="02040503050406030204" pitchFamily="18" charset="0"/>
                        </a:rPr>
                        <a:t>/= 2</a:t>
                      </a:r>
                    </a:p>
                    <a:p>
                      <a:pPr algn="just">
                        <a:lnSpc>
                          <a:spcPct val="107000"/>
                        </a:lnSpc>
                        <a:spcAft>
                          <a:spcPts val="0"/>
                        </a:spcAft>
                      </a:pPr>
                      <a:r>
                        <a:rPr lang="en-US" sz="2400">
                          <a:effectLst/>
                          <a:latin typeface="Cambria" panose="02040503050406030204" pitchFamily="18" charset="0"/>
                          <a:ea typeface="Calibri" panose="020F0502020204030204" pitchFamily="34" charset="0"/>
                          <a:cs typeface="Times New Roman" panose="02020603050405020304" pitchFamily="18" charset="0"/>
                        </a:rPr>
                        <a:t>a=a/2</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68586" marR="68586" marT="0" marB="0"/>
                </a:tc>
                <a:extLst>
                  <a:ext uri="{0D108BD9-81ED-4DB2-BD59-A6C34878D82A}">
                    <a16:rowId xmlns:a16="http://schemas.microsoft.com/office/drawing/2014/main" val="10005"/>
                  </a:ext>
                </a:extLst>
              </a:tr>
            </a:tbl>
          </a:graphicData>
        </a:graphic>
      </p:graphicFrame>
      <p:sp>
        <p:nvSpPr>
          <p:cNvPr id="8" name="Slide Number Placeholder 7">
            <a:extLst>
              <a:ext uri="{FF2B5EF4-FFF2-40B4-BE49-F238E27FC236}">
                <a16:creationId xmlns:a16="http://schemas.microsoft.com/office/drawing/2014/main" id="{6C2EB86E-D948-4A97-86E5-4866E9A03BEC}"/>
              </a:ext>
            </a:extLst>
          </p:cNvPr>
          <p:cNvSpPr>
            <a:spLocks noGrp="1"/>
          </p:cNvSpPr>
          <p:nvPr>
            <p:ph type="sldNum" sz="quarter" idx="12"/>
          </p:nvPr>
        </p:nvSpPr>
        <p:spPr/>
        <p:txBody>
          <a:bodyPr/>
          <a:lstStyle/>
          <a:p>
            <a:fld id="{48FE5571-560F-4DFC-BA97-61ACA5F7ADE1}" type="slidenum">
              <a:rPr lang="en-US" smtClean="0"/>
              <a:pPr/>
              <a:t>21</a:t>
            </a:fld>
            <a:endParaRPr lang="en-US"/>
          </a:p>
        </p:txBody>
      </p:sp>
    </p:spTree>
    <p:extLst>
      <p:ext uri="{BB962C8B-B14F-4D97-AF65-F5344CB8AC3E}">
        <p14:creationId xmlns:p14="http://schemas.microsoft.com/office/powerpoint/2010/main" val="125886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Phép toán toán học cơ bản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9" name="Table 8"/>
          <p:cNvGraphicFramePr>
            <a:graphicFrameLocks noGrp="1"/>
          </p:cNvGraphicFramePr>
          <p:nvPr/>
        </p:nvGraphicFramePr>
        <p:xfrm>
          <a:off x="2182622" y="1143000"/>
          <a:ext cx="7951978" cy="2286000"/>
        </p:xfrm>
        <a:graphic>
          <a:graphicData uri="http://schemas.openxmlformats.org/drawingml/2006/table">
            <a:tbl>
              <a:tblPr firstRow="1" firstCol="1" bandRow="1">
                <a:tableStyleId>{5C22544A-7EE6-4342-B048-85BDC9FD1C3A}</a:tableStyleId>
              </a:tblPr>
              <a:tblGrid>
                <a:gridCol w="2617978">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81000">
                <a:tc>
                  <a:txBody>
                    <a:bodyPr/>
                    <a:lstStyle/>
                    <a:p>
                      <a:pPr algn="ctr">
                        <a:lnSpc>
                          <a:spcPct val="107000"/>
                        </a:lnSpc>
                        <a:spcAft>
                          <a:spcPts val="0"/>
                        </a:spcAft>
                      </a:pPr>
                      <a:r>
                        <a:rPr lang="en-US" sz="2400" dirty="0" err="1">
                          <a:effectLst/>
                          <a:latin typeface="Cambria" panose="02040503050406030204" pitchFamily="18" charset="0"/>
                        </a:rPr>
                        <a:t>Toán</a:t>
                      </a:r>
                      <a:r>
                        <a:rPr lang="en-US" sz="2400" dirty="0">
                          <a:effectLst/>
                          <a:latin typeface="Cambria" panose="02040503050406030204" pitchFamily="18" charset="0"/>
                        </a:rPr>
                        <a:t> </a:t>
                      </a:r>
                      <a:r>
                        <a:rPr lang="en-US" sz="2400" dirty="0" err="1">
                          <a:effectLst/>
                          <a:latin typeface="Cambria" panose="02040503050406030204" pitchFamily="18" charset="0"/>
                        </a:rPr>
                        <a:t>tử</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68582" marR="68582" marT="0" marB="0"/>
                </a:tc>
                <a:tc>
                  <a:txBody>
                    <a:bodyPr/>
                    <a:lstStyle/>
                    <a:p>
                      <a:pPr algn="ctr">
                        <a:lnSpc>
                          <a:spcPct val="107000"/>
                        </a:lnSpc>
                        <a:spcAft>
                          <a:spcPts val="0"/>
                        </a:spcAft>
                      </a:pPr>
                      <a:r>
                        <a:rPr lang="en-US" sz="2400">
                          <a:effectLst/>
                          <a:latin typeface="Cambria" panose="02040503050406030204" pitchFamily="18" charset="0"/>
                        </a:rPr>
                        <a:t>Mô tả</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2" marR="68582" marT="0" marB="0"/>
                </a:tc>
                <a:extLst>
                  <a:ext uri="{0D108BD9-81ED-4DB2-BD59-A6C34878D82A}">
                    <a16:rowId xmlns:a16="http://schemas.microsoft.com/office/drawing/2014/main" val="10000"/>
                  </a:ext>
                </a:extLst>
              </a:tr>
              <a:tr h="381000">
                <a:tc>
                  <a:txBody>
                    <a:bodyPr/>
                    <a:lstStyle/>
                    <a:p>
                      <a:pPr algn="ctr">
                        <a:lnSpc>
                          <a:spcPct val="107000"/>
                        </a:lnSpc>
                        <a:spcAft>
                          <a:spcPts val="0"/>
                        </a:spcAft>
                      </a:pPr>
                      <a:r>
                        <a:rPr lang="en-US" sz="2400">
                          <a:effectLst/>
                          <a:latin typeface="Cambria" panose="020405030504060302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2" marR="68582" marT="0" marB="0"/>
                </a:tc>
                <a:tc>
                  <a:txBody>
                    <a:bodyPr/>
                    <a:lstStyle/>
                    <a:p>
                      <a:pPr algn="ctr">
                        <a:lnSpc>
                          <a:spcPct val="107000"/>
                        </a:lnSpc>
                        <a:spcAft>
                          <a:spcPts val="0"/>
                        </a:spcAft>
                      </a:pPr>
                      <a:r>
                        <a:rPr lang="en-US" sz="2400">
                          <a:effectLst/>
                          <a:latin typeface="Cambria" panose="02040503050406030204" pitchFamily="18" charset="0"/>
                        </a:rPr>
                        <a:t>Cộng</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2" marR="68582" marT="0" marB="0"/>
                </a:tc>
                <a:extLst>
                  <a:ext uri="{0D108BD9-81ED-4DB2-BD59-A6C34878D82A}">
                    <a16:rowId xmlns:a16="http://schemas.microsoft.com/office/drawing/2014/main" val="10001"/>
                  </a:ext>
                </a:extLst>
              </a:tr>
              <a:tr h="381000">
                <a:tc>
                  <a:txBody>
                    <a:bodyPr/>
                    <a:lstStyle/>
                    <a:p>
                      <a:pPr algn="ctr">
                        <a:lnSpc>
                          <a:spcPct val="107000"/>
                        </a:lnSpc>
                        <a:spcAft>
                          <a:spcPts val="0"/>
                        </a:spcAft>
                      </a:pPr>
                      <a:r>
                        <a:rPr lang="en-US" sz="2400">
                          <a:effectLst/>
                          <a:latin typeface="Cambria" panose="020405030504060302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2" marR="68582" marT="0" marB="0"/>
                </a:tc>
                <a:tc>
                  <a:txBody>
                    <a:bodyPr/>
                    <a:lstStyle/>
                    <a:p>
                      <a:pPr algn="ctr">
                        <a:lnSpc>
                          <a:spcPct val="107000"/>
                        </a:lnSpc>
                        <a:spcAft>
                          <a:spcPts val="0"/>
                        </a:spcAft>
                      </a:pPr>
                      <a:r>
                        <a:rPr lang="en-US" sz="2400">
                          <a:effectLst/>
                          <a:latin typeface="Cambria" panose="02040503050406030204" pitchFamily="18" charset="0"/>
                        </a:rPr>
                        <a:t>Trừ</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2" marR="68582" marT="0" marB="0"/>
                </a:tc>
                <a:extLst>
                  <a:ext uri="{0D108BD9-81ED-4DB2-BD59-A6C34878D82A}">
                    <a16:rowId xmlns:a16="http://schemas.microsoft.com/office/drawing/2014/main" val="10002"/>
                  </a:ext>
                </a:extLst>
              </a:tr>
              <a:tr h="381000">
                <a:tc>
                  <a:txBody>
                    <a:bodyPr/>
                    <a:lstStyle/>
                    <a:p>
                      <a:pPr algn="ctr">
                        <a:lnSpc>
                          <a:spcPct val="107000"/>
                        </a:lnSpc>
                        <a:spcAft>
                          <a:spcPts val="0"/>
                        </a:spcAft>
                      </a:pPr>
                      <a:r>
                        <a:rPr lang="en-US" sz="2400">
                          <a:effectLst/>
                          <a:latin typeface="Cambria" panose="020405030504060302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2" marR="68582" marT="0" marB="0"/>
                </a:tc>
                <a:tc>
                  <a:txBody>
                    <a:bodyPr/>
                    <a:lstStyle/>
                    <a:p>
                      <a:pPr algn="ctr">
                        <a:lnSpc>
                          <a:spcPct val="107000"/>
                        </a:lnSpc>
                        <a:spcAft>
                          <a:spcPts val="0"/>
                        </a:spcAft>
                      </a:pPr>
                      <a:r>
                        <a:rPr lang="en-US" sz="2400">
                          <a:effectLst/>
                          <a:latin typeface="Cambria" panose="02040503050406030204" pitchFamily="18" charset="0"/>
                        </a:rPr>
                        <a:t>Nhân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2" marR="68582" marT="0" marB="0"/>
                </a:tc>
                <a:extLst>
                  <a:ext uri="{0D108BD9-81ED-4DB2-BD59-A6C34878D82A}">
                    <a16:rowId xmlns:a16="http://schemas.microsoft.com/office/drawing/2014/main" val="10003"/>
                  </a:ext>
                </a:extLst>
              </a:tr>
              <a:tr h="381000">
                <a:tc>
                  <a:txBody>
                    <a:bodyPr/>
                    <a:lstStyle/>
                    <a:p>
                      <a:pPr algn="ctr">
                        <a:lnSpc>
                          <a:spcPct val="107000"/>
                        </a:lnSpc>
                        <a:spcAft>
                          <a:spcPts val="0"/>
                        </a:spcAft>
                      </a:pPr>
                      <a:r>
                        <a:rPr lang="en-US" sz="2400">
                          <a:effectLst/>
                          <a:latin typeface="Cambria" panose="020405030504060302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2" marR="68582" marT="0" marB="0"/>
                </a:tc>
                <a:tc>
                  <a:txBody>
                    <a:bodyPr/>
                    <a:lstStyle/>
                    <a:p>
                      <a:pPr algn="ctr">
                        <a:lnSpc>
                          <a:spcPct val="107000"/>
                        </a:lnSpc>
                        <a:spcAft>
                          <a:spcPts val="0"/>
                        </a:spcAft>
                      </a:pPr>
                      <a:r>
                        <a:rPr lang="en-US" sz="2400">
                          <a:effectLst/>
                          <a:latin typeface="Cambria" panose="02040503050406030204" pitchFamily="18" charset="0"/>
                        </a:rPr>
                        <a:t>Chia</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2" marR="68582" marT="0" marB="0"/>
                </a:tc>
                <a:extLst>
                  <a:ext uri="{0D108BD9-81ED-4DB2-BD59-A6C34878D82A}">
                    <a16:rowId xmlns:a16="http://schemas.microsoft.com/office/drawing/2014/main" val="10004"/>
                  </a:ext>
                </a:extLst>
              </a:tr>
              <a:tr h="381000">
                <a:tc>
                  <a:txBody>
                    <a:bodyPr/>
                    <a:lstStyle/>
                    <a:p>
                      <a:pPr algn="ctr">
                        <a:lnSpc>
                          <a:spcPct val="107000"/>
                        </a:lnSpc>
                        <a:spcAft>
                          <a:spcPts val="0"/>
                        </a:spcAft>
                      </a:pPr>
                      <a:r>
                        <a:rPr lang="en-US" sz="2400">
                          <a:effectLst/>
                          <a:latin typeface="Cambria" panose="020405030504060302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2" marR="68582" marT="0" marB="0"/>
                </a:tc>
                <a:tc>
                  <a:txBody>
                    <a:bodyPr/>
                    <a:lstStyle/>
                    <a:p>
                      <a:pPr algn="ctr">
                        <a:lnSpc>
                          <a:spcPct val="107000"/>
                        </a:lnSpc>
                        <a:spcAft>
                          <a:spcPts val="0"/>
                        </a:spcAft>
                      </a:pPr>
                      <a:r>
                        <a:rPr lang="en-US" sz="2400" dirty="0">
                          <a:effectLst/>
                          <a:latin typeface="Cambria" panose="02040503050406030204" pitchFamily="18" charset="0"/>
                        </a:rPr>
                        <a:t>Chia </a:t>
                      </a:r>
                      <a:r>
                        <a:rPr lang="en-US" sz="2400" dirty="0" err="1">
                          <a:effectLst/>
                          <a:latin typeface="Cambria" panose="02040503050406030204" pitchFamily="18" charset="0"/>
                        </a:rPr>
                        <a:t>lấy</a:t>
                      </a:r>
                      <a:r>
                        <a:rPr lang="en-US" sz="2400" dirty="0">
                          <a:effectLst/>
                          <a:latin typeface="Cambria" panose="02040503050406030204" pitchFamily="18" charset="0"/>
                        </a:rPr>
                        <a:t> </a:t>
                      </a:r>
                      <a:r>
                        <a:rPr lang="en-US" sz="2400" dirty="0" err="1">
                          <a:effectLst/>
                          <a:latin typeface="Cambria" panose="02040503050406030204" pitchFamily="18" charset="0"/>
                        </a:rPr>
                        <a:t>phần</a:t>
                      </a:r>
                      <a:r>
                        <a:rPr lang="en-US" sz="2400" dirty="0">
                          <a:effectLst/>
                          <a:latin typeface="Cambria" panose="02040503050406030204" pitchFamily="18" charset="0"/>
                        </a:rPr>
                        <a:t> </a:t>
                      </a:r>
                      <a:r>
                        <a:rPr lang="en-US" sz="2400" dirty="0" err="1">
                          <a:effectLst/>
                          <a:latin typeface="Cambria" panose="02040503050406030204" pitchFamily="18" charset="0"/>
                        </a:rPr>
                        <a:t>dư</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68582" marR="68582" marT="0" marB="0"/>
                </a:tc>
                <a:extLst>
                  <a:ext uri="{0D108BD9-81ED-4DB2-BD59-A6C34878D82A}">
                    <a16:rowId xmlns:a16="http://schemas.microsoft.com/office/drawing/2014/main" val="10005"/>
                  </a:ext>
                </a:extLst>
              </a:tr>
            </a:tbl>
          </a:graphicData>
        </a:graphic>
      </p:graphicFrame>
      <p:sp>
        <p:nvSpPr>
          <p:cNvPr id="8" name="TextBox 7"/>
          <p:cNvSpPr txBox="1"/>
          <p:nvPr/>
        </p:nvSpPr>
        <p:spPr>
          <a:xfrm>
            <a:off x="1849332" y="3581400"/>
            <a:ext cx="2748188" cy="1569660"/>
          </a:xfrm>
          <a:prstGeom prst="rect">
            <a:avLst/>
          </a:prstGeom>
          <a:noFill/>
        </p:spPr>
        <p:txBody>
          <a:bodyPr wrap="none" rtlCol="0">
            <a:spAutoFit/>
          </a:bodyPr>
          <a:lstStyle/>
          <a:p>
            <a:r>
              <a:rPr lang="en-US" sz="2400"/>
              <a:t>int a=5;</a:t>
            </a:r>
          </a:p>
          <a:p>
            <a:r>
              <a:rPr lang="en-US" sz="2400"/>
              <a:t>int b=8;</a:t>
            </a:r>
          </a:p>
          <a:p>
            <a:r>
              <a:rPr lang="en-US" sz="2400"/>
              <a:t>int c=b/a;</a:t>
            </a:r>
            <a:r>
              <a:rPr lang="en-US" sz="2400">
                <a:sym typeface="Wingdings" panose="05000000000000000000" pitchFamily="2" charset="2"/>
              </a:rPr>
              <a:t>8/5=1</a:t>
            </a:r>
          </a:p>
          <a:p>
            <a:r>
              <a:rPr lang="en-US" sz="2400">
                <a:sym typeface="Wingdings" panose="05000000000000000000" pitchFamily="2" charset="2"/>
              </a:rPr>
              <a:t>int d=b%a; 8%5=3</a:t>
            </a:r>
            <a:endParaRPr lang="en-US" sz="2400"/>
          </a:p>
        </p:txBody>
      </p:sp>
      <p:sp>
        <p:nvSpPr>
          <p:cNvPr id="10" name="TextBox 9"/>
          <p:cNvSpPr txBox="1"/>
          <p:nvPr/>
        </p:nvSpPr>
        <p:spPr>
          <a:xfrm>
            <a:off x="5943600" y="3545840"/>
            <a:ext cx="2488182" cy="2308324"/>
          </a:xfrm>
          <a:prstGeom prst="rect">
            <a:avLst/>
          </a:prstGeom>
          <a:noFill/>
        </p:spPr>
        <p:txBody>
          <a:bodyPr wrap="none" rtlCol="0">
            <a:spAutoFit/>
          </a:bodyPr>
          <a:lstStyle/>
          <a:p>
            <a:r>
              <a:rPr lang="en-US" sz="2400"/>
              <a:t>int t=456;</a:t>
            </a:r>
          </a:p>
          <a:p>
            <a:r>
              <a:rPr lang="en-US" sz="2400"/>
              <a:t>int sd = 456%10=</a:t>
            </a:r>
            <a:r>
              <a:rPr lang="en-US" sz="2400">
                <a:solidFill>
                  <a:srgbClr val="FF0000"/>
                </a:solidFill>
              </a:rPr>
              <a:t>6</a:t>
            </a:r>
          </a:p>
          <a:p>
            <a:r>
              <a:rPr lang="en-US" sz="2400"/>
              <a:t>t=t/10=456/10=45</a:t>
            </a:r>
          </a:p>
          <a:p>
            <a:r>
              <a:rPr lang="en-US" sz="2400"/>
              <a:t>sd=45%10=</a:t>
            </a:r>
            <a:r>
              <a:rPr lang="en-US" sz="2400">
                <a:solidFill>
                  <a:srgbClr val="FF0000"/>
                </a:solidFill>
              </a:rPr>
              <a:t>5</a:t>
            </a:r>
          </a:p>
          <a:p>
            <a:r>
              <a:rPr lang="en-US" sz="2400"/>
              <a:t>t=t/10=45/10=4</a:t>
            </a:r>
          </a:p>
          <a:p>
            <a:r>
              <a:rPr lang="en-US" sz="2400"/>
              <a:t>sd=4%10=</a:t>
            </a:r>
            <a:r>
              <a:rPr lang="en-US" sz="2400">
                <a:solidFill>
                  <a:srgbClr val="FF0000"/>
                </a:solidFill>
              </a:rPr>
              <a:t>4</a:t>
            </a:r>
          </a:p>
        </p:txBody>
      </p:sp>
      <p:sp>
        <p:nvSpPr>
          <p:cNvPr id="11" name="Slide Number Placeholder 10">
            <a:extLst>
              <a:ext uri="{FF2B5EF4-FFF2-40B4-BE49-F238E27FC236}">
                <a16:creationId xmlns:a16="http://schemas.microsoft.com/office/drawing/2014/main" id="{B00A4567-E63A-72D8-8209-E4EB5635C43B}"/>
              </a:ext>
            </a:extLst>
          </p:cNvPr>
          <p:cNvSpPr>
            <a:spLocks noGrp="1"/>
          </p:cNvSpPr>
          <p:nvPr>
            <p:ph type="sldNum" sz="quarter" idx="12"/>
          </p:nvPr>
        </p:nvSpPr>
        <p:spPr/>
        <p:txBody>
          <a:bodyPr/>
          <a:lstStyle/>
          <a:p>
            <a:fld id="{48FE5571-560F-4DFC-BA97-61ACA5F7ADE1}" type="slidenum">
              <a:rPr lang="en-US" smtClean="0"/>
              <a:pPr/>
              <a:t>22</a:t>
            </a:fld>
            <a:endParaRPr lang="en-US"/>
          </a:p>
        </p:txBody>
      </p:sp>
    </p:spTree>
    <p:extLst>
      <p:ext uri="{BB962C8B-B14F-4D97-AF65-F5344CB8AC3E}">
        <p14:creationId xmlns:p14="http://schemas.microsoft.com/office/powerpoint/2010/main" val="5978031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Phép toán so sánh</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9" name="Table 8"/>
          <p:cNvGraphicFramePr>
            <a:graphicFrameLocks noGrp="1"/>
          </p:cNvGraphicFramePr>
          <p:nvPr/>
        </p:nvGraphicFramePr>
        <p:xfrm>
          <a:off x="2179210" y="1295400"/>
          <a:ext cx="8031590" cy="2743202"/>
        </p:xfrm>
        <a:graphic>
          <a:graphicData uri="http://schemas.openxmlformats.org/drawingml/2006/table">
            <a:tbl>
              <a:tblPr firstRow="1" firstCol="1" bandRow="1">
                <a:tableStyleId>{5C22544A-7EE6-4342-B048-85BDC9FD1C3A}</a:tableStyleId>
              </a:tblPr>
              <a:tblGrid>
                <a:gridCol w="3048412">
                  <a:extLst>
                    <a:ext uri="{9D8B030D-6E8A-4147-A177-3AD203B41FA5}">
                      <a16:colId xmlns:a16="http://schemas.microsoft.com/office/drawing/2014/main" val="20000"/>
                    </a:ext>
                  </a:extLst>
                </a:gridCol>
                <a:gridCol w="4983178">
                  <a:extLst>
                    <a:ext uri="{9D8B030D-6E8A-4147-A177-3AD203B41FA5}">
                      <a16:colId xmlns:a16="http://schemas.microsoft.com/office/drawing/2014/main" val="20001"/>
                    </a:ext>
                  </a:extLst>
                </a:gridCol>
              </a:tblGrid>
              <a:tr h="391886">
                <a:tc>
                  <a:txBody>
                    <a:bodyPr/>
                    <a:lstStyle/>
                    <a:p>
                      <a:pPr algn="ctr">
                        <a:lnSpc>
                          <a:spcPct val="107000"/>
                        </a:lnSpc>
                        <a:spcAft>
                          <a:spcPts val="0"/>
                        </a:spcAft>
                      </a:pPr>
                      <a:r>
                        <a:rPr lang="en-US" sz="2400" dirty="0" err="1">
                          <a:effectLst/>
                          <a:latin typeface="Cambria" panose="02040503050406030204" pitchFamily="18" charset="0"/>
                        </a:rPr>
                        <a:t>Toán</a:t>
                      </a:r>
                      <a:r>
                        <a:rPr lang="en-US" sz="2400" dirty="0">
                          <a:effectLst/>
                          <a:latin typeface="Cambria" panose="02040503050406030204" pitchFamily="18" charset="0"/>
                        </a:rPr>
                        <a:t> </a:t>
                      </a:r>
                      <a:r>
                        <a:rPr lang="en-US" sz="2400" dirty="0" err="1">
                          <a:effectLst/>
                          <a:latin typeface="Cambria" panose="02040503050406030204" pitchFamily="18" charset="0"/>
                        </a:rPr>
                        <a:t>tử</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tc>
                  <a:txBody>
                    <a:bodyPr/>
                    <a:lstStyle/>
                    <a:p>
                      <a:pPr algn="ctr">
                        <a:lnSpc>
                          <a:spcPct val="107000"/>
                        </a:lnSpc>
                        <a:spcAft>
                          <a:spcPts val="0"/>
                        </a:spcAft>
                      </a:pPr>
                      <a:r>
                        <a:rPr lang="en-US" sz="2400">
                          <a:effectLst/>
                          <a:latin typeface="Cambria" panose="02040503050406030204" pitchFamily="18" charset="0"/>
                        </a:rPr>
                        <a:t>Mô tả</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extLst>
                  <a:ext uri="{0D108BD9-81ED-4DB2-BD59-A6C34878D82A}">
                    <a16:rowId xmlns:a16="http://schemas.microsoft.com/office/drawing/2014/main" val="10000"/>
                  </a:ext>
                </a:extLst>
              </a:tr>
              <a:tr h="391886">
                <a:tc>
                  <a:txBody>
                    <a:bodyPr/>
                    <a:lstStyle/>
                    <a:p>
                      <a:pPr algn="ctr">
                        <a:lnSpc>
                          <a:spcPct val="107000"/>
                        </a:lnSpc>
                        <a:spcAft>
                          <a:spcPts val="0"/>
                        </a:spcAft>
                      </a:pPr>
                      <a:r>
                        <a:rPr lang="en-US" sz="2400">
                          <a:effectLst/>
                          <a:latin typeface="Cambria" panose="020405030504060302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tc>
                  <a:txBody>
                    <a:bodyPr/>
                    <a:lstStyle/>
                    <a:p>
                      <a:pPr algn="just">
                        <a:lnSpc>
                          <a:spcPct val="107000"/>
                        </a:lnSpc>
                        <a:spcAft>
                          <a:spcPts val="0"/>
                        </a:spcAft>
                      </a:pPr>
                      <a:r>
                        <a:rPr lang="en-US" sz="2400">
                          <a:effectLst/>
                          <a:latin typeface="Cambria" panose="02040503050406030204" pitchFamily="18" charset="0"/>
                        </a:rPr>
                        <a:t>So sánh bằng</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extLst>
                  <a:ext uri="{0D108BD9-81ED-4DB2-BD59-A6C34878D82A}">
                    <a16:rowId xmlns:a16="http://schemas.microsoft.com/office/drawing/2014/main" val="10001"/>
                  </a:ext>
                </a:extLst>
              </a:tr>
              <a:tr h="391886">
                <a:tc>
                  <a:txBody>
                    <a:bodyPr/>
                    <a:lstStyle/>
                    <a:p>
                      <a:pPr algn="ctr">
                        <a:lnSpc>
                          <a:spcPct val="107000"/>
                        </a:lnSpc>
                        <a:spcAft>
                          <a:spcPts val="0"/>
                        </a:spcAft>
                      </a:pPr>
                      <a:r>
                        <a:rPr lang="en-US" sz="2400">
                          <a:effectLst/>
                          <a:latin typeface="Cambria" panose="020405030504060302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tc>
                  <a:txBody>
                    <a:bodyPr/>
                    <a:lstStyle/>
                    <a:p>
                      <a:pPr algn="just">
                        <a:lnSpc>
                          <a:spcPct val="107000"/>
                        </a:lnSpc>
                        <a:spcAft>
                          <a:spcPts val="0"/>
                        </a:spcAft>
                      </a:pPr>
                      <a:r>
                        <a:rPr lang="en-US" sz="2400">
                          <a:effectLst/>
                          <a:latin typeface="Cambria" panose="02040503050406030204" pitchFamily="18" charset="0"/>
                        </a:rPr>
                        <a:t>So sánh không bằng</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extLst>
                  <a:ext uri="{0D108BD9-81ED-4DB2-BD59-A6C34878D82A}">
                    <a16:rowId xmlns:a16="http://schemas.microsoft.com/office/drawing/2014/main" val="10002"/>
                  </a:ext>
                </a:extLst>
              </a:tr>
              <a:tr h="391886">
                <a:tc>
                  <a:txBody>
                    <a:bodyPr/>
                    <a:lstStyle/>
                    <a:p>
                      <a:pPr algn="ctr">
                        <a:lnSpc>
                          <a:spcPct val="107000"/>
                        </a:lnSpc>
                        <a:spcAft>
                          <a:spcPts val="0"/>
                        </a:spcAft>
                      </a:pPr>
                      <a:r>
                        <a:rPr lang="en-US" sz="2400">
                          <a:effectLst/>
                          <a:latin typeface="Cambria" panose="02040503050406030204" pitchFamily="18" charset="0"/>
                        </a:rPr>
                        <a:t>&gt;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tc>
                  <a:txBody>
                    <a:bodyPr/>
                    <a:lstStyle/>
                    <a:p>
                      <a:pPr algn="just">
                        <a:lnSpc>
                          <a:spcPct val="107000"/>
                        </a:lnSpc>
                        <a:spcAft>
                          <a:spcPts val="0"/>
                        </a:spcAft>
                      </a:pPr>
                      <a:r>
                        <a:rPr lang="en-US" sz="2400">
                          <a:effectLst/>
                          <a:latin typeface="Cambria" panose="02040503050406030204" pitchFamily="18" charset="0"/>
                        </a:rPr>
                        <a:t>So sánh lớn hơn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extLst>
                  <a:ext uri="{0D108BD9-81ED-4DB2-BD59-A6C34878D82A}">
                    <a16:rowId xmlns:a16="http://schemas.microsoft.com/office/drawing/2014/main" val="10003"/>
                  </a:ext>
                </a:extLst>
              </a:tr>
              <a:tr h="391886">
                <a:tc>
                  <a:txBody>
                    <a:bodyPr/>
                    <a:lstStyle/>
                    <a:p>
                      <a:pPr algn="ctr">
                        <a:lnSpc>
                          <a:spcPct val="107000"/>
                        </a:lnSpc>
                        <a:spcAft>
                          <a:spcPts val="0"/>
                        </a:spcAft>
                      </a:pPr>
                      <a:r>
                        <a:rPr lang="en-US" sz="2400" dirty="0">
                          <a:effectLst/>
                          <a:latin typeface="Cambria" panose="02040503050406030204" pitchFamily="18" charset="0"/>
                        </a:rPr>
                        <a:t>&gt;=</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tc>
                  <a:txBody>
                    <a:bodyPr/>
                    <a:lstStyle/>
                    <a:p>
                      <a:pPr algn="just">
                        <a:lnSpc>
                          <a:spcPct val="107000"/>
                        </a:lnSpc>
                        <a:spcAft>
                          <a:spcPts val="0"/>
                        </a:spcAft>
                      </a:pPr>
                      <a:r>
                        <a:rPr lang="en-US" sz="2400">
                          <a:effectLst/>
                          <a:latin typeface="Cambria" panose="02040503050406030204" pitchFamily="18" charset="0"/>
                        </a:rPr>
                        <a:t>So sánh lớn hơn hoặc bằng</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extLst>
                  <a:ext uri="{0D108BD9-81ED-4DB2-BD59-A6C34878D82A}">
                    <a16:rowId xmlns:a16="http://schemas.microsoft.com/office/drawing/2014/main" val="10004"/>
                  </a:ext>
                </a:extLst>
              </a:tr>
              <a:tr h="391886">
                <a:tc>
                  <a:txBody>
                    <a:bodyPr/>
                    <a:lstStyle/>
                    <a:p>
                      <a:pPr algn="ctr">
                        <a:lnSpc>
                          <a:spcPct val="107000"/>
                        </a:lnSpc>
                        <a:spcAft>
                          <a:spcPts val="0"/>
                        </a:spcAft>
                      </a:pPr>
                      <a:r>
                        <a:rPr lang="en-US" sz="2400">
                          <a:effectLst/>
                          <a:latin typeface="Cambria" panose="02040503050406030204" pitchFamily="18" charset="0"/>
                        </a:rPr>
                        <a:t>&lt;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tc>
                  <a:txBody>
                    <a:bodyPr/>
                    <a:lstStyle/>
                    <a:p>
                      <a:pPr algn="just">
                        <a:lnSpc>
                          <a:spcPct val="107000"/>
                        </a:lnSpc>
                        <a:spcAft>
                          <a:spcPts val="0"/>
                        </a:spcAft>
                      </a:pPr>
                      <a:r>
                        <a:rPr lang="en-US" sz="2400">
                          <a:effectLst/>
                          <a:latin typeface="Cambria" panose="02040503050406030204" pitchFamily="18" charset="0"/>
                        </a:rPr>
                        <a:t>So sánh nhỏ hơn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extLst>
                  <a:ext uri="{0D108BD9-81ED-4DB2-BD59-A6C34878D82A}">
                    <a16:rowId xmlns:a16="http://schemas.microsoft.com/office/drawing/2014/main" val="10005"/>
                  </a:ext>
                </a:extLst>
              </a:tr>
              <a:tr h="391886">
                <a:tc>
                  <a:txBody>
                    <a:bodyPr/>
                    <a:lstStyle/>
                    <a:p>
                      <a:pPr algn="ctr">
                        <a:lnSpc>
                          <a:spcPct val="107000"/>
                        </a:lnSpc>
                        <a:spcAft>
                          <a:spcPts val="0"/>
                        </a:spcAft>
                      </a:pPr>
                      <a:r>
                        <a:rPr lang="en-US" sz="2400">
                          <a:effectLst/>
                          <a:latin typeface="Cambria" panose="02040503050406030204" pitchFamily="18" charset="0"/>
                        </a:rPr>
                        <a:t>&lt;=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tc>
                  <a:txBody>
                    <a:bodyPr/>
                    <a:lstStyle/>
                    <a:p>
                      <a:pPr algn="just">
                        <a:lnSpc>
                          <a:spcPct val="107000"/>
                        </a:lnSpc>
                        <a:spcAft>
                          <a:spcPts val="0"/>
                        </a:spcAft>
                      </a:pPr>
                      <a:r>
                        <a:rPr lang="en-US" sz="2400" dirty="0">
                          <a:effectLst/>
                          <a:latin typeface="Cambria" panose="02040503050406030204" pitchFamily="18" charset="0"/>
                        </a:rPr>
                        <a:t>So </a:t>
                      </a:r>
                      <a:r>
                        <a:rPr lang="en-US" sz="2400" dirty="0" err="1">
                          <a:effectLst/>
                          <a:latin typeface="Cambria" panose="02040503050406030204" pitchFamily="18" charset="0"/>
                        </a:rPr>
                        <a:t>sánh</a:t>
                      </a:r>
                      <a:r>
                        <a:rPr lang="en-US" sz="2400" dirty="0">
                          <a:effectLst/>
                          <a:latin typeface="Cambria" panose="02040503050406030204" pitchFamily="18" charset="0"/>
                        </a:rPr>
                        <a:t> </a:t>
                      </a:r>
                      <a:r>
                        <a:rPr lang="en-US" sz="2400" dirty="0" err="1">
                          <a:effectLst/>
                          <a:latin typeface="Cambria" panose="02040503050406030204" pitchFamily="18" charset="0"/>
                        </a:rPr>
                        <a:t>nhỏ</a:t>
                      </a:r>
                      <a:r>
                        <a:rPr lang="en-US" sz="2400" dirty="0">
                          <a:effectLst/>
                          <a:latin typeface="Cambria" panose="02040503050406030204" pitchFamily="18" charset="0"/>
                        </a:rPr>
                        <a:t> </a:t>
                      </a:r>
                      <a:r>
                        <a:rPr lang="en-US" sz="2400" dirty="0" err="1">
                          <a:effectLst/>
                          <a:latin typeface="Cambria" panose="02040503050406030204" pitchFamily="18" charset="0"/>
                        </a:rPr>
                        <a:t>hơn</a:t>
                      </a:r>
                      <a:r>
                        <a:rPr lang="en-US" sz="2400" dirty="0">
                          <a:effectLst/>
                          <a:latin typeface="Cambria" panose="02040503050406030204" pitchFamily="18" charset="0"/>
                        </a:rPr>
                        <a:t> </a:t>
                      </a:r>
                      <a:r>
                        <a:rPr lang="en-US" sz="2400" dirty="0" err="1">
                          <a:effectLst/>
                          <a:latin typeface="Cambria" panose="02040503050406030204" pitchFamily="18" charset="0"/>
                        </a:rPr>
                        <a:t>hoặc</a:t>
                      </a:r>
                      <a:r>
                        <a:rPr lang="en-US" sz="2400" dirty="0">
                          <a:effectLst/>
                          <a:latin typeface="Cambria" panose="02040503050406030204" pitchFamily="18" charset="0"/>
                        </a:rPr>
                        <a:t> </a:t>
                      </a:r>
                      <a:r>
                        <a:rPr lang="en-US" sz="2400" dirty="0" err="1">
                          <a:effectLst/>
                          <a:latin typeface="Cambria" panose="02040503050406030204" pitchFamily="18" charset="0"/>
                        </a:rPr>
                        <a:t>bằng</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extLst>
                  <a:ext uri="{0D108BD9-81ED-4DB2-BD59-A6C34878D82A}">
                    <a16:rowId xmlns:a16="http://schemas.microsoft.com/office/drawing/2014/main" val="10006"/>
                  </a:ext>
                </a:extLst>
              </a:tr>
            </a:tbl>
          </a:graphicData>
        </a:graphic>
      </p:graphicFrame>
      <p:sp>
        <p:nvSpPr>
          <p:cNvPr id="8" name="Slide Number Placeholder 7">
            <a:extLst>
              <a:ext uri="{FF2B5EF4-FFF2-40B4-BE49-F238E27FC236}">
                <a16:creationId xmlns:a16="http://schemas.microsoft.com/office/drawing/2014/main" id="{15F2950F-3476-A710-E249-C51A06B46AB4}"/>
              </a:ext>
            </a:extLst>
          </p:cNvPr>
          <p:cNvSpPr>
            <a:spLocks noGrp="1"/>
          </p:cNvSpPr>
          <p:nvPr>
            <p:ph type="sldNum" sz="quarter" idx="12"/>
          </p:nvPr>
        </p:nvSpPr>
        <p:spPr/>
        <p:txBody>
          <a:bodyPr/>
          <a:lstStyle/>
          <a:p>
            <a:fld id="{48FE5571-560F-4DFC-BA97-61ACA5F7ADE1}" type="slidenum">
              <a:rPr lang="en-US" smtClean="0"/>
              <a:pPr/>
              <a:t>23</a:t>
            </a:fld>
            <a:endParaRPr lang="en-US"/>
          </a:p>
        </p:txBody>
      </p:sp>
    </p:spTree>
    <p:extLst>
      <p:ext uri="{BB962C8B-B14F-4D97-AF65-F5344CB8AC3E}">
        <p14:creationId xmlns:p14="http://schemas.microsoft.com/office/powerpoint/2010/main" val="9470266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Phép toán logic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10" name="Table 9"/>
          <p:cNvGraphicFramePr>
            <a:graphicFrameLocks noGrp="1"/>
          </p:cNvGraphicFramePr>
          <p:nvPr/>
        </p:nvGraphicFramePr>
        <p:xfrm>
          <a:off x="2157310" y="1219200"/>
          <a:ext cx="8129690" cy="4191001"/>
        </p:xfrm>
        <a:graphic>
          <a:graphicData uri="http://schemas.openxmlformats.org/drawingml/2006/table">
            <a:tbl>
              <a:tblPr firstRow="1" firstCol="1" bandRow="1">
                <a:tableStyleId>{5C22544A-7EE6-4342-B048-85BDC9FD1C3A}</a:tableStyleId>
              </a:tblPr>
              <a:tblGrid>
                <a:gridCol w="2633637">
                  <a:extLst>
                    <a:ext uri="{9D8B030D-6E8A-4147-A177-3AD203B41FA5}">
                      <a16:colId xmlns:a16="http://schemas.microsoft.com/office/drawing/2014/main" val="20000"/>
                    </a:ext>
                  </a:extLst>
                </a:gridCol>
                <a:gridCol w="5496053">
                  <a:extLst>
                    <a:ext uri="{9D8B030D-6E8A-4147-A177-3AD203B41FA5}">
                      <a16:colId xmlns:a16="http://schemas.microsoft.com/office/drawing/2014/main" val="20001"/>
                    </a:ext>
                  </a:extLst>
                </a:gridCol>
              </a:tblGrid>
              <a:tr h="370310">
                <a:tc>
                  <a:txBody>
                    <a:bodyPr/>
                    <a:lstStyle/>
                    <a:p>
                      <a:pPr algn="ctr">
                        <a:lnSpc>
                          <a:spcPct val="107000"/>
                        </a:lnSpc>
                        <a:spcAft>
                          <a:spcPts val="0"/>
                        </a:spcAft>
                      </a:pPr>
                      <a:r>
                        <a:rPr lang="en-US" sz="2400" dirty="0" err="1">
                          <a:effectLst/>
                          <a:latin typeface="Cambria" panose="02040503050406030204" pitchFamily="18" charset="0"/>
                        </a:rPr>
                        <a:t>Toán</a:t>
                      </a:r>
                      <a:r>
                        <a:rPr lang="en-US" sz="2400" dirty="0">
                          <a:effectLst/>
                          <a:latin typeface="Cambria" panose="02040503050406030204" pitchFamily="18" charset="0"/>
                        </a:rPr>
                        <a:t> </a:t>
                      </a:r>
                      <a:r>
                        <a:rPr lang="en-US" sz="2400" dirty="0" err="1">
                          <a:effectLst/>
                          <a:latin typeface="Cambria" panose="02040503050406030204" pitchFamily="18" charset="0"/>
                        </a:rPr>
                        <a:t>tử</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2400">
                          <a:effectLst/>
                          <a:latin typeface="Cambria" panose="02040503050406030204" pitchFamily="18" charset="0"/>
                        </a:rPr>
                        <a:t>Mô tả</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1150127">
                <a:tc>
                  <a:txBody>
                    <a:bodyPr/>
                    <a:lstStyle/>
                    <a:p>
                      <a:pPr algn="ctr">
                        <a:lnSpc>
                          <a:spcPct val="107000"/>
                        </a:lnSpc>
                        <a:spcAft>
                          <a:spcPts val="0"/>
                        </a:spcAft>
                      </a:pPr>
                      <a:r>
                        <a:rPr lang="en-US" sz="2400">
                          <a:effectLst/>
                          <a:latin typeface="Cambria" panose="02040503050406030204" pitchFamily="18" charset="0"/>
                          <a:ea typeface="Calibri" panose="020F0502020204030204" pitchFamily="34" charset="0"/>
                          <a:cs typeface="Times New Roman" panose="02020603050405020304" pitchFamily="18" charset="0"/>
                        </a:rPr>
                        <a:t>!</a:t>
                      </a:r>
                    </a:p>
                  </a:txBody>
                  <a:tcPr marL="68580" marR="68580" marT="0" marB="0"/>
                </a:tc>
                <a:tc>
                  <a:txBody>
                    <a:bodyPr/>
                    <a:lstStyle/>
                    <a:p>
                      <a:pPr algn="just">
                        <a:lnSpc>
                          <a:spcPct val="107000"/>
                        </a:lnSpc>
                        <a:spcAft>
                          <a:spcPts val="0"/>
                        </a:spcAft>
                      </a:pPr>
                      <a:r>
                        <a:rPr lang="en-US" sz="2400" baseline="0">
                          <a:effectLst/>
                          <a:latin typeface="Cambria" panose="02040503050406030204" pitchFamily="18" charset="0"/>
                          <a:ea typeface="Calibri" panose="020F0502020204030204" pitchFamily="34" charset="0"/>
                          <a:cs typeface="Times New Roman" panose="02020603050405020304" pitchFamily="18" charset="0"/>
                        </a:rPr>
                        <a:t>Đúng thành sai, sai thành đúng.</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150127">
                <a:tc>
                  <a:txBody>
                    <a:bodyPr/>
                    <a:lstStyle/>
                    <a:p>
                      <a:pPr algn="ctr">
                        <a:lnSpc>
                          <a:spcPct val="107000"/>
                        </a:lnSpc>
                        <a:spcAft>
                          <a:spcPts val="0"/>
                        </a:spcAft>
                      </a:pPr>
                      <a:r>
                        <a:rPr lang="en-US" sz="2400">
                          <a:effectLst/>
                          <a:latin typeface="Cambria" panose="02040503050406030204" pitchFamily="18" charset="0"/>
                        </a:rPr>
                        <a:t>&amp;&amp;</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US" sz="2400">
                          <a:effectLst/>
                          <a:latin typeface="Cambria" panose="02040503050406030204" pitchFamily="18" charset="0"/>
                        </a:rPr>
                        <a:t>Phép toán luận lý VÀ (AND) trên 2 giá trị. Kết quả trả về TRUE khi cả hai đều đúng</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1150127">
                <a:tc>
                  <a:txBody>
                    <a:bodyPr/>
                    <a:lstStyle/>
                    <a:p>
                      <a:pPr algn="ctr">
                        <a:lnSpc>
                          <a:spcPct val="107000"/>
                        </a:lnSpc>
                        <a:spcAft>
                          <a:spcPts val="0"/>
                        </a:spcAft>
                      </a:pPr>
                      <a:r>
                        <a:rPr lang="en-US" sz="2400">
                          <a:effectLst/>
                          <a:latin typeface="Cambria" panose="020405030504060302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US" sz="2400">
                          <a:effectLst/>
                          <a:latin typeface="Cambria" panose="02040503050406030204" pitchFamily="18" charset="0"/>
                        </a:rPr>
                        <a:t>Phép toán luận lý HOẶC (OR) trên 2 giá trị. Kết quả trả về FALSE khi cả hai đều sai</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370310">
                <a:tc>
                  <a:txBody>
                    <a:bodyPr/>
                    <a:lstStyle/>
                    <a:p>
                      <a:pPr algn="ctr">
                        <a:lnSpc>
                          <a:spcPct val="107000"/>
                        </a:lnSpc>
                        <a:spcAft>
                          <a:spcPts val="0"/>
                        </a:spcAft>
                      </a:pPr>
                      <a:r>
                        <a:rPr lang="en-US" sz="2400">
                          <a:effectLst/>
                          <a:latin typeface="Cambria" panose="020405030504060302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US" sz="2400" dirty="0" err="1">
                          <a:effectLst/>
                          <a:latin typeface="Cambria" panose="02040503050406030204" pitchFamily="18" charset="0"/>
                        </a:rPr>
                        <a:t>Toán</a:t>
                      </a:r>
                      <a:r>
                        <a:rPr lang="en-US" sz="2400" dirty="0">
                          <a:effectLst/>
                          <a:latin typeface="Cambria" panose="02040503050406030204" pitchFamily="18" charset="0"/>
                        </a:rPr>
                        <a:t> </a:t>
                      </a:r>
                      <a:r>
                        <a:rPr lang="en-US" sz="2400" dirty="0" err="1">
                          <a:effectLst/>
                          <a:latin typeface="Cambria" panose="02040503050406030204" pitchFamily="18" charset="0"/>
                        </a:rPr>
                        <a:t>tử</a:t>
                      </a:r>
                      <a:r>
                        <a:rPr lang="en-US" sz="2400" dirty="0">
                          <a:effectLst/>
                          <a:latin typeface="Cambria" panose="02040503050406030204" pitchFamily="18" charset="0"/>
                        </a:rPr>
                        <a:t> </a:t>
                      </a:r>
                      <a:r>
                        <a:rPr lang="en-US" sz="2400" dirty="0" err="1">
                          <a:effectLst/>
                          <a:latin typeface="Cambria" panose="02040503050406030204" pitchFamily="18" charset="0"/>
                        </a:rPr>
                        <a:t>điều</a:t>
                      </a:r>
                      <a:r>
                        <a:rPr lang="en-US" sz="2400" dirty="0">
                          <a:effectLst/>
                          <a:latin typeface="Cambria" panose="02040503050406030204" pitchFamily="18" charset="0"/>
                        </a:rPr>
                        <a:t> </a:t>
                      </a:r>
                      <a:r>
                        <a:rPr lang="en-US" sz="2400" dirty="0" err="1">
                          <a:effectLst/>
                          <a:latin typeface="Cambria" panose="02040503050406030204" pitchFamily="18" charset="0"/>
                        </a:rPr>
                        <a:t>kiện</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sp>
        <p:nvSpPr>
          <p:cNvPr id="8" name="Slide Number Placeholder 7">
            <a:extLst>
              <a:ext uri="{FF2B5EF4-FFF2-40B4-BE49-F238E27FC236}">
                <a16:creationId xmlns:a16="http://schemas.microsoft.com/office/drawing/2014/main" id="{32C319D9-F567-AFE2-B360-98E7CF2E9CC1}"/>
              </a:ext>
            </a:extLst>
          </p:cNvPr>
          <p:cNvSpPr>
            <a:spLocks noGrp="1"/>
          </p:cNvSpPr>
          <p:nvPr>
            <p:ph type="sldNum" sz="quarter" idx="12"/>
          </p:nvPr>
        </p:nvSpPr>
        <p:spPr/>
        <p:txBody>
          <a:bodyPr/>
          <a:lstStyle/>
          <a:p>
            <a:fld id="{48FE5571-560F-4DFC-BA97-61ACA5F7ADE1}" type="slidenum">
              <a:rPr lang="en-US" smtClean="0"/>
              <a:pPr/>
              <a:t>24</a:t>
            </a:fld>
            <a:endParaRPr lang="en-US"/>
          </a:p>
        </p:txBody>
      </p:sp>
    </p:spTree>
    <p:extLst>
      <p:ext uri="{BB962C8B-B14F-4D97-AF65-F5344CB8AC3E}">
        <p14:creationId xmlns:p14="http://schemas.microsoft.com/office/powerpoint/2010/main" val="3868279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486400" cy="508000"/>
            <a:chOff x="789624" y="1191463"/>
            <a:chExt cx="5486400" cy="508000"/>
          </a:xfrm>
        </p:grpSpPr>
        <p:sp>
          <p:nvSpPr>
            <p:cNvPr id="3" name="AutoShape 52"/>
            <p:cNvSpPr>
              <a:spLocks noChangeArrowheads="1"/>
            </p:cNvSpPr>
            <p:nvPr/>
          </p:nvSpPr>
          <p:spPr bwMode="gray">
            <a:xfrm>
              <a:off x="990600" y="1191463"/>
              <a:ext cx="5285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Phép toán tăng dần ++, giảm dần --</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9" name="Table 8"/>
          <p:cNvGraphicFramePr>
            <a:graphicFrameLocks noGrp="1"/>
          </p:cNvGraphicFramePr>
          <p:nvPr/>
        </p:nvGraphicFramePr>
        <p:xfrm>
          <a:off x="2157310" y="1219200"/>
          <a:ext cx="7272338" cy="1871664"/>
        </p:xfrm>
        <a:graphic>
          <a:graphicData uri="http://schemas.openxmlformats.org/drawingml/2006/table">
            <a:tbl>
              <a:tblPr firstRow="1" firstCol="1" bandRow="1">
                <a:tableStyleId>{5C22544A-7EE6-4342-B048-85BDC9FD1C3A}</a:tableStyleId>
              </a:tblPr>
              <a:tblGrid>
                <a:gridCol w="3636169">
                  <a:extLst>
                    <a:ext uri="{9D8B030D-6E8A-4147-A177-3AD203B41FA5}">
                      <a16:colId xmlns:a16="http://schemas.microsoft.com/office/drawing/2014/main" val="20000"/>
                    </a:ext>
                  </a:extLst>
                </a:gridCol>
                <a:gridCol w="3636169">
                  <a:extLst>
                    <a:ext uri="{9D8B030D-6E8A-4147-A177-3AD203B41FA5}">
                      <a16:colId xmlns:a16="http://schemas.microsoft.com/office/drawing/2014/main" val="20001"/>
                    </a:ext>
                  </a:extLst>
                </a:gridCol>
              </a:tblGrid>
              <a:tr h="623888">
                <a:tc>
                  <a:txBody>
                    <a:bodyPr/>
                    <a:lstStyle/>
                    <a:p>
                      <a:pPr algn="ctr">
                        <a:lnSpc>
                          <a:spcPct val="107000"/>
                        </a:lnSpc>
                        <a:spcAft>
                          <a:spcPts val="0"/>
                        </a:spcAft>
                      </a:pPr>
                      <a:r>
                        <a:rPr lang="en-US" sz="2400" dirty="0" err="1">
                          <a:effectLst/>
                          <a:latin typeface="Cambria" panose="02040503050406030204" pitchFamily="18" charset="0"/>
                        </a:rPr>
                        <a:t>Toán</a:t>
                      </a:r>
                      <a:r>
                        <a:rPr lang="en-US" sz="2400" dirty="0">
                          <a:effectLst/>
                          <a:latin typeface="Cambria" panose="02040503050406030204" pitchFamily="18" charset="0"/>
                        </a:rPr>
                        <a:t> </a:t>
                      </a:r>
                      <a:r>
                        <a:rPr lang="en-US" sz="2400" dirty="0" err="1">
                          <a:effectLst/>
                          <a:latin typeface="Cambria" panose="02040503050406030204" pitchFamily="18" charset="0"/>
                        </a:rPr>
                        <a:t>tử</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68576" marR="68576" marT="0" marB="0"/>
                </a:tc>
                <a:tc>
                  <a:txBody>
                    <a:bodyPr/>
                    <a:lstStyle/>
                    <a:p>
                      <a:pPr algn="ctr">
                        <a:lnSpc>
                          <a:spcPct val="107000"/>
                        </a:lnSpc>
                        <a:spcAft>
                          <a:spcPts val="0"/>
                        </a:spcAft>
                      </a:pPr>
                      <a:r>
                        <a:rPr lang="en-US" sz="2400">
                          <a:effectLst/>
                          <a:latin typeface="Cambria" panose="02040503050406030204" pitchFamily="18" charset="0"/>
                        </a:rPr>
                        <a:t>Mô tả</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76" marR="68576" marT="0" marB="0"/>
                </a:tc>
                <a:extLst>
                  <a:ext uri="{0D108BD9-81ED-4DB2-BD59-A6C34878D82A}">
                    <a16:rowId xmlns:a16="http://schemas.microsoft.com/office/drawing/2014/main" val="10000"/>
                  </a:ext>
                </a:extLst>
              </a:tr>
              <a:tr h="623888">
                <a:tc>
                  <a:txBody>
                    <a:bodyPr/>
                    <a:lstStyle/>
                    <a:p>
                      <a:pPr algn="ctr">
                        <a:lnSpc>
                          <a:spcPct val="107000"/>
                        </a:lnSpc>
                        <a:spcAft>
                          <a:spcPts val="0"/>
                        </a:spcAft>
                      </a:pPr>
                      <a:r>
                        <a:rPr lang="en-US" sz="2400">
                          <a:effectLst/>
                          <a:latin typeface="Cambria" panose="020405030504060302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76" marR="68576" marT="0" marB="0"/>
                </a:tc>
                <a:tc>
                  <a:txBody>
                    <a:bodyPr/>
                    <a:lstStyle/>
                    <a:p>
                      <a:pPr algn="just">
                        <a:lnSpc>
                          <a:spcPct val="107000"/>
                        </a:lnSpc>
                        <a:spcAft>
                          <a:spcPts val="0"/>
                        </a:spcAft>
                      </a:pPr>
                      <a:r>
                        <a:rPr lang="en-US" sz="2400">
                          <a:effectLst/>
                          <a:latin typeface="Cambria" panose="02040503050406030204" pitchFamily="18" charset="0"/>
                        </a:rPr>
                        <a:t>Tăng một giá trị</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76" marR="68576" marT="0" marB="0"/>
                </a:tc>
                <a:extLst>
                  <a:ext uri="{0D108BD9-81ED-4DB2-BD59-A6C34878D82A}">
                    <a16:rowId xmlns:a16="http://schemas.microsoft.com/office/drawing/2014/main" val="10001"/>
                  </a:ext>
                </a:extLst>
              </a:tr>
              <a:tr h="623888">
                <a:tc>
                  <a:txBody>
                    <a:bodyPr/>
                    <a:lstStyle/>
                    <a:p>
                      <a:pPr algn="ctr">
                        <a:lnSpc>
                          <a:spcPct val="107000"/>
                        </a:lnSpc>
                        <a:spcAft>
                          <a:spcPts val="0"/>
                        </a:spcAft>
                      </a:pPr>
                      <a:r>
                        <a:rPr lang="en-US" sz="2400">
                          <a:effectLst/>
                          <a:latin typeface="Cambria" panose="020405030504060302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76" marR="68576" marT="0" marB="0"/>
                </a:tc>
                <a:tc>
                  <a:txBody>
                    <a:bodyPr/>
                    <a:lstStyle/>
                    <a:p>
                      <a:pPr algn="just">
                        <a:lnSpc>
                          <a:spcPct val="107000"/>
                        </a:lnSpc>
                        <a:spcAft>
                          <a:spcPts val="0"/>
                        </a:spcAft>
                      </a:pPr>
                      <a:r>
                        <a:rPr lang="en-US" sz="2400" dirty="0" err="1">
                          <a:effectLst/>
                          <a:latin typeface="Cambria" panose="02040503050406030204" pitchFamily="18" charset="0"/>
                        </a:rPr>
                        <a:t>Giảm</a:t>
                      </a:r>
                      <a:r>
                        <a:rPr lang="en-US" sz="2400" dirty="0">
                          <a:effectLst/>
                          <a:latin typeface="Cambria" panose="02040503050406030204" pitchFamily="18" charset="0"/>
                        </a:rPr>
                        <a:t> </a:t>
                      </a:r>
                      <a:r>
                        <a:rPr lang="en-US" sz="2400" dirty="0" err="1">
                          <a:effectLst/>
                          <a:latin typeface="Cambria" panose="02040503050406030204" pitchFamily="18" charset="0"/>
                        </a:rPr>
                        <a:t>một</a:t>
                      </a:r>
                      <a:r>
                        <a:rPr lang="en-US" sz="2400" dirty="0">
                          <a:effectLst/>
                          <a:latin typeface="Cambria" panose="02040503050406030204" pitchFamily="18" charset="0"/>
                        </a:rPr>
                        <a:t> </a:t>
                      </a:r>
                      <a:r>
                        <a:rPr lang="en-US" sz="2400" dirty="0" err="1">
                          <a:effectLst/>
                          <a:latin typeface="Cambria" panose="02040503050406030204" pitchFamily="18" charset="0"/>
                        </a:rPr>
                        <a:t>giá</a:t>
                      </a:r>
                      <a:r>
                        <a:rPr lang="en-US" sz="2400" dirty="0">
                          <a:effectLst/>
                          <a:latin typeface="Cambria" panose="02040503050406030204" pitchFamily="18" charset="0"/>
                        </a:rPr>
                        <a:t> </a:t>
                      </a:r>
                      <a:r>
                        <a:rPr lang="en-US" sz="2400" dirty="0" err="1">
                          <a:effectLst/>
                          <a:latin typeface="Cambria" panose="02040503050406030204" pitchFamily="18" charset="0"/>
                        </a:rPr>
                        <a:t>trị</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68576" marR="68576" marT="0" marB="0"/>
                </a:tc>
                <a:extLst>
                  <a:ext uri="{0D108BD9-81ED-4DB2-BD59-A6C34878D82A}">
                    <a16:rowId xmlns:a16="http://schemas.microsoft.com/office/drawing/2014/main" val="10002"/>
                  </a:ext>
                </a:extLst>
              </a:tr>
            </a:tbl>
          </a:graphicData>
        </a:graphic>
      </p:graphicFrame>
      <p:sp>
        <p:nvSpPr>
          <p:cNvPr id="8" name="TextBox 7"/>
          <p:cNvSpPr txBox="1"/>
          <p:nvPr/>
        </p:nvSpPr>
        <p:spPr>
          <a:xfrm>
            <a:off x="1849332" y="3200400"/>
            <a:ext cx="4238724" cy="1938992"/>
          </a:xfrm>
          <a:prstGeom prst="rect">
            <a:avLst/>
          </a:prstGeom>
          <a:noFill/>
        </p:spPr>
        <p:txBody>
          <a:bodyPr wrap="none" rtlCol="0">
            <a:spAutoFit/>
          </a:bodyPr>
          <a:lstStyle/>
          <a:p>
            <a:r>
              <a:rPr lang="en-US" sz="2400"/>
              <a:t>int x=5;</a:t>
            </a:r>
          </a:p>
          <a:p>
            <a:endParaRPr lang="en-US" sz="2400"/>
          </a:p>
          <a:p>
            <a:r>
              <a:rPr lang="en-US" sz="2400"/>
              <a:t>x++; </a:t>
            </a:r>
            <a:r>
              <a:rPr lang="en-US" sz="2400">
                <a:sym typeface="Wingdings" panose="05000000000000000000" pitchFamily="2" charset="2"/>
              </a:rPr>
              <a:t>tăng x lên 1 đơn vị x=6</a:t>
            </a:r>
          </a:p>
          <a:p>
            <a:r>
              <a:rPr lang="en-US" sz="2400">
                <a:sym typeface="Wingdings" panose="05000000000000000000" pitchFamily="2" charset="2"/>
              </a:rPr>
              <a:t>int y=5;</a:t>
            </a:r>
          </a:p>
          <a:p>
            <a:r>
              <a:rPr lang="en-US" sz="2400">
                <a:sym typeface="Wingdings" panose="05000000000000000000" pitchFamily="2" charset="2"/>
              </a:rPr>
              <a:t>++y;tăng y lên 1 đơn vịy=6</a:t>
            </a:r>
            <a:endParaRPr lang="en-US" sz="2400"/>
          </a:p>
        </p:txBody>
      </p:sp>
      <p:sp>
        <p:nvSpPr>
          <p:cNvPr id="10" name="TextBox 9"/>
          <p:cNvSpPr txBox="1"/>
          <p:nvPr/>
        </p:nvSpPr>
        <p:spPr>
          <a:xfrm>
            <a:off x="6429277" y="3220720"/>
            <a:ext cx="4180953" cy="1938992"/>
          </a:xfrm>
          <a:prstGeom prst="rect">
            <a:avLst/>
          </a:prstGeom>
          <a:noFill/>
        </p:spPr>
        <p:txBody>
          <a:bodyPr wrap="none" rtlCol="0">
            <a:spAutoFit/>
          </a:bodyPr>
          <a:lstStyle/>
          <a:p>
            <a:r>
              <a:rPr lang="en-US" sz="2400"/>
              <a:t>int z=5;</a:t>
            </a:r>
          </a:p>
          <a:p>
            <a:endParaRPr lang="en-US" sz="2400"/>
          </a:p>
          <a:p>
            <a:r>
              <a:rPr lang="en-US" sz="2400"/>
              <a:t>Z--; </a:t>
            </a:r>
            <a:r>
              <a:rPr lang="en-US" sz="2400">
                <a:sym typeface="Wingdings" panose="05000000000000000000" pitchFamily="2" charset="2"/>
              </a:rPr>
              <a:t>giảm z đi 1 đơn vị x=4</a:t>
            </a:r>
          </a:p>
          <a:p>
            <a:r>
              <a:rPr lang="en-US" sz="2400">
                <a:sym typeface="Wingdings" panose="05000000000000000000" pitchFamily="2" charset="2"/>
              </a:rPr>
              <a:t>int w=5;</a:t>
            </a:r>
          </a:p>
          <a:p>
            <a:r>
              <a:rPr lang="en-US" sz="2400">
                <a:sym typeface="Wingdings" panose="05000000000000000000" pitchFamily="2" charset="2"/>
              </a:rPr>
              <a:t>--w;giảm w đi 1 đơn vịw=4</a:t>
            </a:r>
            <a:endParaRPr lang="en-US" sz="2400"/>
          </a:p>
        </p:txBody>
      </p:sp>
      <p:sp>
        <p:nvSpPr>
          <p:cNvPr id="11" name="Slide Number Placeholder 10">
            <a:extLst>
              <a:ext uri="{FF2B5EF4-FFF2-40B4-BE49-F238E27FC236}">
                <a16:creationId xmlns:a16="http://schemas.microsoft.com/office/drawing/2014/main" id="{E5FED21D-3ED3-7591-AE76-906514586AEC}"/>
              </a:ext>
            </a:extLst>
          </p:cNvPr>
          <p:cNvSpPr>
            <a:spLocks noGrp="1"/>
          </p:cNvSpPr>
          <p:nvPr>
            <p:ph type="sldNum" sz="quarter" idx="12"/>
          </p:nvPr>
        </p:nvSpPr>
        <p:spPr/>
        <p:txBody>
          <a:bodyPr/>
          <a:lstStyle/>
          <a:p>
            <a:fld id="{48FE5571-560F-4DFC-BA97-61ACA5F7ADE1}" type="slidenum">
              <a:rPr lang="en-US" smtClean="0"/>
              <a:pPr/>
              <a:t>25</a:t>
            </a:fld>
            <a:endParaRPr lang="en-US"/>
          </a:p>
        </p:txBody>
      </p:sp>
    </p:spTree>
    <p:extLst>
      <p:ext uri="{BB962C8B-B14F-4D97-AF65-F5344CB8AC3E}">
        <p14:creationId xmlns:p14="http://schemas.microsoft.com/office/powerpoint/2010/main" val="10512942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486400" cy="508000"/>
            <a:chOff x="789624" y="1191463"/>
            <a:chExt cx="5486400" cy="508000"/>
          </a:xfrm>
        </p:grpSpPr>
        <p:sp>
          <p:nvSpPr>
            <p:cNvPr id="3" name="AutoShape 52"/>
            <p:cNvSpPr>
              <a:spLocks noChangeArrowheads="1"/>
            </p:cNvSpPr>
            <p:nvPr/>
          </p:nvSpPr>
          <p:spPr bwMode="gray">
            <a:xfrm>
              <a:off x="990600" y="1191463"/>
              <a:ext cx="5285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Phép toán tăng dần ++, giảm dần --</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p:cNvSpPr txBox="1"/>
          <p:nvPr/>
        </p:nvSpPr>
        <p:spPr>
          <a:xfrm>
            <a:off x="1849332" y="1281728"/>
            <a:ext cx="1960668" cy="1569660"/>
          </a:xfrm>
          <a:prstGeom prst="rect">
            <a:avLst/>
          </a:prstGeom>
          <a:noFill/>
        </p:spPr>
        <p:txBody>
          <a:bodyPr wrap="square" rtlCol="0">
            <a:spAutoFit/>
          </a:bodyPr>
          <a:lstStyle/>
          <a:p>
            <a:r>
              <a:rPr lang="en-US" sz="2400"/>
              <a:t>int x=5;</a:t>
            </a:r>
          </a:p>
          <a:p>
            <a:r>
              <a:rPr lang="en-US" sz="2400"/>
              <a:t>++x; </a:t>
            </a:r>
          </a:p>
          <a:p>
            <a:r>
              <a:rPr lang="en-US" sz="2400">
                <a:sym typeface="Wingdings" panose="05000000000000000000" pitchFamily="2" charset="2"/>
              </a:rPr>
              <a:t>int y=5;</a:t>
            </a:r>
          </a:p>
          <a:p>
            <a:r>
              <a:rPr lang="en-US" sz="2400">
                <a:sym typeface="Wingdings" panose="05000000000000000000" pitchFamily="2" charset="2"/>
              </a:rPr>
              <a:t>--y;</a:t>
            </a:r>
            <a:endParaRPr lang="en-US" sz="2400"/>
          </a:p>
        </p:txBody>
      </p:sp>
      <p:sp>
        <p:nvSpPr>
          <p:cNvPr id="11" name="TextBox 10"/>
          <p:cNvSpPr txBox="1"/>
          <p:nvPr/>
        </p:nvSpPr>
        <p:spPr>
          <a:xfrm>
            <a:off x="3124200" y="1835726"/>
            <a:ext cx="1960668" cy="461665"/>
          </a:xfrm>
          <a:prstGeom prst="rect">
            <a:avLst/>
          </a:prstGeom>
          <a:noFill/>
        </p:spPr>
        <p:txBody>
          <a:bodyPr wrap="square" rtlCol="0">
            <a:spAutoFit/>
          </a:bodyPr>
          <a:lstStyle/>
          <a:p>
            <a:r>
              <a:rPr lang="en-US" sz="2400"/>
              <a:t>Prefix</a:t>
            </a:r>
          </a:p>
        </p:txBody>
      </p:sp>
      <p:sp>
        <p:nvSpPr>
          <p:cNvPr id="12" name="TextBox 11"/>
          <p:cNvSpPr txBox="1"/>
          <p:nvPr/>
        </p:nvSpPr>
        <p:spPr>
          <a:xfrm>
            <a:off x="6359736" y="1281727"/>
            <a:ext cx="1960668" cy="1569660"/>
          </a:xfrm>
          <a:prstGeom prst="rect">
            <a:avLst/>
          </a:prstGeom>
          <a:noFill/>
        </p:spPr>
        <p:txBody>
          <a:bodyPr wrap="square" rtlCol="0">
            <a:spAutoFit/>
          </a:bodyPr>
          <a:lstStyle/>
          <a:p>
            <a:r>
              <a:rPr lang="en-US" sz="2400"/>
              <a:t>int x=5;</a:t>
            </a:r>
          </a:p>
          <a:p>
            <a:r>
              <a:rPr lang="en-US" sz="2400"/>
              <a:t>X++; </a:t>
            </a:r>
          </a:p>
          <a:p>
            <a:r>
              <a:rPr lang="en-US" sz="2400">
                <a:sym typeface="Wingdings" panose="05000000000000000000" pitchFamily="2" charset="2"/>
              </a:rPr>
              <a:t>int y=5;</a:t>
            </a:r>
          </a:p>
          <a:p>
            <a:r>
              <a:rPr lang="en-US" sz="2400">
                <a:sym typeface="Wingdings" panose="05000000000000000000" pitchFamily="2" charset="2"/>
              </a:rPr>
              <a:t>Y--;</a:t>
            </a:r>
            <a:endParaRPr lang="en-US" sz="2400"/>
          </a:p>
        </p:txBody>
      </p:sp>
      <p:sp>
        <p:nvSpPr>
          <p:cNvPr id="13" name="TextBox 12"/>
          <p:cNvSpPr txBox="1"/>
          <p:nvPr/>
        </p:nvSpPr>
        <p:spPr>
          <a:xfrm>
            <a:off x="7634604" y="1835726"/>
            <a:ext cx="1960668" cy="461665"/>
          </a:xfrm>
          <a:prstGeom prst="rect">
            <a:avLst/>
          </a:prstGeom>
          <a:noFill/>
        </p:spPr>
        <p:txBody>
          <a:bodyPr wrap="square" rtlCol="0">
            <a:spAutoFit/>
          </a:bodyPr>
          <a:lstStyle/>
          <a:p>
            <a:r>
              <a:rPr lang="en-US" sz="2400"/>
              <a:t>postfix</a:t>
            </a:r>
          </a:p>
        </p:txBody>
      </p:sp>
      <p:sp>
        <p:nvSpPr>
          <p:cNvPr id="14" name="TextBox 13"/>
          <p:cNvSpPr txBox="1"/>
          <p:nvPr/>
        </p:nvSpPr>
        <p:spPr>
          <a:xfrm>
            <a:off x="3429000" y="2876788"/>
            <a:ext cx="3886200" cy="1200329"/>
          </a:xfrm>
          <a:prstGeom prst="rect">
            <a:avLst/>
          </a:prstGeom>
          <a:noFill/>
        </p:spPr>
        <p:txBody>
          <a:bodyPr wrap="square" rtlCol="0">
            <a:spAutoFit/>
          </a:bodyPr>
          <a:lstStyle/>
          <a:p>
            <a:r>
              <a:rPr lang="en-US" sz="2400"/>
              <a:t>int x=8;</a:t>
            </a:r>
          </a:p>
          <a:p>
            <a:r>
              <a:rPr lang="en-US" sz="2400"/>
              <a:t>int y= 2;</a:t>
            </a:r>
          </a:p>
          <a:p>
            <a:r>
              <a:rPr lang="en-US" sz="2400"/>
              <a:t>int z = x++   +   ++y -5;</a:t>
            </a:r>
          </a:p>
        </p:txBody>
      </p:sp>
      <p:sp>
        <p:nvSpPr>
          <p:cNvPr id="15" name="TextBox 14"/>
          <p:cNvSpPr txBox="1"/>
          <p:nvPr/>
        </p:nvSpPr>
        <p:spPr>
          <a:xfrm>
            <a:off x="2003321" y="4183577"/>
            <a:ext cx="7064479" cy="1569660"/>
          </a:xfrm>
          <a:prstGeom prst="rect">
            <a:avLst/>
          </a:prstGeom>
          <a:noFill/>
        </p:spPr>
        <p:txBody>
          <a:bodyPr wrap="square" rtlCol="0">
            <a:spAutoFit/>
          </a:bodyPr>
          <a:lstStyle/>
          <a:p>
            <a:r>
              <a:rPr lang="en-US" sz="2400"/>
              <a:t>Bước 1: ưu tiên xử lý prefix trước: y=3</a:t>
            </a:r>
          </a:p>
          <a:p>
            <a:r>
              <a:rPr lang="en-US" sz="2400"/>
              <a:t>Bước 2: Tính toán các phép toán còn lại: 8 + 3 – 5=6</a:t>
            </a:r>
          </a:p>
          <a:p>
            <a:r>
              <a:rPr lang="en-US" sz="2400"/>
              <a:t>Bước 3: gán giá trị ở bước 2 cho vế trái: z=6</a:t>
            </a:r>
          </a:p>
          <a:p>
            <a:r>
              <a:rPr lang="en-US" sz="2400"/>
              <a:t>Bước 4: thực hiện postfix: x=9</a:t>
            </a:r>
          </a:p>
        </p:txBody>
      </p:sp>
      <p:sp>
        <p:nvSpPr>
          <p:cNvPr id="9" name="Slide Number Placeholder 8">
            <a:extLst>
              <a:ext uri="{FF2B5EF4-FFF2-40B4-BE49-F238E27FC236}">
                <a16:creationId xmlns:a16="http://schemas.microsoft.com/office/drawing/2014/main" id="{B31E419A-5487-6353-5BC2-7C51B7F629AF}"/>
              </a:ext>
            </a:extLst>
          </p:cNvPr>
          <p:cNvSpPr>
            <a:spLocks noGrp="1"/>
          </p:cNvSpPr>
          <p:nvPr>
            <p:ph type="sldNum" sz="quarter" idx="12"/>
          </p:nvPr>
        </p:nvSpPr>
        <p:spPr/>
        <p:txBody>
          <a:bodyPr/>
          <a:lstStyle/>
          <a:p>
            <a:fld id="{48FE5571-560F-4DFC-BA97-61ACA5F7ADE1}" type="slidenum">
              <a:rPr lang="en-US" smtClean="0"/>
              <a:pPr/>
              <a:t>26</a:t>
            </a:fld>
            <a:endParaRPr lang="en-US"/>
          </a:p>
        </p:txBody>
      </p:sp>
    </p:spTree>
    <p:extLst>
      <p:ext uri="{BB962C8B-B14F-4D97-AF65-F5344CB8AC3E}">
        <p14:creationId xmlns:p14="http://schemas.microsoft.com/office/powerpoint/2010/main" val="19875816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486400" cy="508000"/>
            <a:chOff x="789624" y="1191463"/>
            <a:chExt cx="5486400" cy="508000"/>
          </a:xfrm>
        </p:grpSpPr>
        <p:sp>
          <p:nvSpPr>
            <p:cNvPr id="3" name="AutoShape 52"/>
            <p:cNvSpPr>
              <a:spLocks noChangeArrowheads="1"/>
            </p:cNvSpPr>
            <p:nvPr/>
          </p:nvSpPr>
          <p:spPr bwMode="gray">
            <a:xfrm>
              <a:off x="990600" y="1191463"/>
              <a:ext cx="5285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Phép toán tăng dần ++, giảm dần --</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6" name="TextBox 15"/>
          <p:cNvSpPr txBox="1"/>
          <p:nvPr/>
        </p:nvSpPr>
        <p:spPr>
          <a:xfrm>
            <a:off x="2438400" y="1600200"/>
            <a:ext cx="3886200" cy="1569660"/>
          </a:xfrm>
          <a:prstGeom prst="rect">
            <a:avLst/>
          </a:prstGeom>
          <a:noFill/>
        </p:spPr>
        <p:txBody>
          <a:bodyPr wrap="square" rtlCol="0">
            <a:spAutoFit/>
          </a:bodyPr>
          <a:lstStyle/>
          <a:p>
            <a:r>
              <a:rPr lang="en-US" sz="2400"/>
              <a:t>int x=8;</a:t>
            </a:r>
          </a:p>
          <a:p>
            <a:r>
              <a:rPr lang="en-US" sz="2400"/>
              <a:t>int y= 2;</a:t>
            </a:r>
          </a:p>
          <a:p>
            <a:r>
              <a:rPr lang="en-US" sz="2400"/>
              <a:t>int k=3</a:t>
            </a:r>
          </a:p>
          <a:p>
            <a:r>
              <a:rPr lang="en-US" sz="2400"/>
              <a:t>int z =  --k   -   ++x   -   y++   +2;</a:t>
            </a:r>
          </a:p>
        </p:txBody>
      </p:sp>
      <p:sp>
        <p:nvSpPr>
          <p:cNvPr id="8" name="Slide Number Placeholder 7">
            <a:extLst>
              <a:ext uri="{FF2B5EF4-FFF2-40B4-BE49-F238E27FC236}">
                <a16:creationId xmlns:a16="http://schemas.microsoft.com/office/drawing/2014/main" id="{E6AECC10-38BB-5145-C1E8-793CB0A1D9D2}"/>
              </a:ext>
            </a:extLst>
          </p:cNvPr>
          <p:cNvSpPr>
            <a:spLocks noGrp="1"/>
          </p:cNvSpPr>
          <p:nvPr>
            <p:ph type="sldNum" sz="quarter" idx="12"/>
          </p:nvPr>
        </p:nvSpPr>
        <p:spPr/>
        <p:txBody>
          <a:bodyPr/>
          <a:lstStyle/>
          <a:p>
            <a:fld id="{48FE5571-560F-4DFC-BA97-61ACA5F7ADE1}" type="slidenum">
              <a:rPr lang="en-US" smtClean="0"/>
              <a:pPr/>
              <a:t>27</a:t>
            </a:fld>
            <a:endParaRPr lang="en-US"/>
          </a:p>
        </p:txBody>
      </p:sp>
    </p:spTree>
    <p:extLst>
      <p:ext uri="{BB962C8B-B14F-4D97-AF65-F5344CB8AC3E}">
        <p14:creationId xmlns:p14="http://schemas.microsoft.com/office/powerpoint/2010/main" val="2164454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486400" cy="508000"/>
            <a:chOff x="789624" y="1191463"/>
            <a:chExt cx="5486400" cy="508000"/>
          </a:xfrm>
        </p:grpSpPr>
        <p:sp>
          <p:nvSpPr>
            <p:cNvPr id="3" name="AutoShape 52"/>
            <p:cNvSpPr>
              <a:spLocks noChangeArrowheads="1"/>
            </p:cNvSpPr>
            <p:nvPr/>
          </p:nvSpPr>
          <p:spPr bwMode="gray">
            <a:xfrm>
              <a:off x="990600" y="1191463"/>
              <a:ext cx="5285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kern="0">
                  <a:solidFill>
                    <a:srgbClr val="002060"/>
                  </a:solidFill>
                  <a:latin typeface="Cambria" panose="02040503050406030204" pitchFamily="18" charset="0"/>
                </a:rPr>
                <a:t>Độ ưu tiên toán tử</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10" name="Table 9"/>
          <p:cNvGraphicFramePr>
            <a:graphicFrameLocks noGrp="1"/>
          </p:cNvGraphicFramePr>
          <p:nvPr/>
        </p:nvGraphicFramePr>
        <p:xfrm>
          <a:off x="2029776" y="1295400"/>
          <a:ext cx="8257224" cy="2841624"/>
        </p:xfrm>
        <a:graphic>
          <a:graphicData uri="http://schemas.openxmlformats.org/drawingml/2006/table">
            <a:tbl>
              <a:tblPr firstRow="1" firstCol="1" bandRow="1">
                <a:tableStyleId>{5C22544A-7EE6-4342-B048-85BDC9FD1C3A}</a:tableStyleId>
              </a:tblPr>
              <a:tblGrid>
                <a:gridCol w="1908943">
                  <a:extLst>
                    <a:ext uri="{9D8B030D-6E8A-4147-A177-3AD203B41FA5}">
                      <a16:colId xmlns:a16="http://schemas.microsoft.com/office/drawing/2014/main" val="20000"/>
                    </a:ext>
                  </a:extLst>
                </a:gridCol>
                <a:gridCol w="6348281">
                  <a:extLst>
                    <a:ext uri="{9D8B030D-6E8A-4147-A177-3AD203B41FA5}">
                      <a16:colId xmlns:a16="http://schemas.microsoft.com/office/drawing/2014/main" val="20001"/>
                    </a:ext>
                  </a:extLst>
                </a:gridCol>
              </a:tblGrid>
              <a:tr h="473604">
                <a:tc>
                  <a:txBody>
                    <a:bodyPr/>
                    <a:lstStyle/>
                    <a:p>
                      <a:pPr algn="ctr">
                        <a:lnSpc>
                          <a:spcPct val="107000"/>
                        </a:lnSpc>
                        <a:spcAft>
                          <a:spcPts val="0"/>
                        </a:spcAft>
                      </a:pPr>
                      <a:r>
                        <a:rPr lang="en-US" sz="2400">
                          <a:effectLst/>
                          <a:latin typeface="Cambria" panose="02040503050406030204" pitchFamily="18" charset="0"/>
                        </a:rPr>
                        <a:t>Thứ tự</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tc>
                  <a:txBody>
                    <a:bodyPr/>
                    <a:lstStyle/>
                    <a:p>
                      <a:pPr algn="ctr">
                        <a:lnSpc>
                          <a:spcPct val="107000"/>
                        </a:lnSpc>
                        <a:spcAft>
                          <a:spcPts val="0"/>
                        </a:spcAft>
                      </a:pPr>
                      <a:r>
                        <a:rPr lang="en-US" sz="2400">
                          <a:effectLst/>
                          <a:latin typeface="Cambria" panose="02040503050406030204" pitchFamily="18" charset="0"/>
                        </a:rPr>
                        <a:t>Toán tử</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extLst>
                  <a:ext uri="{0D108BD9-81ED-4DB2-BD59-A6C34878D82A}">
                    <a16:rowId xmlns:a16="http://schemas.microsoft.com/office/drawing/2014/main" val="10000"/>
                  </a:ext>
                </a:extLst>
              </a:tr>
              <a:tr h="473604">
                <a:tc>
                  <a:txBody>
                    <a:bodyPr/>
                    <a:lstStyle/>
                    <a:p>
                      <a:pPr algn="ctr">
                        <a:lnSpc>
                          <a:spcPct val="107000"/>
                        </a:lnSpc>
                        <a:spcAft>
                          <a:spcPts val="0"/>
                        </a:spcAft>
                      </a:pPr>
                      <a:r>
                        <a:rPr lang="en-US" sz="2400">
                          <a:effectLst/>
                          <a:latin typeface="Cambria" panose="02040503050406030204" pitchFamily="18" charset="0"/>
                        </a:rPr>
                        <a:t>1</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tc>
                  <a:txBody>
                    <a:bodyPr/>
                    <a:lstStyle/>
                    <a:p>
                      <a:pPr algn="just">
                        <a:lnSpc>
                          <a:spcPct val="107000"/>
                        </a:lnSpc>
                        <a:spcAft>
                          <a:spcPts val="0"/>
                        </a:spcAft>
                      </a:pPr>
                      <a:r>
                        <a:rPr lang="en-US" sz="2400">
                          <a:effectLst/>
                          <a:latin typeface="Cambria" panose="02040503050406030204" pitchFamily="18" charset="0"/>
                        </a:rPr>
                        <a:t>Các toán tử đơn như: +, -, ++,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extLst>
                  <a:ext uri="{0D108BD9-81ED-4DB2-BD59-A6C34878D82A}">
                    <a16:rowId xmlns:a16="http://schemas.microsoft.com/office/drawing/2014/main" val="10001"/>
                  </a:ext>
                </a:extLst>
              </a:tr>
              <a:tr h="473604">
                <a:tc>
                  <a:txBody>
                    <a:bodyPr/>
                    <a:lstStyle/>
                    <a:p>
                      <a:pPr algn="ctr">
                        <a:lnSpc>
                          <a:spcPct val="107000"/>
                        </a:lnSpc>
                        <a:spcAft>
                          <a:spcPts val="0"/>
                        </a:spcAft>
                      </a:pPr>
                      <a:r>
                        <a:rPr lang="en-US" sz="2400">
                          <a:effectLst/>
                          <a:latin typeface="Cambria" panose="02040503050406030204" pitchFamily="18" charset="0"/>
                        </a:rPr>
                        <a:t>2</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tc>
                  <a:txBody>
                    <a:bodyPr/>
                    <a:lstStyle/>
                    <a:p>
                      <a:pPr algn="just">
                        <a:lnSpc>
                          <a:spcPct val="107000"/>
                        </a:lnSpc>
                        <a:spcAft>
                          <a:spcPts val="0"/>
                        </a:spcAft>
                      </a:pPr>
                      <a:r>
                        <a:rPr lang="en-US" sz="2400">
                          <a:effectLst/>
                          <a:latin typeface="Cambria" panose="02040503050406030204" pitchFamily="18" charset="0"/>
                        </a:rPr>
                        <a:t>Các toán tử số học *, /, +,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extLst>
                  <a:ext uri="{0D108BD9-81ED-4DB2-BD59-A6C34878D82A}">
                    <a16:rowId xmlns:a16="http://schemas.microsoft.com/office/drawing/2014/main" val="10002"/>
                  </a:ext>
                </a:extLst>
              </a:tr>
              <a:tr h="473604">
                <a:tc>
                  <a:txBody>
                    <a:bodyPr/>
                    <a:lstStyle/>
                    <a:p>
                      <a:pPr algn="ctr">
                        <a:lnSpc>
                          <a:spcPct val="107000"/>
                        </a:lnSpc>
                        <a:spcAft>
                          <a:spcPts val="0"/>
                        </a:spcAft>
                      </a:pPr>
                      <a:r>
                        <a:rPr lang="en-US" sz="2400">
                          <a:effectLst/>
                          <a:latin typeface="Cambria" panose="02040503050406030204" pitchFamily="18" charset="0"/>
                        </a:rPr>
                        <a:t>3</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tc>
                  <a:txBody>
                    <a:bodyPr/>
                    <a:lstStyle/>
                    <a:p>
                      <a:pPr algn="just">
                        <a:lnSpc>
                          <a:spcPct val="107000"/>
                        </a:lnSpc>
                        <a:spcAft>
                          <a:spcPts val="0"/>
                        </a:spcAft>
                      </a:pPr>
                      <a:r>
                        <a:rPr lang="en-US" sz="2400">
                          <a:effectLst/>
                          <a:latin typeface="Cambria" panose="02040503050406030204" pitchFamily="18" charset="0"/>
                        </a:rPr>
                        <a:t>Các toán tử quan hệ &gt;, &lt;, &gt;=, &lt;=, ==,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extLst>
                  <a:ext uri="{0D108BD9-81ED-4DB2-BD59-A6C34878D82A}">
                    <a16:rowId xmlns:a16="http://schemas.microsoft.com/office/drawing/2014/main" val="10003"/>
                  </a:ext>
                </a:extLst>
              </a:tr>
              <a:tr h="473604">
                <a:tc>
                  <a:txBody>
                    <a:bodyPr/>
                    <a:lstStyle/>
                    <a:p>
                      <a:pPr algn="ctr">
                        <a:lnSpc>
                          <a:spcPct val="107000"/>
                        </a:lnSpc>
                        <a:spcAft>
                          <a:spcPts val="0"/>
                        </a:spcAft>
                      </a:pPr>
                      <a:r>
                        <a:rPr lang="en-US" sz="2400">
                          <a:effectLst/>
                          <a:latin typeface="Cambria" panose="02040503050406030204" pitchFamily="18" charset="0"/>
                        </a:rPr>
                        <a:t>4</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tc>
                  <a:txBody>
                    <a:bodyPr/>
                    <a:lstStyle/>
                    <a:p>
                      <a:pPr algn="just">
                        <a:lnSpc>
                          <a:spcPct val="107000"/>
                        </a:lnSpc>
                        <a:spcAft>
                          <a:spcPts val="0"/>
                        </a:spcAft>
                      </a:pPr>
                      <a:r>
                        <a:rPr lang="en-US" sz="2400">
                          <a:effectLst/>
                          <a:latin typeface="Cambria" panose="02040503050406030204" pitchFamily="18" charset="0"/>
                        </a:rPr>
                        <a:t>Các toán tử luận lý &amp;&amp;, ||,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extLst>
                  <a:ext uri="{0D108BD9-81ED-4DB2-BD59-A6C34878D82A}">
                    <a16:rowId xmlns:a16="http://schemas.microsoft.com/office/drawing/2014/main" val="10004"/>
                  </a:ext>
                </a:extLst>
              </a:tr>
              <a:tr h="473604">
                <a:tc>
                  <a:txBody>
                    <a:bodyPr/>
                    <a:lstStyle/>
                    <a:p>
                      <a:pPr algn="ctr">
                        <a:lnSpc>
                          <a:spcPct val="107000"/>
                        </a:lnSpc>
                        <a:spcAft>
                          <a:spcPts val="0"/>
                        </a:spcAft>
                      </a:pPr>
                      <a:r>
                        <a:rPr lang="en-US" sz="2400">
                          <a:effectLst/>
                          <a:latin typeface="Cambria" panose="02040503050406030204" pitchFamily="18" charset="0"/>
                        </a:rPr>
                        <a:t>5</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tc>
                  <a:txBody>
                    <a:bodyPr/>
                    <a:lstStyle/>
                    <a:p>
                      <a:pPr algn="just">
                        <a:lnSpc>
                          <a:spcPct val="107000"/>
                        </a:lnSpc>
                        <a:spcAft>
                          <a:spcPts val="0"/>
                        </a:spcAft>
                      </a:pPr>
                      <a:r>
                        <a:rPr lang="en-US" sz="2400" dirty="0" err="1">
                          <a:effectLst/>
                          <a:latin typeface="Cambria" panose="02040503050406030204" pitchFamily="18" charset="0"/>
                        </a:rPr>
                        <a:t>Các</a:t>
                      </a:r>
                      <a:r>
                        <a:rPr lang="en-US" sz="2400" dirty="0">
                          <a:effectLst/>
                          <a:latin typeface="Cambria" panose="02040503050406030204" pitchFamily="18" charset="0"/>
                        </a:rPr>
                        <a:t> </a:t>
                      </a:r>
                      <a:r>
                        <a:rPr lang="en-US" sz="2400" dirty="0" err="1">
                          <a:effectLst/>
                          <a:latin typeface="Cambria" panose="02040503050406030204" pitchFamily="18" charset="0"/>
                        </a:rPr>
                        <a:t>toán</a:t>
                      </a:r>
                      <a:r>
                        <a:rPr lang="en-US" sz="2400" dirty="0">
                          <a:effectLst/>
                          <a:latin typeface="Cambria" panose="02040503050406030204" pitchFamily="18" charset="0"/>
                        </a:rPr>
                        <a:t> </a:t>
                      </a:r>
                      <a:r>
                        <a:rPr lang="en-US" sz="2400" dirty="0" err="1">
                          <a:effectLst/>
                          <a:latin typeface="Cambria" panose="02040503050406030204" pitchFamily="18" charset="0"/>
                        </a:rPr>
                        <a:t>tử</a:t>
                      </a:r>
                      <a:r>
                        <a:rPr lang="en-US" sz="2400" dirty="0">
                          <a:effectLst/>
                          <a:latin typeface="Cambria" panose="02040503050406030204" pitchFamily="18" charset="0"/>
                        </a:rPr>
                        <a:t> </a:t>
                      </a:r>
                      <a:r>
                        <a:rPr lang="en-US" sz="2400" dirty="0" err="1">
                          <a:effectLst/>
                          <a:latin typeface="Cambria" panose="02040503050406030204" pitchFamily="18" charset="0"/>
                        </a:rPr>
                        <a:t>gán</a:t>
                      </a:r>
                      <a:r>
                        <a:rPr lang="en-US" sz="2400" dirty="0">
                          <a:effectLst/>
                          <a:latin typeface="Cambria" panose="02040503050406030204" pitchFamily="18" charset="0"/>
                        </a:rPr>
                        <a:t> =, *=, /=, +=, -=</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68584" marR="68584" marT="0" marB="0"/>
                </a:tc>
                <a:extLst>
                  <a:ext uri="{0D108BD9-81ED-4DB2-BD59-A6C34878D82A}">
                    <a16:rowId xmlns:a16="http://schemas.microsoft.com/office/drawing/2014/main" val="10005"/>
                  </a:ext>
                </a:extLst>
              </a:tr>
            </a:tbl>
          </a:graphicData>
        </a:graphic>
      </p:graphicFrame>
      <p:sp>
        <p:nvSpPr>
          <p:cNvPr id="8" name="Slide Number Placeholder 7">
            <a:extLst>
              <a:ext uri="{FF2B5EF4-FFF2-40B4-BE49-F238E27FC236}">
                <a16:creationId xmlns:a16="http://schemas.microsoft.com/office/drawing/2014/main" id="{50ABBDED-AB2C-6B7A-B541-0A170DC519F4}"/>
              </a:ext>
            </a:extLst>
          </p:cNvPr>
          <p:cNvSpPr>
            <a:spLocks noGrp="1"/>
          </p:cNvSpPr>
          <p:nvPr>
            <p:ph type="sldNum" sz="quarter" idx="12"/>
          </p:nvPr>
        </p:nvSpPr>
        <p:spPr/>
        <p:txBody>
          <a:bodyPr/>
          <a:lstStyle/>
          <a:p>
            <a:fld id="{48FE5571-560F-4DFC-BA97-61ACA5F7ADE1}" type="slidenum">
              <a:rPr lang="en-US" smtClean="0"/>
              <a:pPr/>
              <a:t>28</a:t>
            </a:fld>
            <a:endParaRPr lang="en-US"/>
          </a:p>
        </p:txBody>
      </p:sp>
    </p:spTree>
    <p:extLst>
      <p:ext uri="{BB962C8B-B14F-4D97-AF65-F5344CB8AC3E}">
        <p14:creationId xmlns:p14="http://schemas.microsoft.com/office/powerpoint/2010/main" val="13794475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vi-VN" kern="0">
                <a:solidFill>
                  <a:srgbClr val="002060"/>
                </a:solidFill>
                <a:latin typeface="Cambria" panose="02040503050406030204" pitchFamily="18" charset="0"/>
              </a:rPr>
              <a:t>Nhập dữ liệu từ bàn phím với Scanner</a:t>
            </a:r>
            <a:endParaRPr lang="en-US" kern="0">
              <a:solidFill>
                <a:srgbClr val="002060"/>
              </a:solidFill>
              <a:latin typeface="Cambria" panose="02040503050406030204" pitchFamily="18" charset="0"/>
            </a:endParaRP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2D0CCF5F-5853-B4C8-9657-106EFC266BA4}"/>
              </a:ext>
            </a:extLst>
          </p:cNvPr>
          <p:cNvSpPr>
            <a:spLocks noGrp="1"/>
          </p:cNvSpPr>
          <p:nvPr>
            <p:ph type="sldNum" sz="quarter" idx="12"/>
          </p:nvPr>
        </p:nvSpPr>
        <p:spPr/>
        <p:txBody>
          <a:bodyPr/>
          <a:lstStyle/>
          <a:p>
            <a:fld id="{48FE5571-560F-4DFC-BA97-61ACA5F7ADE1}" type="slidenum">
              <a:rPr lang="en-US" smtClean="0"/>
              <a:pPr/>
              <a:t>29</a:t>
            </a:fld>
            <a:endParaRPr lang="en-US"/>
          </a:p>
        </p:txBody>
      </p:sp>
    </p:spTree>
    <p:extLst>
      <p:ext uri="{BB962C8B-B14F-4D97-AF65-F5344CB8AC3E}">
        <p14:creationId xmlns:p14="http://schemas.microsoft.com/office/powerpoint/2010/main" val="17230707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vi-VN" kern="0">
                <a:solidFill>
                  <a:srgbClr val="002060"/>
                </a:solidFill>
                <a:latin typeface="Cambria" panose="02040503050406030204" pitchFamily="18" charset="0"/>
              </a:rPr>
              <a:t>Cách import thư viện để sử dụng Scanner</a:t>
            </a:r>
          </a:p>
          <a:p>
            <a:pPr lvl="0" algn="just">
              <a:buClr>
                <a:srgbClr val="3DC5C5"/>
              </a:buClr>
              <a:defRPr/>
            </a:pPr>
            <a:r>
              <a:rPr lang="vi-VN" kern="0">
                <a:solidFill>
                  <a:srgbClr val="002060"/>
                </a:solidFill>
                <a:latin typeface="Cambria" panose="02040503050406030204" pitchFamily="18" charset="0"/>
              </a:rPr>
              <a:t>Cách nhập dữ liệu từ Scanner: Nhập số, nhập chuỗi</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2637E2AE-C021-D5CF-3625-6573F3DE4EDA}"/>
              </a:ext>
            </a:extLst>
          </p:cNvPr>
          <p:cNvSpPr>
            <a:spLocks noGrp="1"/>
          </p:cNvSpPr>
          <p:nvPr>
            <p:ph type="sldNum" sz="quarter" idx="12"/>
          </p:nvPr>
        </p:nvSpPr>
        <p:spPr/>
        <p:txBody>
          <a:bodyPr/>
          <a:lstStyle/>
          <a:p>
            <a:fld id="{48FE5571-560F-4DFC-BA97-61ACA5F7ADE1}" type="slidenum">
              <a:rPr lang="en-US" smtClean="0"/>
              <a:pPr/>
              <a:t>30</a:t>
            </a:fld>
            <a:endParaRPr lang="en-US"/>
          </a:p>
        </p:txBody>
      </p:sp>
    </p:spTree>
    <p:extLst>
      <p:ext uri="{BB962C8B-B14F-4D97-AF65-F5344CB8AC3E}">
        <p14:creationId xmlns:p14="http://schemas.microsoft.com/office/powerpoint/2010/main" val="16885101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import thư viện</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800" kern="0">
                <a:solidFill>
                  <a:srgbClr val="002060"/>
                </a:solidFill>
                <a:latin typeface="Cambria" panose="02040503050406030204" pitchFamily="18" charset="0"/>
              </a:rPr>
              <a:t>Ta gõ vài ký tự: Scan rồi gõ tổ hợp phím Ctrl+ Space </a:t>
            </a:r>
            <a:r>
              <a:rPr lang="en-US" sz="2800" kern="0">
                <a:solidFill>
                  <a:srgbClr val="002060"/>
                </a:solidFill>
                <a:latin typeface="Cambria" panose="02040503050406030204" pitchFamily="18" charset="0"/>
                <a:sym typeface="Wingdings" panose="05000000000000000000" pitchFamily="2" charset="2"/>
              </a:rPr>
              <a:t> Eclipse hiển thị ra danh mục các Lớp tương đươngta chọn Scanner của java.util</a:t>
            </a:r>
            <a:endParaRPr lang="vi-VN" sz="2800" kern="0">
              <a:solidFill>
                <a:srgbClr val="002060"/>
              </a:solidFill>
              <a:latin typeface="Cambria" panose="02040503050406030204" pitchFamily="18" charset="0"/>
            </a:endParaRPr>
          </a:p>
        </p:txBody>
      </p:sp>
      <p:pic>
        <p:nvPicPr>
          <p:cNvPr id="9" name="Picture 8"/>
          <p:cNvPicPr>
            <a:picLocks noChangeAspect="1"/>
          </p:cNvPicPr>
          <p:nvPr/>
        </p:nvPicPr>
        <p:blipFill>
          <a:blip r:embed="rId2"/>
          <a:stretch>
            <a:fillRect/>
          </a:stretch>
        </p:blipFill>
        <p:spPr>
          <a:xfrm>
            <a:off x="3505200" y="2579225"/>
            <a:ext cx="5689470" cy="3876967"/>
          </a:xfrm>
          <a:prstGeom prst="rect">
            <a:avLst/>
          </a:prstGeom>
        </p:spPr>
      </p:pic>
      <p:sp>
        <p:nvSpPr>
          <p:cNvPr id="10" name="Slide Number Placeholder 9">
            <a:extLst>
              <a:ext uri="{FF2B5EF4-FFF2-40B4-BE49-F238E27FC236}">
                <a16:creationId xmlns:a16="http://schemas.microsoft.com/office/drawing/2014/main" id="{4435DB39-FE78-DC46-A177-736FF5641CB3}"/>
              </a:ext>
            </a:extLst>
          </p:cNvPr>
          <p:cNvSpPr>
            <a:spLocks noGrp="1"/>
          </p:cNvSpPr>
          <p:nvPr>
            <p:ph type="sldNum" sz="quarter" idx="12"/>
          </p:nvPr>
        </p:nvSpPr>
        <p:spPr/>
        <p:txBody>
          <a:bodyPr/>
          <a:lstStyle/>
          <a:p>
            <a:fld id="{48FE5571-560F-4DFC-BA97-61ACA5F7ADE1}" type="slidenum">
              <a:rPr lang="en-US" smtClean="0"/>
              <a:pPr/>
              <a:t>31</a:t>
            </a:fld>
            <a:endParaRPr lang="en-US"/>
          </a:p>
        </p:txBody>
      </p:sp>
    </p:spTree>
    <p:extLst>
      <p:ext uri="{BB962C8B-B14F-4D97-AF65-F5344CB8AC3E}">
        <p14:creationId xmlns:p14="http://schemas.microsoft.com/office/powerpoint/2010/main" val="1253000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import thư viện</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800" kern="0">
                <a:solidFill>
                  <a:srgbClr val="002060"/>
                </a:solidFill>
                <a:latin typeface="Cambria" panose="02040503050406030204" pitchFamily="18" charset="0"/>
              </a:rPr>
              <a:t>Eclipse sẽ tự động import thư viện cho ta</a:t>
            </a:r>
            <a:endParaRPr lang="vi-VN" sz="2800" kern="0">
              <a:solidFill>
                <a:srgbClr val="002060"/>
              </a:solidFill>
              <a:latin typeface="Cambria" panose="02040503050406030204" pitchFamily="18" charset="0"/>
            </a:endParaRPr>
          </a:p>
        </p:txBody>
      </p:sp>
      <p:pic>
        <p:nvPicPr>
          <p:cNvPr id="10" name="Picture 9"/>
          <p:cNvPicPr>
            <a:picLocks noChangeAspect="1"/>
          </p:cNvPicPr>
          <p:nvPr/>
        </p:nvPicPr>
        <p:blipFill>
          <a:blip r:embed="rId2"/>
          <a:stretch>
            <a:fillRect/>
          </a:stretch>
        </p:blipFill>
        <p:spPr>
          <a:xfrm>
            <a:off x="3030484" y="1752600"/>
            <a:ext cx="6305550" cy="2895600"/>
          </a:xfrm>
          <a:prstGeom prst="rect">
            <a:avLst/>
          </a:prstGeom>
        </p:spPr>
      </p:pic>
      <p:sp>
        <p:nvSpPr>
          <p:cNvPr id="9" name="Slide Number Placeholder 8">
            <a:extLst>
              <a:ext uri="{FF2B5EF4-FFF2-40B4-BE49-F238E27FC236}">
                <a16:creationId xmlns:a16="http://schemas.microsoft.com/office/drawing/2014/main" id="{CFCCE1DF-5E99-5F40-F97A-828732D836A7}"/>
              </a:ext>
            </a:extLst>
          </p:cNvPr>
          <p:cNvSpPr>
            <a:spLocks noGrp="1"/>
          </p:cNvSpPr>
          <p:nvPr>
            <p:ph type="sldNum" sz="quarter" idx="12"/>
          </p:nvPr>
        </p:nvSpPr>
        <p:spPr/>
        <p:txBody>
          <a:bodyPr/>
          <a:lstStyle/>
          <a:p>
            <a:fld id="{48FE5571-560F-4DFC-BA97-61ACA5F7ADE1}" type="slidenum">
              <a:rPr lang="en-US" smtClean="0"/>
              <a:pPr/>
              <a:t>32</a:t>
            </a:fld>
            <a:endParaRPr lang="en-US"/>
          </a:p>
        </p:txBody>
      </p:sp>
    </p:spTree>
    <p:extLst>
      <p:ext uri="{BB962C8B-B14F-4D97-AF65-F5344CB8AC3E}">
        <p14:creationId xmlns:p14="http://schemas.microsoft.com/office/powerpoint/2010/main" val="20425764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876800" cy="508000"/>
            <a:chOff x="789624" y="1191463"/>
            <a:chExt cx="4876800" cy="508000"/>
          </a:xfrm>
        </p:grpSpPr>
        <p:sp>
          <p:nvSpPr>
            <p:cNvPr id="3" name="AutoShape 52"/>
            <p:cNvSpPr>
              <a:spLocks noChangeArrowheads="1"/>
            </p:cNvSpPr>
            <p:nvPr/>
          </p:nvSpPr>
          <p:spPr bwMode="gray">
            <a:xfrm>
              <a:off x="990600" y="1191463"/>
              <a:ext cx="4675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nhập dữ liệu từ Scanner</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Tạo đối tượng Scanner để nhập liệu:</a:t>
            </a:r>
            <a:endParaRPr lang="en-US" kern="0" dirty="0">
              <a:solidFill>
                <a:srgbClr val="002060"/>
              </a:solidFill>
              <a:latin typeface="Cambria" panose="02040503050406030204" pitchFamily="18" charset="0"/>
            </a:endParaRPr>
          </a:p>
        </p:txBody>
      </p:sp>
      <p:pic>
        <p:nvPicPr>
          <p:cNvPr id="9" name="Picture 8"/>
          <p:cNvPicPr>
            <a:picLocks noChangeAspect="1"/>
          </p:cNvPicPr>
          <p:nvPr/>
        </p:nvPicPr>
        <p:blipFill>
          <a:blip r:embed="rId2"/>
          <a:stretch>
            <a:fillRect/>
          </a:stretch>
        </p:blipFill>
        <p:spPr>
          <a:xfrm>
            <a:off x="3044772" y="1905000"/>
            <a:ext cx="6276975" cy="2895600"/>
          </a:xfrm>
          <a:prstGeom prst="rect">
            <a:avLst/>
          </a:prstGeom>
        </p:spPr>
      </p:pic>
      <p:sp>
        <p:nvSpPr>
          <p:cNvPr id="10" name="Slide Number Placeholder 9">
            <a:extLst>
              <a:ext uri="{FF2B5EF4-FFF2-40B4-BE49-F238E27FC236}">
                <a16:creationId xmlns:a16="http://schemas.microsoft.com/office/drawing/2014/main" id="{7A5C1D2C-121F-35D0-F2BD-0CD671DA1ABA}"/>
              </a:ext>
            </a:extLst>
          </p:cNvPr>
          <p:cNvSpPr>
            <a:spLocks noGrp="1"/>
          </p:cNvSpPr>
          <p:nvPr>
            <p:ph type="sldNum" sz="quarter" idx="12"/>
          </p:nvPr>
        </p:nvSpPr>
        <p:spPr/>
        <p:txBody>
          <a:bodyPr/>
          <a:lstStyle/>
          <a:p>
            <a:fld id="{48FE5571-560F-4DFC-BA97-61ACA5F7ADE1}" type="slidenum">
              <a:rPr lang="en-US" smtClean="0"/>
              <a:pPr/>
              <a:t>33</a:t>
            </a:fld>
            <a:endParaRPr lang="en-US"/>
          </a:p>
        </p:txBody>
      </p:sp>
    </p:spTree>
    <p:extLst>
      <p:ext uri="{BB962C8B-B14F-4D97-AF65-F5344CB8AC3E}">
        <p14:creationId xmlns:p14="http://schemas.microsoft.com/office/powerpoint/2010/main" val="2418288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876800" cy="508000"/>
            <a:chOff x="789624" y="1191463"/>
            <a:chExt cx="4876800" cy="508000"/>
          </a:xfrm>
        </p:grpSpPr>
        <p:sp>
          <p:nvSpPr>
            <p:cNvPr id="3" name="AutoShape 52"/>
            <p:cNvSpPr>
              <a:spLocks noChangeArrowheads="1"/>
            </p:cNvSpPr>
            <p:nvPr/>
          </p:nvSpPr>
          <p:spPr bwMode="gray">
            <a:xfrm>
              <a:off x="990600" y="1191463"/>
              <a:ext cx="4675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nhập dữ liệu từ Scanner</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Nhập số Nguyên (int):</a:t>
            </a:r>
            <a:endParaRPr lang="en-US" kern="0" dirty="0">
              <a:solidFill>
                <a:srgbClr val="002060"/>
              </a:solidFill>
              <a:latin typeface="Cambria" panose="02040503050406030204" pitchFamily="18" charset="0"/>
            </a:endParaRPr>
          </a:p>
        </p:txBody>
      </p:sp>
      <p:sp>
        <p:nvSpPr>
          <p:cNvPr id="9" name="Rectangle 8"/>
          <p:cNvSpPr/>
          <p:nvPr/>
        </p:nvSpPr>
        <p:spPr>
          <a:xfrm>
            <a:off x="2286000" y="1905001"/>
            <a:ext cx="8077199" cy="830997"/>
          </a:xfrm>
          <a:prstGeom prst="rect">
            <a:avLst/>
          </a:prstGeom>
        </p:spPr>
        <p:txBody>
          <a:bodyPr wrap="square">
            <a:spAutoFit/>
          </a:bodyPr>
          <a:lstStyle/>
          <a:p>
            <a:r>
              <a:rPr lang="en-US" sz="2400">
                <a:solidFill>
                  <a:srgbClr val="000000"/>
                </a:solidFill>
                <a:latin typeface="Courier New" panose="02070309020205020404" pitchFamily="49" charset="0"/>
              </a:rPr>
              <a:t>System.</a:t>
            </a:r>
            <a:r>
              <a:rPr lang="en-US" sz="2400" i="1">
                <a:solidFill>
                  <a:srgbClr val="0000C0"/>
                </a:solidFill>
                <a:latin typeface="Courier New" panose="02070309020205020404" pitchFamily="49" charset="0"/>
              </a:rPr>
              <a:t>out</a:t>
            </a:r>
            <a:r>
              <a:rPr lang="en-US" sz="2400" i="1">
                <a:solidFill>
                  <a:srgbClr val="000000"/>
                </a:solidFill>
                <a:latin typeface="Courier New" panose="02070309020205020404" pitchFamily="49" charset="0"/>
              </a:rPr>
              <a:t>.println(</a:t>
            </a:r>
            <a:r>
              <a:rPr lang="en-US" sz="2400" i="1">
                <a:solidFill>
                  <a:srgbClr val="2A00FF"/>
                </a:solidFill>
                <a:latin typeface="Courier New" panose="02070309020205020404" pitchFamily="49" charset="0"/>
              </a:rPr>
              <a:t>"Nhập số nguyên:"</a:t>
            </a:r>
            <a:r>
              <a:rPr lang="en-US" sz="2400" i="1">
                <a:solidFill>
                  <a:srgbClr val="000000"/>
                </a:solidFill>
                <a:latin typeface="Courier New" panose="02070309020205020404" pitchFamily="49" charset="0"/>
              </a:rPr>
              <a:t>);</a:t>
            </a:r>
          </a:p>
          <a:p>
            <a:r>
              <a:rPr lang="en-US" sz="2400" b="1">
                <a:solidFill>
                  <a:srgbClr val="7F0055"/>
                </a:solidFill>
                <a:latin typeface="Courier New" panose="02070309020205020404" pitchFamily="49" charset="0"/>
              </a:rPr>
              <a:t>int</a:t>
            </a:r>
            <a:r>
              <a:rPr lang="en-US" sz="2400" b="1">
                <a:solidFill>
                  <a:srgbClr val="000000"/>
                </a:solidFill>
                <a:latin typeface="Courier New" panose="02070309020205020404" pitchFamily="49" charset="0"/>
              </a:rPr>
              <a:t> a=sc.nextInt();</a:t>
            </a:r>
            <a:endParaRPr lang="en-US" sz="2400"/>
          </a:p>
        </p:txBody>
      </p:sp>
      <p:sp>
        <p:nvSpPr>
          <p:cNvPr id="10" name="Slide Number Placeholder 9">
            <a:extLst>
              <a:ext uri="{FF2B5EF4-FFF2-40B4-BE49-F238E27FC236}">
                <a16:creationId xmlns:a16="http://schemas.microsoft.com/office/drawing/2014/main" id="{9110750A-CCB8-599B-D22E-AE8A2351DA25}"/>
              </a:ext>
            </a:extLst>
          </p:cNvPr>
          <p:cNvSpPr>
            <a:spLocks noGrp="1"/>
          </p:cNvSpPr>
          <p:nvPr>
            <p:ph type="sldNum" sz="quarter" idx="12"/>
          </p:nvPr>
        </p:nvSpPr>
        <p:spPr/>
        <p:txBody>
          <a:bodyPr/>
          <a:lstStyle/>
          <a:p>
            <a:fld id="{48FE5571-560F-4DFC-BA97-61ACA5F7ADE1}" type="slidenum">
              <a:rPr lang="en-US" smtClean="0"/>
              <a:pPr/>
              <a:t>34</a:t>
            </a:fld>
            <a:endParaRPr lang="en-US"/>
          </a:p>
        </p:txBody>
      </p:sp>
    </p:spTree>
    <p:extLst>
      <p:ext uri="{BB962C8B-B14F-4D97-AF65-F5344CB8AC3E}">
        <p14:creationId xmlns:p14="http://schemas.microsoft.com/office/powerpoint/2010/main" val="15699042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876800" cy="508000"/>
            <a:chOff x="789624" y="1191463"/>
            <a:chExt cx="4876800" cy="508000"/>
          </a:xfrm>
        </p:grpSpPr>
        <p:sp>
          <p:nvSpPr>
            <p:cNvPr id="3" name="AutoShape 52"/>
            <p:cNvSpPr>
              <a:spLocks noChangeArrowheads="1"/>
            </p:cNvSpPr>
            <p:nvPr/>
          </p:nvSpPr>
          <p:spPr bwMode="gray">
            <a:xfrm>
              <a:off x="990600" y="1191463"/>
              <a:ext cx="4675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nhập dữ liệu từ Scanner</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Nhập số thực (double, float):</a:t>
            </a:r>
            <a:endParaRPr lang="en-US" kern="0" dirty="0">
              <a:solidFill>
                <a:srgbClr val="002060"/>
              </a:solidFill>
              <a:latin typeface="Cambria" panose="02040503050406030204" pitchFamily="18" charset="0"/>
            </a:endParaRPr>
          </a:p>
        </p:txBody>
      </p:sp>
      <p:sp>
        <p:nvSpPr>
          <p:cNvPr id="10" name="Rectangle 9"/>
          <p:cNvSpPr/>
          <p:nvPr/>
        </p:nvSpPr>
        <p:spPr>
          <a:xfrm>
            <a:off x="2171131" y="1865743"/>
            <a:ext cx="8192068" cy="1569660"/>
          </a:xfrm>
          <a:prstGeom prst="rect">
            <a:avLst/>
          </a:prstGeom>
        </p:spPr>
        <p:txBody>
          <a:bodyPr wrap="square">
            <a:spAutoFit/>
          </a:bodyPr>
          <a:lstStyle/>
          <a:p>
            <a:r>
              <a:rPr lang="en-US" sz="2400">
                <a:solidFill>
                  <a:srgbClr val="000000"/>
                </a:solidFill>
                <a:latin typeface="Courier New" panose="02070309020205020404" pitchFamily="49" charset="0"/>
              </a:rPr>
              <a:t>System.</a:t>
            </a:r>
            <a:r>
              <a:rPr lang="en-US" sz="2400" i="1">
                <a:solidFill>
                  <a:srgbClr val="0000C0"/>
                </a:solidFill>
                <a:latin typeface="Courier New" panose="02070309020205020404" pitchFamily="49" charset="0"/>
              </a:rPr>
              <a:t>out</a:t>
            </a:r>
            <a:r>
              <a:rPr lang="en-US" sz="2400" i="1">
                <a:solidFill>
                  <a:srgbClr val="000000"/>
                </a:solidFill>
                <a:latin typeface="Courier New" panose="02070309020205020404" pitchFamily="49" charset="0"/>
              </a:rPr>
              <a:t>.println(</a:t>
            </a:r>
            <a:r>
              <a:rPr lang="en-US" sz="2400" i="1">
                <a:solidFill>
                  <a:srgbClr val="2A00FF"/>
                </a:solidFill>
                <a:latin typeface="Courier New" panose="02070309020205020404" pitchFamily="49" charset="0"/>
              </a:rPr>
              <a:t>"Nhập số double:"</a:t>
            </a:r>
            <a:r>
              <a:rPr lang="en-US" sz="2400" i="1">
                <a:solidFill>
                  <a:srgbClr val="000000"/>
                </a:solidFill>
                <a:latin typeface="Courier New" panose="02070309020205020404" pitchFamily="49" charset="0"/>
              </a:rPr>
              <a:t>);</a:t>
            </a:r>
          </a:p>
          <a:p>
            <a:r>
              <a:rPr lang="en-US" sz="2400" b="1">
                <a:solidFill>
                  <a:srgbClr val="7F0055"/>
                </a:solidFill>
                <a:latin typeface="Courier New" panose="02070309020205020404" pitchFamily="49" charset="0"/>
              </a:rPr>
              <a:t>double</a:t>
            </a:r>
            <a:r>
              <a:rPr lang="en-US" sz="2400" b="1">
                <a:solidFill>
                  <a:srgbClr val="000000"/>
                </a:solidFill>
                <a:latin typeface="Courier New" panose="02070309020205020404" pitchFamily="49" charset="0"/>
              </a:rPr>
              <a:t> d=sc.nextDouble();</a:t>
            </a:r>
          </a:p>
          <a:p>
            <a:r>
              <a:rPr lang="en-US" sz="2400">
                <a:solidFill>
                  <a:srgbClr val="000000"/>
                </a:solidFill>
                <a:latin typeface="Courier New" panose="02070309020205020404" pitchFamily="49" charset="0"/>
              </a:rPr>
              <a:t>System.</a:t>
            </a:r>
            <a:r>
              <a:rPr lang="en-US" sz="2400" i="1">
                <a:solidFill>
                  <a:srgbClr val="0000C0"/>
                </a:solidFill>
                <a:latin typeface="Courier New" panose="02070309020205020404" pitchFamily="49" charset="0"/>
              </a:rPr>
              <a:t>out</a:t>
            </a:r>
            <a:r>
              <a:rPr lang="en-US" sz="2400" i="1">
                <a:solidFill>
                  <a:srgbClr val="000000"/>
                </a:solidFill>
                <a:latin typeface="Courier New" panose="02070309020205020404" pitchFamily="49" charset="0"/>
              </a:rPr>
              <a:t>.println(</a:t>
            </a:r>
            <a:r>
              <a:rPr lang="en-US" sz="2400" i="1">
                <a:solidFill>
                  <a:srgbClr val="2A00FF"/>
                </a:solidFill>
                <a:latin typeface="Courier New" panose="02070309020205020404" pitchFamily="49" charset="0"/>
              </a:rPr>
              <a:t>"Nhập số float:"</a:t>
            </a:r>
            <a:r>
              <a:rPr lang="en-US" sz="2400" i="1">
                <a:solidFill>
                  <a:srgbClr val="000000"/>
                </a:solidFill>
                <a:latin typeface="Courier New" panose="02070309020205020404" pitchFamily="49" charset="0"/>
              </a:rPr>
              <a:t>);</a:t>
            </a:r>
          </a:p>
          <a:p>
            <a:r>
              <a:rPr lang="en-US" sz="2400" b="1">
                <a:solidFill>
                  <a:srgbClr val="7F0055"/>
                </a:solidFill>
                <a:latin typeface="Courier New" panose="02070309020205020404" pitchFamily="49" charset="0"/>
              </a:rPr>
              <a:t>float</a:t>
            </a:r>
            <a:r>
              <a:rPr lang="en-US" sz="2400" b="1">
                <a:solidFill>
                  <a:srgbClr val="000000"/>
                </a:solidFill>
                <a:latin typeface="Courier New" panose="02070309020205020404" pitchFamily="49" charset="0"/>
              </a:rPr>
              <a:t> f=sc.nextFloat();</a:t>
            </a:r>
            <a:endParaRPr lang="en-US" sz="2400"/>
          </a:p>
        </p:txBody>
      </p:sp>
      <p:sp>
        <p:nvSpPr>
          <p:cNvPr id="9" name="Slide Number Placeholder 8">
            <a:extLst>
              <a:ext uri="{FF2B5EF4-FFF2-40B4-BE49-F238E27FC236}">
                <a16:creationId xmlns:a16="http://schemas.microsoft.com/office/drawing/2014/main" id="{CC0822EB-3ECB-B382-4D49-7BF3B6056471}"/>
              </a:ext>
            </a:extLst>
          </p:cNvPr>
          <p:cNvSpPr>
            <a:spLocks noGrp="1"/>
          </p:cNvSpPr>
          <p:nvPr>
            <p:ph type="sldNum" sz="quarter" idx="12"/>
          </p:nvPr>
        </p:nvSpPr>
        <p:spPr/>
        <p:txBody>
          <a:bodyPr/>
          <a:lstStyle/>
          <a:p>
            <a:fld id="{48FE5571-560F-4DFC-BA97-61ACA5F7ADE1}" type="slidenum">
              <a:rPr lang="en-US" smtClean="0"/>
              <a:pPr/>
              <a:t>35</a:t>
            </a:fld>
            <a:endParaRPr lang="en-US"/>
          </a:p>
        </p:txBody>
      </p:sp>
    </p:spTree>
    <p:extLst>
      <p:ext uri="{BB962C8B-B14F-4D97-AF65-F5344CB8AC3E}">
        <p14:creationId xmlns:p14="http://schemas.microsoft.com/office/powerpoint/2010/main" val="29305609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876800" cy="508000"/>
            <a:chOff x="789624" y="1191463"/>
            <a:chExt cx="4876800" cy="508000"/>
          </a:xfrm>
        </p:grpSpPr>
        <p:sp>
          <p:nvSpPr>
            <p:cNvPr id="3" name="AutoShape 52"/>
            <p:cNvSpPr>
              <a:spLocks noChangeArrowheads="1"/>
            </p:cNvSpPr>
            <p:nvPr/>
          </p:nvSpPr>
          <p:spPr bwMode="gray">
            <a:xfrm>
              <a:off x="990600" y="1191463"/>
              <a:ext cx="4675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nhập dữ liệu từ Scanner</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Nhập Chuỗi:</a:t>
            </a:r>
            <a:endParaRPr lang="en-US" kern="0" dirty="0">
              <a:solidFill>
                <a:srgbClr val="002060"/>
              </a:solidFill>
              <a:latin typeface="Cambria" panose="02040503050406030204" pitchFamily="18" charset="0"/>
            </a:endParaRPr>
          </a:p>
        </p:txBody>
      </p:sp>
      <p:sp>
        <p:nvSpPr>
          <p:cNvPr id="11" name="Rectangle 10"/>
          <p:cNvSpPr/>
          <p:nvPr/>
        </p:nvSpPr>
        <p:spPr>
          <a:xfrm>
            <a:off x="2151623" y="1752601"/>
            <a:ext cx="7848600" cy="830997"/>
          </a:xfrm>
          <a:prstGeom prst="rect">
            <a:avLst/>
          </a:prstGeom>
        </p:spPr>
        <p:txBody>
          <a:bodyPr wrap="square">
            <a:spAutoFit/>
          </a:bodyPr>
          <a:lstStyle/>
          <a:p>
            <a:r>
              <a:rPr lang="en-US" sz="2400">
                <a:solidFill>
                  <a:srgbClr val="000000"/>
                </a:solidFill>
                <a:latin typeface="Courier New" panose="02070309020205020404" pitchFamily="49" charset="0"/>
              </a:rPr>
              <a:t>System.</a:t>
            </a:r>
            <a:r>
              <a:rPr lang="en-US" sz="2400" i="1">
                <a:solidFill>
                  <a:srgbClr val="0000C0"/>
                </a:solidFill>
                <a:latin typeface="Courier New" panose="02070309020205020404" pitchFamily="49" charset="0"/>
              </a:rPr>
              <a:t>out</a:t>
            </a:r>
            <a:r>
              <a:rPr lang="en-US" sz="2400" i="1">
                <a:solidFill>
                  <a:srgbClr val="000000"/>
                </a:solidFill>
                <a:latin typeface="Courier New" panose="02070309020205020404" pitchFamily="49" charset="0"/>
              </a:rPr>
              <a:t>.println(</a:t>
            </a:r>
            <a:r>
              <a:rPr lang="en-US" sz="2400" i="1">
                <a:solidFill>
                  <a:srgbClr val="2A00FF"/>
                </a:solidFill>
                <a:latin typeface="Courier New" panose="02070309020205020404" pitchFamily="49" charset="0"/>
              </a:rPr>
              <a:t>"Mời bạn nhập tên:"</a:t>
            </a:r>
            <a:r>
              <a:rPr lang="en-US" sz="2400" i="1">
                <a:solidFill>
                  <a:srgbClr val="000000"/>
                </a:solidFill>
                <a:latin typeface="Courier New" panose="02070309020205020404" pitchFamily="49" charset="0"/>
              </a:rPr>
              <a:t>);</a:t>
            </a:r>
          </a:p>
          <a:p>
            <a:r>
              <a:rPr lang="en-US" sz="2400">
                <a:solidFill>
                  <a:srgbClr val="000000"/>
                </a:solidFill>
                <a:latin typeface="Courier New" panose="02070309020205020404" pitchFamily="49" charset="0"/>
              </a:rPr>
              <a:t>String </a:t>
            </a:r>
            <a:r>
              <a:rPr lang="en-US" sz="2400" u="sng">
                <a:solidFill>
                  <a:srgbClr val="000000"/>
                </a:solidFill>
                <a:latin typeface="Courier New" panose="02070309020205020404" pitchFamily="49" charset="0"/>
              </a:rPr>
              <a:t>ten=sc.nextLine();</a:t>
            </a:r>
            <a:endParaRPr lang="en-US" sz="2400"/>
          </a:p>
        </p:txBody>
      </p:sp>
      <p:sp>
        <p:nvSpPr>
          <p:cNvPr id="9" name="Slide Number Placeholder 8">
            <a:extLst>
              <a:ext uri="{FF2B5EF4-FFF2-40B4-BE49-F238E27FC236}">
                <a16:creationId xmlns:a16="http://schemas.microsoft.com/office/drawing/2014/main" id="{69CEA9B8-6133-4641-9303-1CB1F3C2BA8A}"/>
              </a:ext>
            </a:extLst>
          </p:cNvPr>
          <p:cNvSpPr>
            <a:spLocks noGrp="1"/>
          </p:cNvSpPr>
          <p:nvPr>
            <p:ph type="sldNum" sz="quarter" idx="12"/>
          </p:nvPr>
        </p:nvSpPr>
        <p:spPr/>
        <p:txBody>
          <a:bodyPr/>
          <a:lstStyle/>
          <a:p>
            <a:fld id="{48FE5571-560F-4DFC-BA97-61ACA5F7ADE1}" type="slidenum">
              <a:rPr lang="en-US" smtClean="0"/>
              <a:pPr/>
              <a:t>36</a:t>
            </a:fld>
            <a:endParaRPr lang="en-US"/>
          </a:p>
        </p:txBody>
      </p:sp>
    </p:spTree>
    <p:extLst>
      <p:ext uri="{BB962C8B-B14F-4D97-AF65-F5344CB8AC3E}">
        <p14:creationId xmlns:p14="http://schemas.microsoft.com/office/powerpoint/2010/main" val="5548178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876800" cy="508000"/>
            <a:chOff x="789624" y="1191463"/>
            <a:chExt cx="4876800" cy="508000"/>
          </a:xfrm>
        </p:grpSpPr>
        <p:sp>
          <p:nvSpPr>
            <p:cNvPr id="3" name="AutoShape 52"/>
            <p:cNvSpPr>
              <a:spLocks noChangeArrowheads="1"/>
            </p:cNvSpPr>
            <p:nvPr/>
          </p:nvSpPr>
          <p:spPr bwMode="gray">
            <a:xfrm>
              <a:off x="990600" y="1191463"/>
              <a:ext cx="4675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nhập dữ liệu từ Scanner</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Nhập Chuỗi và số, hoặc chuỗi liên tục:</a:t>
            </a:r>
            <a:endParaRPr lang="en-US" kern="0" dirty="0">
              <a:solidFill>
                <a:srgbClr val="002060"/>
              </a:solidFill>
              <a:latin typeface="Cambria" panose="02040503050406030204" pitchFamily="18" charset="0"/>
            </a:endParaRPr>
          </a:p>
        </p:txBody>
      </p:sp>
      <p:sp>
        <p:nvSpPr>
          <p:cNvPr id="9" name="Rectangle 8"/>
          <p:cNvSpPr/>
          <p:nvPr/>
        </p:nvSpPr>
        <p:spPr>
          <a:xfrm>
            <a:off x="2117678" y="1676401"/>
            <a:ext cx="8093122" cy="830997"/>
          </a:xfrm>
          <a:prstGeom prst="rect">
            <a:avLst/>
          </a:prstGeom>
        </p:spPr>
        <p:txBody>
          <a:bodyPr wrap="square">
            <a:spAutoFit/>
          </a:bodyPr>
          <a:lstStyle/>
          <a:p>
            <a:r>
              <a:rPr lang="en-US" sz="2400">
                <a:solidFill>
                  <a:srgbClr val="000000"/>
                </a:solidFill>
                <a:latin typeface="Courier New" panose="02070309020205020404" pitchFamily="49" charset="0"/>
              </a:rPr>
              <a:t>String s=</a:t>
            </a:r>
            <a:r>
              <a:rPr lang="en-US" sz="2400" b="1">
                <a:solidFill>
                  <a:srgbClr val="7F0055"/>
                </a:solidFill>
                <a:latin typeface="Courier New" panose="02070309020205020404" pitchFamily="49" charset="0"/>
              </a:rPr>
              <a:t>new</a:t>
            </a:r>
            <a:r>
              <a:rPr lang="en-US" sz="2400" b="1">
                <a:solidFill>
                  <a:srgbClr val="000000"/>
                </a:solidFill>
                <a:latin typeface="Courier New" panose="02070309020205020404" pitchFamily="49" charset="0"/>
              </a:rPr>
              <a:t> Scanner(System.</a:t>
            </a:r>
            <a:r>
              <a:rPr lang="en-US" sz="2400" b="1" i="1">
                <a:solidFill>
                  <a:srgbClr val="0000C0"/>
                </a:solidFill>
                <a:latin typeface="Courier New" panose="02070309020205020404" pitchFamily="49" charset="0"/>
              </a:rPr>
              <a:t>in</a:t>
            </a:r>
            <a:r>
              <a:rPr lang="en-US" sz="2400" b="1" i="1">
                <a:solidFill>
                  <a:srgbClr val="000000"/>
                </a:solidFill>
                <a:latin typeface="Courier New" panose="02070309020205020404" pitchFamily="49" charset="0"/>
              </a:rPr>
              <a:t>).nextLine();</a:t>
            </a:r>
          </a:p>
          <a:p>
            <a:r>
              <a:rPr lang="en-US" sz="2400" b="1">
                <a:solidFill>
                  <a:srgbClr val="7F0055"/>
                </a:solidFill>
                <a:latin typeface="Courier New" panose="02070309020205020404" pitchFamily="49" charset="0"/>
              </a:rPr>
              <a:t>int</a:t>
            </a:r>
            <a:r>
              <a:rPr lang="en-US" sz="2400" b="1">
                <a:solidFill>
                  <a:srgbClr val="000000"/>
                </a:solidFill>
                <a:latin typeface="Courier New" panose="02070309020205020404" pitchFamily="49" charset="0"/>
              </a:rPr>
              <a:t> x=</a:t>
            </a:r>
            <a:r>
              <a:rPr lang="en-US" sz="2400" b="1">
                <a:solidFill>
                  <a:srgbClr val="7F0055"/>
                </a:solidFill>
                <a:latin typeface="Courier New" panose="02070309020205020404" pitchFamily="49" charset="0"/>
              </a:rPr>
              <a:t>new</a:t>
            </a:r>
            <a:r>
              <a:rPr lang="en-US" sz="2400" b="1">
                <a:solidFill>
                  <a:srgbClr val="000000"/>
                </a:solidFill>
                <a:latin typeface="Courier New" panose="02070309020205020404" pitchFamily="49" charset="0"/>
              </a:rPr>
              <a:t> Scanner(System.</a:t>
            </a:r>
            <a:r>
              <a:rPr lang="en-US" sz="2400" b="1" i="1">
                <a:solidFill>
                  <a:srgbClr val="0000C0"/>
                </a:solidFill>
                <a:latin typeface="Courier New" panose="02070309020205020404" pitchFamily="49" charset="0"/>
              </a:rPr>
              <a:t>in</a:t>
            </a:r>
            <a:r>
              <a:rPr lang="en-US" sz="2400" b="1" i="1">
                <a:solidFill>
                  <a:srgbClr val="000000"/>
                </a:solidFill>
                <a:latin typeface="Courier New" panose="02070309020205020404" pitchFamily="49" charset="0"/>
              </a:rPr>
              <a:t>).nextInt();</a:t>
            </a:r>
            <a:endParaRPr lang="en-US" sz="2400"/>
          </a:p>
        </p:txBody>
      </p:sp>
      <p:sp>
        <p:nvSpPr>
          <p:cNvPr id="10" name="Slide Number Placeholder 9">
            <a:extLst>
              <a:ext uri="{FF2B5EF4-FFF2-40B4-BE49-F238E27FC236}">
                <a16:creationId xmlns:a16="http://schemas.microsoft.com/office/drawing/2014/main" id="{A72C7C62-28CF-4597-9271-CAAEA5B113C7}"/>
              </a:ext>
            </a:extLst>
          </p:cNvPr>
          <p:cNvSpPr>
            <a:spLocks noGrp="1"/>
          </p:cNvSpPr>
          <p:nvPr>
            <p:ph type="sldNum" sz="quarter" idx="12"/>
          </p:nvPr>
        </p:nvSpPr>
        <p:spPr/>
        <p:txBody>
          <a:bodyPr/>
          <a:lstStyle/>
          <a:p>
            <a:fld id="{48FE5571-560F-4DFC-BA97-61ACA5F7ADE1}" type="slidenum">
              <a:rPr lang="en-US" smtClean="0"/>
              <a:pPr/>
              <a:t>37</a:t>
            </a:fld>
            <a:endParaRPr lang="en-US"/>
          </a:p>
        </p:txBody>
      </p:sp>
    </p:spTree>
    <p:extLst>
      <p:ext uri="{BB962C8B-B14F-4D97-AF65-F5344CB8AC3E}">
        <p14:creationId xmlns:p14="http://schemas.microsoft.com/office/powerpoint/2010/main" val="34070092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en-US" kern="0">
                <a:solidFill>
                  <a:srgbClr val="002060"/>
                </a:solidFill>
                <a:latin typeface="Cambria" panose="02040503050406030204" pitchFamily="18" charset="0"/>
              </a:rPr>
              <a:t>Cấu trúc if, if else,</a:t>
            </a:r>
          </a:p>
          <a:p>
            <a:pPr lvl="0">
              <a:defRPr/>
            </a:pPr>
            <a:r>
              <a:rPr lang="en-US" kern="0">
                <a:solidFill>
                  <a:srgbClr val="002060"/>
                </a:solidFill>
                <a:latin typeface="Cambria" panose="02040503050406030204" pitchFamily="18" charset="0"/>
              </a:rPr>
              <a:t> cấu trúc 3 ngôi</a:t>
            </a: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8CC1F110-1CBF-4C03-3EE4-65FFB0688D03}"/>
              </a:ext>
            </a:extLst>
          </p:cNvPr>
          <p:cNvSpPr>
            <a:spLocks noGrp="1"/>
          </p:cNvSpPr>
          <p:nvPr>
            <p:ph type="sldNum" sz="quarter" idx="12"/>
          </p:nvPr>
        </p:nvSpPr>
        <p:spPr/>
        <p:txBody>
          <a:bodyPr/>
          <a:lstStyle/>
          <a:p>
            <a:fld id="{48FE5571-560F-4DFC-BA97-61ACA5F7ADE1}" type="slidenum">
              <a:rPr lang="en-US" smtClean="0"/>
              <a:pPr/>
              <a:t>38</a:t>
            </a:fld>
            <a:endParaRPr lang="en-US"/>
          </a:p>
        </p:txBody>
      </p:sp>
    </p:spTree>
    <p:extLst>
      <p:ext uri="{BB962C8B-B14F-4D97-AF65-F5344CB8AC3E}">
        <p14:creationId xmlns:p14="http://schemas.microsoft.com/office/powerpoint/2010/main" val="14933511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C</a:t>
            </a:r>
            <a:r>
              <a:rPr lang="vi-VN" kern="0">
                <a:solidFill>
                  <a:srgbClr val="002060"/>
                </a:solidFill>
                <a:latin typeface="Cambria" panose="02040503050406030204" pitchFamily="18" charset="0"/>
              </a:rPr>
              <a:t>ấu trúc </a:t>
            </a:r>
            <a:r>
              <a:rPr lang="en-US" kern="0">
                <a:solidFill>
                  <a:srgbClr val="002060"/>
                </a:solidFill>
                <a:latin typeface="Cambria" panose="02040503050406030204" pitchFamily="18" charset="0"/>
              </a:rPr>
              <a:t>i</a:t>
            </a:r>
            <a:r>
              <a:rPr lang="vi-VN" kern="0">
                <a:solidFill>
                  <a:srgbClr val="002060"/>
                </a:solidFill>
                <a:latin typeface="Cambria" panose="02040503050406030204" pitchFamily="18" charset="0"/>
              </a:rPr>
              <a:t>f</a:t>
            </a:r>
          </a:p>
          <a:p>
            <a:pPr lvl="0" algn="just">
              <a:buClr>
                <a:srgbClr val="3DC5C5"/>
              </a:buClr>
              <a:defRPr/>
            </a:pPr>
            <a:r>
              <a:rPr lang="en-US" kern="0">
                <a:solidFill>
                  <a:srgbClr val="002060"/>
                </a:solidFill>
                <a:latin typeface="Cambria" panose="02040503050406030204" pitchFamily="18" charset="0"/>
              </a:rPr>
              <a:t>C</a:t>
            </a:r>
            <a:r>
              <a:rPr lang="vi-VN" kern="0">
                <a:solidFill>
                  <a:srgbClr val="002060"/>
                </a:solidFill>
                <a:latin typeface="Cambria" panose="02040503050406030204" pitchFamily="18" charset="0"/>
              </a:rPr>
              <a:t>ấu trúc </a:t>
            </a:r>
            <a:r>
              <a:rPr lang="en-US" kern="0">
                <a:solidFill>
                  <a:srgbClr val="002060"/>
                </a:solidFill>
                <a:latin typeface="Cambria" panose="02040503050406030204" pitchFamily="18" charset="0"/>
              </a:rPr>
              <a:t>i</a:t>
            </a:r>
            <a:r>
              <a:rPr lang="vi-VN" kern="0">
                <a:solidFill>
                  <a:srgbClr val="002060"/>
                </a:solidFill>
                <a:latin typeface="Cambria" panose="02040503050406030204" pitchFamily="18" charset="0"/>
              </a:rPr>
              <a:t>f else</a:t>
            </a:r>
          </a:p>
          <a:p>
            <a:pPr lvl="0" algn="just">
              <a:buClr>
                <a:srgbClr val="3DC5C5"/>
              </a:buClr>
              <a:defRPr/>
            </a:pPr>
            <a:r>
              <a:rPr lang="en-US" kern="0">
                <a:solidFill>
                  <a:srgbClr val="002060"/>
                </a:solidFill>
                <a:latin typeface="Cambria" panose="02040503050406030204" pitchFamily="18" charset="0"/>
              </a:rPr>
              <a:t>C</a:t>
            </a:r>
            <a:r>
              <a:rPr lang="vi-VN" kern="0">
                <a:solidFill>
                  <a:srgbClr val="002060"/>
                </a:solidFill>
                <a:latin typeface="Cambria" panose="02040503050406030204" pitchFamily="18" charset="0"/>
              </a:rPr>
              <a:t>ấu trúc </a:t>
            </a:r>
            <a:r>
              <a:rPr lang="en-US" kern="0">
                <a:solidFill>
                  <a:srgbClr val="002060"/>
                </a:solidFill>
                <a:latin typeface="Cambria" panose="02040503050406030204" pitchFamily="18" charset="0"/>
              </a:rPr>
              <a:t>3 ngôi</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EBE2C2F5-54EE-03C6-5FFB-49165F64A087}"/>
              </a:ext>
            </a:extLst>
          </p:cNvPr>
          <p:cNvSpPr>
            <a:spLocks noGrp="1"/>
          </p:cNvSpPr>
          <p:nvPr>
            <p:ph type="sldNum" sz="quarter" idx="12"/>
          </p:nvPr>
        </p:nvSpPr>
        <p:spPr/>
        <p:txBody>
          <a:bodyPr/>
          <a:lstStyle/>
          <a:p>
            <a:fld id="{48FE5571-560F-4DFC-BA97-61ACA5F7ADE1}" type="slidenum">
              <a:rPr lang="en-US" smtClean="0"/>
              <a:pPr/>
              <a:t>39</a:t>
            </a:fld>
            <a:endParaRPr lang="en-US"/>
          </a:p>
        </p:txBody>
      </p:sp>
    </p:spTree>
    <p:extLst>
      <p:ext uri="{BB962C8B-B14F-4D97-AF65-F5344CB8AC3E}">
        <p14:creationId xmlns:p14="http://schemas.microsoft.com/office/powerpoint/2010/main" val="1568725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1828800" y="558800"/>
            <a:ext cx="4620576" cy="508000"/>
            <a:chOff x="789624" y="1191463"/>
            <a:chExt cx="4620576" cy="508000"/>
          </a:xfrm>
        </p:grpSpPr>
        <p:sp>
          <p:nvSpPr>
            <p:cNvPr id="10"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Cấu trúc if</a:t>
              </a:r>
              <a:endParaRPr lang="en-US" sz="2400" b="1" kern="0">
                <a:solidFill>
                  <a:srgbClr val="000000"/>
                </a:solidFill>
                <a:latin typeface="Cambria" panose="02040503050406030204" pitchFamily="18" charset="0"/>
              </a:endParaRPr>
            </a:p>
          </p:txBody>
        </p:sp>
        <p:grpSp>
          <p:nvGrpSpPr>
            <p:cNvPr id="11" name="Group 17"/>
            <p:cNvGrpSpPr>
              <a:grpSpLocks/>
            </p:cNvGrpSpPr>
            <p:nvPr/>
          </p:nvGrpSpPr>
          <p:grpSpPr bwMode="auto">
            <a:xfrm>
              <a:off x="789624" y="1295400"/>
              <a:ext cx="353376" cy="272472"/>
              <a:chOff x="1110" y="2656"/>
              <a:chExt cx="1549" cy="1351"/>
            </a:xfrm>
          </p:grpSpPr>
          <p:sp>
            <p:nvSpPr>
              <p:cNvPr id="12"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3"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4"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5" name="TextBox 14"/>
          <p:cNvSpPr txBox="1"/>
          <p:nvPr/>
        </p:nvSpPr>
        <p:spPr>
          <a:xfrm>
            <a:off x="1872078" y="1321895"/>
            <a:ext cx="4800600" cy="2862322"/>
          </a:xfrm>
          <a:prstGeom prst="rect">
            <a:avLst/>
          </a:prstGeom>
          <a:noFill/>
        </p:spPr>
        <p:txBody>
          <a:bodyPr wrap="square" rtlCol="0">
            <a:spAutoFit/>
          </a:bodyPr>
          <a:lstStyle/>
          <a:p>
            <a:pPr lvl="1"/>
            <a:r>
              <a:rPr lang="en-US" sz="3600" b="1">
                <a:solidFill>
                  <a:srgbClr val="002060"/>
                </a:solidFill>
                <a:latin typeface="Cambria" panose="02040503050406030204" pitchFamily="18" charset="0"/>
              </a:rPr>
              <a:t>if</a:t>
            </a:r>
            <a:r>
              <a:rPr lang="en-US" sz="3600">
                <a:solidFill>
                  <a:srgbClr val="002060"/>
                </a:solidFill>
                <a:latin typeface="Cambria" panose="02040503050406030204" pitchFamily="18" charset="0"/>
              </a:rPr>
              <a:t>  (&lt;expression&gt; )</a:t>
            </a:r>
          </a:p>
          <a:p>
            <a:pPr lvl="1"/>
            <a:r>
              <a:rPr lang="en-US" sz="3600" b="1">
                <a:solidFill>
                  <a:srgbClr val="002060"/>
                </a:solidFill>
                <a:latin typeface="Cambria" panose="02040503050406030204" pitchFamily="18" charset="0"/>
              </a:rPr>
              <a:t>{</a:t>
            </a:r>
            <a:endParaRPr lang="en-US" sz="3600">
              <a:solidFill>
                <a:srgbClr val="002060"/>
              </a:solidFill>
              <a:latin typeface="Cambria" panose="02040503050406030204" pitchFamily="18" charset="0"/>
            </a:endParaRPr>
          </a:p>
          <a:p>
            <a:pPr lvl="1"/>
            <a:r>
              <a:rPr lang="en-US" sz="3600">
                <a:solidFill>
                  <a:srgbClr val="002060"/>
                </a:solidFill>
                <a:latin typeface="Cambria" panose="02040503050406030204" pitchFamily="18" charset="0"/>
              </a:rPr>
              <a:t>   &lt;statement&gt;;</a:t>
            </a:r>
          </a:p>
          <a:p>
            <a:pPr lvl="1"/>
            <a:r>
              <a:rPr lang="en-US" sz="3600" b="1">
                <a:solidFill>
                  <a:srgbClr val="002060"/>
                </a:solidFill>
                <a:latin typeface="Cambria" panose="02040503050406030204" pitchFamily="18" charset="0"/>
              </a:rPr>
              <a:t>}</a:t>
            </a:r>
          </a:p>
          <a:p>
            <a:endParaRPr lang="en-US" sz="3600">
              <a:solidFill>
                <a:srgbClr val="002060"/>
              </a:solidFill>
              <a:latin typeface="Cambria" panose="02040503050406030204" pitchFamily="18" charset="0"/>
            </a:endParaRPr>
          </a:p>
        </p:txBody>
      </p:sp>
      <p:pic>
        <p:nvPicPr>
          <p:cNvPr id="16" name="Picture 15"/>
          <p:cNvPicPr>
            <a:picLocks noChangeAspect="1" noChangeArrowheads="1"/>
          </p:cNvPicPr>
          <p:nvPr/>
        </p:nvPicPr>
        <p:blipFill>
          <a:blip r:embed="rId2"/>
          <a:stretch>
            <a:fillRect/>
          </a:stretch>
        </p:blipFill>
        <p:spPr bwMode="auto">
          <a:xfrm>
            <a:off x="6858000" y="824174"/>
            <a:ext cx="2720012" cy="3857767"/>
          </a:xfrm>
          <a:prstGeom prst="rect">
            <a:avLst/>
          </a:prstGeom>
          <a:noFill/>
          <a:ln>
            <a:noFill/>
          </a:ln>
        </p:spPr>
      </p:pic>
      <p:sp>
        <p:nvSpPr>
          <p:cNvPr id="2" name="Slide Number Placeholder 1">
            <a:extLst>
              <a:ext uri="{FF2B5EF4-FFF2-40B4-BE49-F238E27FC236}">
                <a16:creationId xmlns:a16="http://schemas.microsoft.com/office/drawing/2014/main" id="{BD2962C0-14E8-5A7B-DF65-0136A887753A}"/>
              </a:ext>
            </a:extLst>
          </p:cNvPr>
          <p:cNvSpPr>
            <a:spLocks noGrp="1"/>
          </p:cNvSpPr>
          <p:nvPr>
            <p:ph type="sldNum" sz="quarter" idx="12"/>
          </p:nvPr>
        </p:nvSpPr>
        <p:spPr/>
        <p:txBody>
          <a:bodyPr/>
          <a:lstStyle/>
          <a:p>
            <a:fld id="{48FE5571-560F-4DFC-BA97-61ACA5F7ADE1}" type="slidenum">
              <a:rPr lang="en-US" smtClean="0"/>
              <a:pPr/>
              <a:t>40</a:t>
            </a:fld>
            <a:endParaRPr lang="en-US"/>
          </a:p>
        </p:txBody>
      </p:sp>
    </p:spTree>
    <p:extLst>
      <p:ext uri="{BB962C8B-B14F-4D97-AF65-F5344CB8AC3E}">
        <p14:creationId xmlns:p14="http://schemas.microsoft.com/office/powerpoint/2010/main" val="10221475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1828800" y="558800"/>
            <a:ext cx="4620576" cy="508000"/>
            <a:chOff x="789624" y="1191463"/>
            <a:chExt cx="4620576" cy="508000"/>
          </a:xfrm>
        </p:grpSpPr>
        <p:sp>
          <p:nvSpPr>
            <p:cNvPr id="10"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Cấu trúc if-else</a:t>
              </a:r>
              <a:endParaRPr lang="en-US" sz="2400" b="1" kern="0">
                <a:solidFill>
                  <a:srgbClr val="000000"/>
                </a:solidFill>
                <a:latin typeface="Cambria" panose="02040503050406030204" pitchFamily="18" charset="0"/>
              </a:endParaRPr>
            </a:p>
          </p:txBody>
        </p:sp>
        <p:grpSp>
          <p:nvGrpSpPr>
            <p:cNvPr id="11" name="Group 17"/>
            <p:cNvGrpSpPr>
              <a:grpSpLocks/>
            </p:cNvGrpSpPr>
            <p:nvPr/>
          </p:nvGrpSpPr>
          <p:grpSpPr bwMode="auto">
            <a:xfrm>
              <a:off x="789624" y="1295400"/>
              <a:ext cx="353376" cy="272472"/>
              <a:chOff x="1110" y="2656"/>
              <a:chExt cx="1549" cy="1351"/>
            </a:xfrm>
          </p:grpSpPr>
          <p:sp>
            <p:nvSpPr>
              <p:cNvPr id="12"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3"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4"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5" name="Content Placeholder 2"/>
          <p:cNvSpPr txBox="1">
            <a:spLocks/>
          </p:cNvSpPr>
          <p:nvPr/>
        </p:nvSpPr>
        <p:spPr bwMode="auto">
          <a:xfrm>
            <a:off x="1981200" y="1076326"/>
            <a:ext cx="8686800" cy="5248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n-lt"/>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3DC5C5"/>
              </a:buClr>
              <a:defRPr/>
            </a:pPr>
            <a:r>
              <a:rPr lang="en-US" kern="0">
                <a:solidFill>
                  <a:srgbClr val="002060"/>
                </a:solidFill>
                <a:latin typeface="Cambria" panose="02040503050406030204" pitchFamily="18" charset="0"/>
              </a:rPr>
              <a:t>Ví dụ 1</a:t>
            </a:r>
          </a:p>
          <a:p>
            <a:pPr marL="0">
              <a:spcBef>
                <a:spcPts val="0"/>
              </a:spcBef>
              <a:spcAft>
                <a:spcPts val="0"/>
              </a:spcAft>
              <a:buClr>
                <a:srgbClr val="3DC5C5"/>
              </a:buClr>
              <a:buNone/>
              <a:defRPr/>
            </a:pPr>
            <a:r>
              <a:rPr lang="en-US" sz="2800" kern="0">
                <a:solidFill>
                  <a:srgbClr val="002060"/>
                </a:solidFill>
                <a:latin typeface="Cambria" panose="02040503050406030204" pitchFamily="18" charset="0"/>
                <a:ea typeface="Times New Roman"/>
              </a:rPr>
              <a:t>if (dtb &gt;=5)</a:t>
            </a:r>
          </a:p>
          <a:p>
            <a:pPr marL="0">
              <a:spcBef>
                <a:spcPts val="0"/>
              </a:spcBef>
              <a:spcAft>
                <a:spcPts val="0"/>
              </a:spcAft>
              <a:buClr>
                <a:srgbClr val="3DC5C5"/>
              </a:buClr>
              <a:buNone/>
              <a:defRPr/>
            </a:pPr>
            <a:r>
              <a:rPr lang="en-US" sz="2800" kern="0">
                <a:solidFill>
                  <a:srgbClr val="002060"/>
                </a:solidFill>
                <a:latin typeface="Cambria" panose="02040503050406030204" pitchFamily="18" charset="0"/>
                <a:ea typeface="Times New Roman"/>
              </a:rPr>
              <a:t>{</a:t>
            </a:r>
          </a:p>
          <a:p>
            <a:pPr marL="0">
              <a:spcBef>
                <a:spcPts val="0"/>
              </a:spcBef>
              <a:spcAft>
                <a:spcPts val="0"/>
              </a:spcAft>
              <a:buClr>
                <a:srgbClr val="3DC5C5"/>
              </a:buClr>
              <a:buNone/>
              <a:defRPr/>
            </a:pPr>
            <a:r>
              <a:rPr lang="en-US" sz="2800" kern="0">
                <a:solidFill>
                  <a:srgbClr val="002060"/>
                </a:solidFill>
                <a:latin typeface="Cambria" panose="02040503050406030204" pitchFamily="18" charset="0"/>
              </a:rPr>
              <a:t>    </a:t>
            </a:r>
            <a:r>
              <a:rPr lang="en-US" sz="2800">
                <a:solidFill>
                  <a:srgbClr val="002060"/>
                </a:solidFill>
              </a:rPr>
              <a:t>System.</a:t>
            </a:r>
            <a:r>
              <a:rPr lang="en-US" sz="2800" i="1">
                <a:solidFill>
                  <a:srgbClr val="002060"/>
                </a:solidFill>
              </a:rPr>
              <a:t>out.println </a:t>
            </a:r>
            <a:r>
              <a:rPr lang="en-US" sz="2800" kern="0">
                <a:solidFill>
                  <a:srgbClr val="002060"/>
                </a:solidFill>
                <a:latin typeface="Cambria" panose="02040503050406030204" pitchFamily="18" charset="0"/>
                <a:ea typeface="Times New Roman"/>
              </a:rPr>
              <a:t>(“Đậu");</a:t>
            </a:r>
          </a:p>
          <a:p>
            <a:pPr marL="0">
              <a:spcBef>
                <a:spcPts val="0"/>
              </a:spcBef>
              <a:spcAft>
                <a:spcPts val="0"/>
              </a:spcAft>
              <a:buClr>
                <a:srgbClr val="3DC5C5"/>
              </a:buClr>
              <a:buNone/>
              <a:defRPr/>
            </a:pPr>
            <a:r>
              <a:rPr lang="en-US" sz="2800" kern="0">
                <a:solidFill>
                  <a:srgbClr val="002060"/>
                </a:solidFill>
                <a:latin typeface="Cambria" panose="02040503050406030204" pitchFamily="18" charset="0"/>
                <a:ea typeface="Times New Roman"/>
              </a:rPr>
              <a:t>}</a:t>
            </a:r>
          </a:p>
        </p:txBody>
      </p:sp>
      <p:sp>
        <p:nvSpPr>
          <p:cNvPr id="2" name="Slide Number Placeholder 1">
            <a:extLst>
              <a:ext uri="{FF2B5EF4-FFF2-40B4-BE49-F238E27FC236}">
                <a16:creationId xmlns:a16="http://schemas.microsoft.com/office/drawing/2014/main" id="{BCE6E949-BE86-B9B6-C692-8493B6E12F54}"/>
              </a:ext>
            </a:extLst>
          </p:cNvPr>
          <p:cNvSpPr>
            <a:spLocks noGrp="1"/>
          </p:cNvSpPr>
          <p:nvPr>
            <p:ph type="sldNum" sz="quarter" idx="12"/>
          </p:nvPr>
        </p:nvSpPr>
        <p:spPr/>
        <p:txBody>
          <a:bodyPr/>
          <a:lstStyle/>
          <a:p>
            <a:fld id="{48FE5571-560F-4DFC-BA97-61ACA5F7ADE1}" type="slidenum">
              <a:rPr lang="en-US" smtClean="0"/>
              <a:pPr/>
              <a:t>41</a:t>
            </a:fld>
            <a:endParaRPr lang="en-US"/>
          </a:p>
        </p:txBody>
      </p:sp>
    </p:spTree>
    <p:extLst>
      <p:ext uri="{BB962C8B-B14F-4D97-AF65-F5344CB8AC3E}">
        <p14:creationId xmlns:p14="http://schemas.microsoft.com/office/powerpoint/2010/main" val="3216365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1828800" y="558800"/>
            <a:ext cx="4620576" cy="508000"/>
            <a:chOff x="789624" y="1191463"/>
            <a:chExt cx="4620576" cy="508000"/>
          </a:xfrm>
        </p:grpSpPr>
        <p:sp>
          <p:nvSpPr>
            <p:cNvPr id="10"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Cấu trúc if-else</a:t>
              </a:r>
              <a:endParaRPr lang="en-US" sz="2400" b="1" kern="0">
                <a:solidFill>
                  <a:srgbClr val="000000"/>
                </a:solidFill>
                <a:latin typeface="Cambria" panose="02040503050406030204" pitchFamily="18" charset="0"/>
              </a:endParaRPr>
            </a:p>
          </p:txBody>
        </p:sp>
        <p:grpSp>
          <p:nvGrpSpPr>
            <p:cNvPr id="11" name="Group 17"/>
            <p:cNvGrpSpPr>
              <a:grpSpLocks/>
            </p:cNvGrpSpPr>
            <p:nvPr/>
          </p:nvGrpSpPr>
          <p:grpSpPr bwMode="auto">
            <a:xfrm>
              <a:off x="789624" y="1295400"/>
              <a:ext cx="353376" cy="272472"/>
              <a:chOff x="1110" y="2656"/>
              <a:chExt cx="1549" cy="1351"/>
            </a:xfrm>
          </p:grpSpPr>
          <p:sp>
            <p:nvSpPr>
              <p:cNvPr id="12"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3"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4"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5" name="TextBox 14"/>
          <p:cNvSpPr txBox="1"/>
          <p:nvPr/>
        </p:nvSpPr>
        <p:spPr>
          <a:xfrm>
            <a:off x="1873216" y="1170738"/>
            <a:ext cx="4800600" cy="5078313"/>
          </a:xfrm>
          <a:prstGeom prst="rect">
            <a:avLst/>
          </a:prstGeom>
          <a:noFill/>
        </p:spPr>
        <p:txBody>
          <a:bodyPr wrap="square" rtlCol="0">
            <a:spAutoFit/>
          </a:bodyPr>
          <a:lstStyle/>
          <a:p>
            <a:pPr lvl="1"/>
            <a:r>
              <a:rPr lang="en-US" sz="3600" b="1">
                <a:solidFill>
                  <a:srgbClr val="002060"/>
                </a:solidFill>
                <a:latin typeface="Cambria" panose="02040503050406030204" pitchFamily="18" charset="0"/>
              </a:rPr>
              <a:t>if</a:t>
            </a:r>
            <a:r>
              <a:rPr lang="en-US" sz="3600">
                <a:solidFill>
                  <a:srgbClr val="002060"/>
                </a:solidFill>
                <a:latin typeface="Cambria" panose="02040503050406030204" pitchFamily="18" charset="0"/>
              </a:rPr>
              <a:t>  (&lt; expression &gt; )</a:t>
            </a:r>
          </a:p>
          <a:p>
            <a:pPr lvl="1"/>
            <a:r>
              <a:rPr lang="en-US" sz="3600" b="1">
                <a:solidFill>
                  <a:srgbClr val="002060"/>
                </a:solidFill>
                <a:latin typeface="Cambria" panose="02040503050406030204" pitchFamily="18" charset="0"/>
              </a:rPr>
              <a:t>{</a:t>
            </a:r>
            <a:endParaRPr lang="en-US" sz="3600">
              <a:solidFill>
                <a:srgbClr val="002060"/>
              </a:solidFill>
              <a:latin typeface="Cambria" panose="02040503050406030204" pitchFamily="18" charset="0"/>
            </a:endParaRPr>
          </a:p>
          <a:p>
            <a:pPr lvl="1"/>
            <a:r>
              <a:rPr lang="en-US" sz="3600">
                <a:solidFill>
                  <a:srgbClr val="002060"/>
                </a:solidFill>
                <a:latin typeface="Cambria" panose="02040503050406030204" pitchFamily="18" charset="0"/>
              </a:rPr>
              <a:t>   &lt; statement 1&gt;;</a:t>
            </a:r>
          </a:p>
          <a:p>
            <a:pPr lvl="1"/>
            <a:r>
              <a:rPr lang="en-US" sz="3600" b="1">
                <a:solidFill>
                  <a:srgbClr val="002060"/>
                </a:solidFill>
                <a:latin typeface="Cambria" panose="02040503050406030204" pitchFamily="18" charset="0"/>
              </a:rPr>
              <a:t>}</a:t>
            </a:r>
          </a:p>
          <a:p>
            <a:pPr lvl="1"/>
            <a:r>
              <a:rPr lang="en-US" sz="3600" b="1">
                <a:solidFill>
                  <a:srgbClr val="002060"/>
                </a:solidFill>
                <a:latin typeface="Cambria" panose="02040503050406030204" pitchFamily="18" charset="0"/>
              </a:rPr>
              <a:t>else</a:t>
            </a:r>
            <a:endParaRPr lang="en-US" sz="3600">
              <a:solidFill>
                <a:srgbClr val="002060"/>
              </a:solidFill>
              <a:latin typeface="Cambria" panose="02040503050406030204" pitchFamily="18" charset="0"/>
            </a:endParaRPr>
          </a:p>
          <a:p>
            <a:pPr lvl="1"/>
            <a:r>
              <a:rPr lang="en-US" sz="3600" b="1">
                <a:solidFill>
                  <a:srgbClr val="002060"/>
                </a:solidFill>
                <a:latin typeface="Cambria" panose="02040503050406030204" pitchFamily="18" charset="0"/>
              </a:rPr>
              <a:t>{</a:t>
            </a:r>
            <a:endParaRPr lang="en-US" sz="3600">
              <a:solidFill>
                <a:srgbClr val="002060"/>
              </a:solidFill>
              <a:latin typeface="Cambria" panose="02040503050406030204" pitchFamily="18" charset="0"/>
            </a:endParaRPr>
          </a:p>
          <a:p>
            <a:pPr lvl="1"/>
            <a:r>
              <a:rPr lang="en-US" sz="3600">
                <a:solidFill>
                  <a:srgbClr val="002060"/>
                </a:solidFill>
                <a:latin typeface="Cambria" panose="02040503050406030204" pitchFamily="18" charset="0"/>
              </a:rPr>
              <a:t>   &lt; statement 2&gt;;</a:t>
            </a:r>
          </a:p>
          <a:p>
            <a:pPr lvl="1"/>
            <a:r>
              <a:rPr lang="en-US" sz="3600" b="1">
                <a:solidFill>
                  <a:srgbClr val="002060"/>
                </a:solidFill>
                <a:latin typeface="Cambria" panose="02040503050406030204" pitchFamily="18" charset="0"/>
              </a:rPr>
              <a:t>}</a:t>
            </a:r>
          </a:p>
          <a:p>
            <a:endParaRPr lang="en-US" sz="3600">
              <a:solidFill>
                <a:srgbClr val="002060"/>
              </a:solidFill>
              <a:latin typeface="Cambria" panose="02040503050406030204" pitchFamily="18" charset="0"/>
            </a:endParaRPr>
          </a:p>
        </p:txBody>
      </p:sp>
      <p:pic>
        <p:nvPicPr>
          <p:cNvPr id="16" name="Picture 15"/>
          <p:cNvPicPr>
            <a:picLocks noChangeAspect="1" noChangeArrowheads="1"/>
          </p:cNvPicPr>
          <p:nvPr/>
        </p:nvPicPr>
        <p:blipFill>
          <a:blip r:embed="rId2"/>
          <a:srcRect/>
          <a:stretch>
            <a:fillRect/>
          </a:stretch>
        </p:blipFill>
        <p:spPr bwMode="auto">
          <a:xfrm>
            <a:off x="6673816" y="1447801"/>
            <a:ext cx="3503272" cy="3968087"/>
          </a:xfrm>
          <a:prstGeom prst="rect">
            <a:avLst/>
          </a:prstGeom>
          <a:noFill/>
          <a:ln w="9525">
            <a:noFill/>
            <a:miter lim="800000"/>
            <a:headEnd/>
            <a:tailEnd/>
          </a:ln>
          <a:effectLst/>
        </p:spPr>
      </p:pic>
      <p:sp>
        <p:nvSpPr>
          <p:cNvPr id="2" name="Slide Number Placeholder 1">
            <a:extLst>
              <a:ext uri="{FF2B5EF4-FFF2-40B4-BE49-F238E27FC236}">
                <a16:creationId xmlns:a16="http://schemas.microsoft.com/office/drawing/2014/main" id="{BA691455-6E52-E9AA-CD3F-A3C991BA4806}"/>
              </a:ext>
            </a:extLst>
          </p:cNvPr>
          <p:cNvSpPr>
            <a:spLocks noGrp="1"/>
          </p:cNvSpPr>
          <p:nvPr>
            <p:ph type="sldNum" sz="quarter" idx="12"/>
          </p:nvPr>
        </p:nvSpPr>
        <p:spPr/>
        <p:txBody>
          <a:bodyPr/>
          <a:lstStyle/>
          <a:p>
            <a:fld id="{48FE5571-560F-4DFC-BA97-61ACA5F7ADE1}" type="slidenum">
              <a:rPr lang="en-US" smtClean="0"/>
              <a:pPr/>
              <a:t>42</a:t>
            </a:fld>
            <a:endParaRPr lang="en-US"/>
          </a:p>
        </p:txBody>
      </p:sp>
    </p:spTree>
    <p:extLst>
      <p:ext uri="{BB962C8B-B14F-4D97-AF65-F5344CB8AC3E}">
        <p14:creationId xmlns:p14="http://schemas.microsoft.com/office/powerpoint/2010/main" val="13289310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1828800" y="558800"/>
            <a:ext cx="4620576" cy="508000"/>
            <a:chOff x="789624" y="1191463"/>
            <a:chExt cx="4620576" cy="508000"/>
          </a:xfrm>
        </p:grpSpPr>
        <p:sp>
          <p:nvSpPr>
            <p:cNvPr id="10"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Cấu trúc if-else</a:t>
              </a:r>
              <a:endParaRPr lang="en-US" sz="2400" b="1" kern="0">
                <a:solidFill>
                  <a:srgbClr val="000000"/>
                </a:solidFill>
                <a:latin typeface="Cambria" panose="02040503050406030204" pitchFamily="18" charset="0"/>
              </a:endParaRPr>
            </a:p>
          </p:txBody>
        </p:sp>
        <p:grpSp>
          <p:nvGrpSpPr>
            <p:cNvPr id="11" name="Group 17"/>
            <p:cNvGrpSpPr>
              <a:grpSpLocks/>
            </p:cNvGrpSpPr>
            <p:nvPr/>
          </p:nvGrpSpPr>
          <p:grpSpPr bwMode="auto">
            <a:xfrm>
              <a:off x="789624" y="1295400"/>
              <a:ext cx="353376" cy="272472"/>
              <a:chOff x="1110" y="2656"/>
              <a:chExt cx="1549" cy="1351"/>
            </a:xfrm>
          </p:grpSpPr>
          <p:sp>
            <p:nvSpPr>
              <p:cNvPr id="12"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3"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4"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5" name="Content Placeholder 2"/>
          <p:cNvSpPr txBox="1">
            <a:spLocks/>
          </p:cNvSpPr>
          <p:nvPr/>
        </p:nvSpPr>
        <p:spPr bwMode="auto">
          <a:xfrm>
            <a:off x="2286000" y="1143001"/>
            <a:ext cx="8686800" cy="5248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n-lt"/>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3DC5C5"/>
              </a:buClr>
              <a:defRPr/>
            </a:pPr>
            <a:r>
              <a:rPr lang="en-US" kern="0">
                <a:solidFill>
                  <a:srgbClr val="002060"/>
                </a:solidFill>
                <a:latin typeface="Cambria" panose="02040503050406030204" pitchFamily="18" charset="0"/>
              </a:rPr>
              <a:t>Ví dụ 2</a:t>
            </a:r>
          </a:p>
          <a:p>
            <a:pPr marL="0">
              <a:spcBef>
                <a:spcPts val="0"/>
              </a:spcBef>
              <a:spcAft>
                <a:spcPts val="0"/>
              </a:spcAft>
              <a:buClr>
                <a:srgbClr val="3DC5C5"/>
              </a:buClr>
              <a:buNone/>
              <a:defRPr/>
            </a:pPr>
            <a:r>
              <a:rPr lang="en-US" sz="2800" kern="0">
                <a:solidFill>
                  <a:srgbClr val="002060"/>
                </a:solidFill>
                <a:latin typeface="Cambria" panose="02040503050406030204" pitchFamily="18" charset="0"/>
                <a:ea typeface="Times New Roman"/>
              </a:rPr>
              <a:t>if (i % 2 == 0)</a:t>
            </a:r>
          </a:p>
          <a:p>
            <a:pPr marL="0">
              <a:spcBef>
                <a:spcPts val="0"/>
              </a:spcBef>
              <a:spcAft>
                <a:spcPts val="0"/>
              </a:spcAft>
              <a:buClr>
                <a:srgbClr val="3DC5C5"/>
              </a:buClr>
              <a:buNone/>
              <a:defRPr/>
            </a:pPr>
            <a:r>
              <a:rPr lang="en-US" sz="2800" kern="0">
                <a:solidFill>
                  <a:srgbClr val="002060"/>
                </a:solidFill>
                <a:latin typeface="Cambria" panose="02040503050406030204" pitchFamily="18" charset="0"/>
                <a:ea typeface="Times New Roman"/>
              </a:rPr>
              <a:t>{</a:t>
            </a:r>
          </a:p>
          <a:p>
            <a:pPr marL="0">
              <a:spcBef>
                <a:spcPts val="0"/>
              </a:spcBef>
              <a:spcAft>
                <a:spcPts val="0"/>
              </a:spcAft>
              <a:buClr>
                <a:srgbClr val="3DC5C5"/>
              </a:buClr>
              <a:buNone/>
              <a:defRPr/>
            </a:pPr>
            <a:r>
              <a:rPr lang="en-US" sz="2800" kern="0">
                <a:solidFill>
                  <a:srgbClr val="002060"/>
                </a:solidFill>
                <a:latin typeface="Cambria" panose="02040503050406030204" pitchFamily="18" charset="0"/>
              </a:rPr>
              <a:t>      </a:t>
            </a:r>
            <a:r>
              <a:rPr lang="en-US" sz="2800">
                <a:solidFill>
                  <a:srgbClr val="002060"/>
                </a:solidFill>
              </a:rPr>
              <a:t>System.</a:t>
            </a:r>
            <a:r>
              <a:rPr lang="en-US" sz="2800" i="1">
                <a:solidFill>
                  <a:srgbClr val="002060"/>
                </a:solidFill>
              </a:rPr>
              <a:t>out.println </a:t>
            </a:r>
            <a:r>
              <a:rPr lang="en-US" sz="2800" kern="0">
                <a:solidFill>
                  <a:srgbClr val="002060"/>
                </a:solidFill>
                <a:latin typeface="Cambria" panose="02040503050406030204" pitchFamily="18" charset="0"/>
                <a:ea typeface="Times New Roman"/>
              </a:rPr>
              <a:t>("i la so chan");</a:t>
            </a:r>
          </a:p>
          <a:p>
            <a:pPr marL="0">
              <a:spcBef>
                <a:spcPts val="0"/>
              </a:spcBef>
              <a:spcAft>
                <a:spcPts val="0"/>
              </a:spcAft>
              <a:buClr>
                <a:srgbClr val="3DC5C5"/>
              </a:buClr>
              <a:buNone/>
              <a:defRPr/>
            </a:pPr>
            <a:r>
              <a:rPr lang="en-US" sz="2800" kern="0">
                <a:solidFill>
                  <a:srgbClr val="002060"/>
                </a:solidFill>
                <a:latin typeface="Cambria" panose="02040503050406030204" pitchFamily="18" charset="0"/>
                <a:ea typeface="Times New Roman"/>
              </a:rPr>
              <a:t>}</a:t>
            </a:r>
          </a:p>
          <a:p>
            <a:pPr marL="0">
              <a:spcBef>
                <a:spcPts val="0"/>
              </a:spcBef>
              <a:spcAft>
                <a:spcPts val="0"/>
              </a:spcAft>
              <a:buClr>
                <a:srgbClr val="3DC5C5"/>
              </a:buClr>
              <a:buNone/>
              <a:defRPr/>
            </a:pPr>
            <a:r>
              <a:rPr lang="it-IT" sz="2800" kern="0">
                <a:solidFill>
                  <a:srgbClr val="002060"/>
                </a:solidFill>
                <a:latin typeface="Cambria" panose="02040503050406030204" pitchFamily="18" charset="0"/>
                <a:ea typeface="Times New Roman"/>
              </a:rPr>
              <a:t>else</a:t>
            </a:r>
            <a:endParaRPr lang="en-US" sz="2800" kern="0">
              <a:solidFill>
                <a:srgbClr val="002060"/>
              </a:solidFill>
              <a:latin typeface="Cambria" panose="02040503050406030204" pitchFamily="18" charset="0"/>
              <a:ea typeface="Times New Roman"/>
            </a:endParaRPr>
          </a:p>
          <a:p>
            <a:pPr marL="0">
              <a:spcBef>
                <a:spcPts val="0"/>
              </a:spcBef>
              <a:spcAft>
                <a:spcPts val="0"/>
              </a:spcAft>
              <a:buClr>
                <a:srgbClr val="3DC5C5"/>
              </a:buClr>
              <a:buNone/>
              <a:defRPr/>
            </a:pPr>
            <a:r>
              <a:rPr lang="en-US" sz="2800">
                <a:solidFill>
                  <a:srgbClr val="002060"/>
                </a:solidFill>
              </a:rPr>
              <a:t>{</a:t>
            </a:r>
          </a:p>
          <a:p>
            <a:pPr marL="0">
              <a:spcBef>
                <a:spcPts val="0"/>
              </a:spcBef>
              <a:spcAft>
                <a:spcPts val="0"/>
              </a:spcAft>
              <a:buClr>
                <a:srgbClr val="3DC5C5"/>
              </a:buClr>
              <a:buNone/>
              <a:defRPr/>
            </a:pPr>
            <a:r>
              <a:rPr lang="en-US" sz="2800">
                <a:solidFill>
                  <a:srgbClr val="002060"/>
                </a:solidFill>
              </a:rPr>
              <a:t>   System.</a:t>
            </a:r>
            <a:r>
              <a:rPr lang="en-US" sz="2800" i="1">
                <a:solidFill>
                  <a:srgbClr val="002060"/>
                </a:solidFill>
              </a:rPr>
              <a:t>out.println</a:t>
            </a:r>
            <a:r>
              <a:rPr lang="it-IT" sz="2800" kern="0">
                <a:solidFill>
                  <a:srgbClr val="002060"/>
                </a:solidFill>
                <a:latin typeface="Cambria" panose="02040503050406030204" pitchFamily="18" charset="0"/>
                <a:ea typeface="Times New Roman"/>
              </a:rPr>
              <a:t>("i la so le");</a:t>
            </a:r>
          </a:p>
          <a:p>
            <a:pPr marL="0">
              <a:spcBef>
                <a:spcPts val="0"/>
              </a:spcBef>
              <a:spcAft>
                <a:spcPts val="0"/>
              </a:spcAft>
              <a:buClr>
                <a:srgbClr val="3DC5C5"/>
              </a:buClr>
              <a:buNone/>
              <a:defRPr/>
            </a:pPr>
            <a:r>
              <a:rPr lang="it-IT" sz="2800" kern="0">
                <a:solidFill>
                  <a:srgbClr val="002060"/>
                </a:solidFill>
                <a:latin typeface="Cambria" panose="02040503050406030204" pitchFamily="18" charset="0"/>
                <a:ea typeface="Times New Roman"/>
              </a:rPr>
              <a:t>}</a:t>
            </a:r>
            <a:endParaRPr lang="en-US" sz="2800" kern="0">
              <a:solidFill>
                <a:srgbClr val="002060"/>
              </a:solidFill>
              <a:latin typeface="Cambria" panose="02040503050406030204" pitchFamily="18" charset="0"/>
              <a:ea typeface="Times New Roman"/>
            </a:endParaRPr>
          </a:p>
        </p:txBody>
      </p:sp>
      <p:sp>
        <p:nvSpPr>
          <p:cNvPr id="2" name="Slide Number Placeholder 1">
            <a:extLst>
              <a:ext uri="{FF2B5EF4-FFF2-40B4-BE49-F238E27FC236}">
                <a16:creationId xmlns:a16="http://schemas.microsoft.com/office/drawing/2014/main" id="{7D459393-52EA-D922-C511-BC4FD17A698A}"/>
              </a:ext>
            </a:extLst>
          </p:cNvPr>
          <p:cNvSpPr>
            <a:spLocks noGrp="1"/>
          </p:cNvSpPr>
          <p:nvPr>
            <p:ph type="sldNum" sz="quarter" idx="12"/>
          </p:nvPr>
        </p:nvSpPr>
        <p:spPr/>
        <p:txBody>
          <a:bodyPr/>
          <a:lstStyle/>
          <a:p>
            <a:fld id="{48FE5571-560F-4DFC-BA97-61ACA5F7ADE1}" type="slidenum">
              <a:rPr lang="en-US" smtClean="0"/>
              <a:pPr/>
              <a:t>43</a:t>
            </a:fld>
            <a:endParaRPr lang="en-US"/>
          </a:p>
        </p:txBody>
      </p:sp>
    </p:spTree>
    <p:extLst>
      <p:ext uri="{BB962C8B-B14F-4D97-AF65-F5344CB8AC3E}">
        <p14:creationId xmlns:p14="http://schemas.microsoft.com/office/powerpoint/2010/main" val="17948887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1828800" y="558800"/>
            <a:ext cx="4620576" cy="508000"/>
            <a:chOff x="789624" y="1191463"/>
            <a:chExt cx="4620576" cy="508000"/>
          </a:xfrm>
        </p:grpSpPr>
        <p:sp>
          <p:nvSpPr>
            <p:cNvPr id="10"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Cấu trúc if-else</a:t>
              </a:r>
              <a:endParaRPr lang="en-US" sz="2400" b="1" kern="0">
                <a:solidFill>
                  <a:srgbClr val="000000"/>
                </a:solidFill>
                <a:latin typeface="Cambria" panose="02040503050406030204" pitchFamily="18" charset="0"/>
              </a:endParaRPr>
            </a:p>
          </p:txBody>
        </p:sp>
        <p:grpSp>
          <p:nvGrpSpPr>
            <p:cNvPr id="11" name="Group 17"/>
            <p:cNvGrpSpPr>
              <a:grpSpLocks/>
            </p:cNvGrpSpPr>
            <p:nvPr/>
          </p:nvGrpSpPr>
          <p:grpSpPr bwMode="auto">
            <a:xfrm>
              <a:off x="789624" y="1295400"/>
              <a:ext cx="353376" cy="272472"/>
              <a:chOff x="1110" y="2656"/>
              <a:chExt cx="1549" cy="1351"/>
            </a:xfrm>
          </p:grpSpPr>
          <p:sp>
            <p:nvSpPr>
              <p:cNvPr id="12"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3"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4"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5" name="Content Placeholder 2"/>
          <p:cNvSpPr txBox="1">
            <a:spLocks/>
          </p:cNvSpPr>
          <p:nvPr/>
        </p:nvSpPr>
        <p:spPr bwMode="auto">
          <a:xfrm>
            <a:off x="2007232" y="1066801"/>
            <a:ext cx="8686800" cy="5248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n-lt"/>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3DC5C5"/>
              </a:buClr>
              <a:defRPr/>
            </a:pPr>
            <a:r>
              <a:rPr lang="en-US" kern="0">
                <a:solidFill>
                  <a:srgbClr val="002060"/>
                </a:solidFill>
                <a:latin typeface="Cambria" panose="02040503050406030204" pitchFamily="18" charset="0"/>
              </a:rPr>
              <a:t>Ví dụ 3</a:t>
            </a:r>
          </a:p>
          <a:p>
            <a:pPr marL="0">
              <a:spcBef>
                <a:spcPts val="0"/>
              </a:spcBef>
              <a:spcAft>
                <a:spcPts val="0"/>
              </a:spcAft>
              <a:buClr>
                <a:srgbClr val="3DC5C5"/>
              </a:buClr>
              <a:buNone/>
              <a:defRPr/>
            </a:pPr>
            <a:r>
              <a:rPr lang="en-US" sz="2800" kern="0">
                <a:solidFill>
                  <a:srgbClr val="002060"/>
                </a:solidFill>
                <a:latin typeface="Cambria" panose="02040503050406030204" pitchFamily="18" charset="0"/>
                <a:ea typeface="Times New Roman"/>
              </a:rPr>
              <a:t>if ((y % 4 == 0 &amp;&amp;y%100!=0) || y%400==0)</a:t>
            </a:r>
          </a:p>
          <a:p>
            <a:pPr marL="0">
              <a:spcBef>
                <a:spcPts val="0"/>
              </a:spcBef>
              <a:spcAft>
                <a:spcPts val="0"/>
              </a:spcAft>
              <a:buClr>
                <a:srgbClr val="3DC5C5"/>
              </a:buClr>
              <a:buNone/>
              <a:defRPr/>
            </a:pPr>
            <a:r>
              <a:rPr lang="en-US" sz="2800" kern="0">
                <a:solidFill>
                  <a:srgbClr val="002060"/>
                </a:solidFill>
                <a:latin typeface="Cambria" panose="02040503050406030204" pitchFamily="18" charset="0"/>
                <a:ea typeface="Times New Roman"/>
              </a:rPr>
              <a:t>{</a:t>
            </a:r>
          </a:p>
          <a:p>
            <a:pPr marL="0">
              <a:spcBef>
                <a:spcPts val="0"/>
              </a:spcBef>
              <a:spcAft>
                <a:spcPts val="0"/>
              </a:spcAft>
              <a:buClr>
                <a:srgbClr val="3DC5C5"/>
              </a:buClr>
              <a:buNone/>
              <a:defRPr/>
            </a:pPr>
            <a:r>
              <a:rPr lang="en-US" sz="2800" kern="0">
                <a:solidFill>
                  <a:srgbClr val="002060"/>
                </a:solidFill>
                <a:latin typeface="Cambria" panose="02040503050406030204" pitchFamily="18" charset="0"/>
                <a:ea typeface="Times New Roman"/>
              </a:rPr>
              <a:t>	</a:t>
            </a:r>
            <a:r>
              <a:rPr lang="en-US" sz="2800">
                <a:solidFill>
                  <a:srgbClr val="002060"/>
                </a:solidFill>
              </a:rPr>
              <a:t>System.</a:t>
            </a:r>
            <a:r>
              <a:rPr lang="en-US" sz="2800" i="1">
                <a:solidFill>
                  <a:srgbClr val="002060"/>
                </a:solidFill>
              </a:rPr>
              <a:t>out.println </a:t>
            </a:r>
            <a:r>
              <a:rPr lang="en-US" sz="2800" kern="0">
                <a:solidFill>
                  <a:srgbClr val="002060"/>
                </a:solidFill>
                <a:latin typeface="Cambria" panose="02040503050406030204" pitchFamily="18" charset="0"/>
                <a:ea typeface="Times New Roman"/>
              </a:rPr>
              <a:t>("y la năm nhuận");</a:t>
            </a:r>
          </a:p>
          <a:p>
            <a:pPr marL="0">
              <a:spcBef>
                <a:spcPts val="0"/>
              </a:spcBef>
              <a:spcAft>
                <a:spcPts val="0"/>
              </a:spcAft>
              <a:buClr>
                <a:srgbClr val="3DC5C5"/>
              </a:buClr>
              <a:buNone/>
              <a:defRPr/>
            </a:pPr>
            <a:r>
              <a:rPr lang="en-US" sz="2800" kern="0">
                <a:solidFill>
                  <a:srgbClr val="002060"/>
                </a:solidFill>
                <a:latin typeface="Cambria" panose="02040503050406030204" pitchFamily="18" charset="0"/>
                <a:ea typeface="Times New Roman"/>
              </a:rPr>
              <a:t>}</a:t>
            </a:r>
          </a:p>
          <a:p>
            <a:pPr marL="0">
              <a:spcBef>
                <a:spcPts val="0"/>
              </a:spcBef>
              <a:spcAft>
                <a:spcPts val="0"/>
              </a:spcAft>
              <a:buClr>
                <a:srgbClr val="3DC5C5"/>
              </a:buClr>
              <a:buNone/>
              <a:defRPr/>
            </a:pPr>
            <a:r>
              <a:rPr lang="it-IT" sz="2800" kern="0">
                <a:solidFill>
                  <a:srgbClr val="002060"/>
                </a:solidFill>
                <a:latin typeface="Cambria" panose="02040503050406030204" pitchFamily="18" charset="0"/>
                <a:ea typeface="Times New Roman"/>
              </a:rPr>
              <a:t>else</a:t>
            </a:r>
            <a:endParaRPr lang="en-US" sz="2800" kern="0">
              <a:solidFill>
                <a:srgbClr val="002060"/>
              </a:solidFill>
              <a:latin typeface="Cambria" panose="02040503050406030204" pitchFamily="18" charset="0"/>
              <a:ea typeface="Times New Roman"/>
            </a:endParaRPr>
          </a:p>
          <a:p>
            <a:pPr marL="0">
              <a:spcBef>
                <a:spcPts val="0"/>
              </a:spcBef>
              <a:spcAft>
                <a:spcPts val="0"/>
              </a:spcAft>
              <a:buClr>
                <a:srgbClr val="3DC5C5"/>
              </a:buClr>
              <a:buNone/>
              <a:defRPr/>
            </a:pPr>
            <a:r>
              <a:rPr lang="en-US" sz="2800">
                <a:solidFill>
                  <a:srgbClr val="002060"/>
                </a:solidFill>
              </a:rPr>
              <a:t>{</a:t>
            </a:r>
          </a:p>
          <a:p>
            <a:pPr marL="0">
              <a:spcBef>
                <a:spcPts val="0"/>
              </a:spcBef>
              <a:spcAft>
                <a:spcPts val="0"/>
              </a:spcAft>
              <a:buClr>
                <a:srgbClr val="3DC5C5"/>
              </a:buClr>
              <a:buNone/>
              <a:defRPr/>
            </a:pPr>
            <a:r>
              <a:rPr lang="en-US" sz="2800">
                <a:solidFill>
                  <a:srgbClr val="002060"/>
                </a:solidFill>
              </a:rPr>
              <a:t>   System.</a:t>
            </a:r>
            <a:r>
              <a:rPr lang="en-US" sz="2800" i="1">
                <a:solidFill>
                  <a:srgbClr val="002060"/>
                </a:solidFill>
              </a:rPr>
              <a:t>out.println</a:t>
            </a:r>
            <a:r>
              <a:rPr lang="it-IT" sz="2800" kern="0">
                <a:solidFill>
                  <a:srgbClr val="002060"/>
                </a:solidFill>
                <a:latin typeface="Cambria" panose="02040503050406030204" pitchFamily="18" charset="0"/>
                <a:ea typeface="Times New Roman"/>
              </a:rPr>
              <a:t>("y không là năm nhuận");</a:t>
            </a:r>
          </a:p>
          <a:p>
            <a:pPr marL="0">
              <a:spcBef>
                <a:spcPts val="0"/>
              </a:spcBef>
              <a:spcAft>
                <a:spcPts val="0"/>
              </a:spcAft>
              <a:buClr>
                <a:srgbClr val="3DC5C5"/>
              </a:buClr>
              <a:buNone/>
              <a:defRPr/>
            </a:pPr>
            <a:r>
              <a:rPr lang="it-IT" sz="2800" kern="0">
                <a:solidFill>
                  <a:srgbClr val="002060"/>
                </a:solidFill>
                <a:latin typeface="Cambria" panose="02040503050406030204" pitchFamily="18" charset="0"/>
                <a:ea typeface="Times New Roman"/>
              </a:rPr>
              <a:t>}</a:t>
            </a:r>
            <a:endParaRPr lang="en-US" sz="2800" kern="0">
              <a:solidFill>
                <a:srgbClr val="002060"/>
              </a:solidFill>
              <a:latin typeface="Cambria" panose="02040503050406030204" pitchFamily="18" charset="0"/>
              <a:ea typeface="Times New Roman"/>
            </a:endParaRPr>
          </a:p>
          <a:p>
            <a:pPr marL="0" indent="0">
              <a:buClr>
                <a:srgbClr val="3DC5C5"/>
              </a:buClr>
              <a:buNone/>
              <a:defRPr/>
            </a:pPr>
            <a:endParaRPr lang="en-US" kern="0">
              <a:solidFill>
                <a:srgbClr val="002060"/>
              </a:solidFill>
              <a:latin typeface="Cambria" panose="02040503050406030204" pitchFamily="18" charset="0"/>
            </a:endParaRPr>
          </a:p>
        </p:txBody>
      </p:sp>
      <p:sp>
        <p:nvSpPr>
          <p:cNvPr id="2" name="Slide Number Placeholder 1">
            <a:extLst>
              <a:ext uri="{FF2B5EF4-FFF2-40B4-BE49-F238E27FC236}">
                <a16:creationId xmlns:a16="http://schemas.microsoft.com/office/drawing/2014/main" id="{416190C4-F0C2-65BA-3D35-37F6A3336110}"/>
              </a:ext>
            </a:extLst>
          </p:cNvPr>
          <p:cNvSpPr>
            <a:spLocks noGrp="1"/>
          </p:cNvSpPr>
          <p:nvPr>
            <p:ph type="sldNum" sz="quarter" idx="12"/>
          </p:nvPr>
        </p:nvSpPr>
        <p:spPr/>
        <p:txBody>
          <a:bodyPr/>
          <a:lstStyle/>
          <a:p>
            <a:fld id="{48FE5571-560F-4DFC-BA97-61ACA5F7ADE1}" type="slidenum">
              <a:rPr lang="en-US" smtClean="0"/>
              <a:pPr/>
              <a:t>44</a:t>
            </a:fld>
            <a:endParaRPr lang="en-US"/>
          </a:p>
        </p:txBody>
      </p:sp>
    </p:spTree>
    <p:extLst>
      <p:ext uri="{BB962C8B-B14F-4D97-AF65-F5344CB8AC3E}">
        <p14:creationId xmlns:p14="http://schemas.microsoft.com/office/powerpoint/2010/main" val="34898419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1828800" y="558800"/>
            <a:ext cx="4620576" cy="508000"/>
            <a:chOff x="789624" y="1191463"/>
            <a:chExt cx="4620576" cy="508000"/>
          </a:xfrm>
        </p:grpSpPr>
        <p:sp>
          <p:nvSpPr>
            <p:cNvPr id="10"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Cấu trúc 3 ngôi</a:t>
              </a:r>
              <a:endParaRPr lang="en-US" sz="2400" b="1" kern="0">
                <a:solidFill>
                  <a:srgbClr val="000000"/>
                </a:solidFill>
                <a:latin typeface="Cambria" panose="02040503050406030204" pitchFamily="18" charset="0"/>
              </a:endParaRPr>
            </a:p>
          </p:txBody>
        </p:sp>
        <p:grpSp>
          <p:nvGrpSpPr>
            <p:cNvPr id="11" name="Group 17"/>
            <p:cNvGrpSpPr>
              <a:grpSpLocks/>
            </p:cNvGrpSpPr>
            <p:nvPr/>
          </p:nvGrpSpPr>
          <p:grpSpPr bwMode="auto">
            <a:xfrm>
              <a:off x="789624" y="1295400"/>
              <a:ext cx="353376" cy="272472"/>
              <a:chOff x="1110" y="2656"/>
              <a:chExt cx="1549" cy="1351"/>
            </a:xfrm>
          </p:grpSpPr>
          <p:sp>
            <p:nvSpPr>
              <p:cNvPr id="12"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3"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4"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6" name="Content Placeholder 2"/>
          <p:cNvSpPr txBox="1">
            <a:spLocks/>
          </p:cNvSpPr>
          <p:nvPr/>
        </p:nvSpPr>
        <p:spPr bwMode="auto">
          <a:xfrm>
            <a:off x="1981200" y="1152526"/>
            <a:ext cx="8229600" cy="5248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n-lt"/>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3DC5C5"/>
              </a:buClr>
              <a:defRPr/>
            </a:pPr>
            <a:r>
              <a:rPr lang="en-US" sz="2800" kern="0">
                <a:solidFill>
                  <a:srgbClr val="002060"/>
                </a:solidFill>
                <a:latin typeface="Cambria" panose="02040503050406030204" pitchFamily="18" charset="0"/>
              </a:rPr>
              <a:t>Có dạng:</a:t>
            </a:r>
          </a:p>
          <a:p>
            <a:pPr marL="0" indent="0">
              <a:buClr>
                <a:srgbClr val="3DC5C5"/>
              </a:buClr>
              <a:buNone/>
              <a:defRPr/>
            </a:pPr>
            <a:r>
              <a:rPr lang="en-US" sz="2800" kern="0">
                <a:solidFill>
                  <a:srgbClr val="002060"/>
                </a:solidFill>
                <a:latin typeface="Cambria" panose="02040503050406030204" pitchFamily="18" charset="0"/>
              </a:rPr>
              <a:t>  &lt;Điều kiện&gt; </a:t>
            </a:r>
            <a:r>
              <a:rPr lang="en-US" sz="2800" b="1" kern="0">
                <a:solidFill>
                  <a:srgbClr val="FF0000"/>
                </a:solidFill>
                <a:latin typeface="Cambria" panose="02040503050406030204" pitchFamily="18" charset="0"/>
              </a:rPr>
              <a:t>? </a:t>
            </a:r>
            <a:r>
              <a:rPr lang="en-US" sz="2800" kern="0">
                <a:solidFill>
                  <a:srgbClr val="002060"/>
                </a:solidFill>
                <a:latin typeface="Cambria" panose="02040503050406030204" pitchFamily="18" charset="0"/>
              </a:rPr>
              <a:t>&lt;Biểu thức 1&gt; </a:t>
            </a:r>
            <a:r>
              <a:rPr lang="en-US" sz="2800" b="1" kern="0">
                <a:solidFill>
                  <a:srgbClr val="FF0000"/>
                </a:solidFill>
                <a:latin typeface="Cambria" panose="02040503050406030204" pitchFamily="18" charset="0"/>
              </a:rPr>
              <a:t>: </a:t>
            </a:r>
            <a:r>
              <a:rPr lang="en-US" sz="2800" kern="0">
                <a:solidFill>
                  <a:srgbClr val="002060"/>
                </a:solidFill>
                <a:latin typeface="Cambria" panose="02040503050406030204" pitchFamily="18" charset="0"/>
              </a:rPr>
              <a:t>&lt;Biểu thức 2&gt;</a:t>
            </a:r>
          </a:p>
          <a:p>
            <a:pPr marL="0" indent="0">
              <a:buClr>
                <a:srgbClr val="3DC5C5"/>
              </a:buClr>
              <a:buNone/>
              <a:defRPr/>
            </a:pPr>
            <a:r>
              <a:rPr lang="en-US" sz="2800" kern="0">
                <a:solidFill>
                  <a:srgbClr val="002060"/>
                </a:solidFill>
                <a:latin typeface="Cambria" panose="02040503050406030204" pitchFamily="18" charset="0"/>
              </a:rPr>
              <a:t>Nếu &lt;Điều kiện&gt; đúng thì &lt;Biểu thức 1&gt; thực hiện, ngược lại &lt;Biểu thức 2&gt; thực hiện</a:t>
            </a:r>
          </a:p>
          <a:p>
            <a:pPr>
              <a:buClr>
                <a:srgbClr val="3DC5C5"/>
              </a:buClr>
              <a:defRPr/>
            </a:pPr>
            <a:r>
              <a:rPr lang="en-US" sz="2800" kern="0">
                <a:solidFill>
                  <a:srgbClr val="002060"/>
                </a:solidFill>
                <a:latin typeface="Cambria" panose="02040503050406030204" pitchFamily="18" charset="0"/>
              </a:rPr>
              <a:t>Là dạng rút gọn của if…else</a:t>
            </a:r>
          </a:p>
          <a:p>
            <a:pPr>
              <a:buClr>
                <a:srgbClr val="3DC5C5"/>
              </a:buClr>
              <a:defRPr/>
            </a:pPr>
            <a:r>
              <a:rPr lang="en-US" sz="2800" kern="0">
                <a:solidFill>
                  <a:srgbClr val="002060"/>
                </a:solidFill>
                <a:latin typeface="Cambria" panose="02040503050406030204" pitchFamily="18" charset="0"/>
              </a:rPr>
              <a:t>Ví dụ</a:t>
            </a:r>
          </a:p>
          <a:p>
            <a:pPr lvl="1">
              <a:buClr>
                <a:srgbClr val="2045AE"/>
              </a:buClr>
              <a:defRPr/>
            </a:pPr>
            <a:r>
              <a:rPr lang="en-US" sz="2400" kern="0">
                <a:solidFill>
                  <a:srgbClr val="002060"/>
                </a:solidFill>
                <a:latin typeface="Cambria" panose="02040503050406030204" pitchFamily="18" charset="0"/>
              </a:rPr>
              <a:t>string a = (i % 2 == 0) ? “so chan” : “so le”</a:t>
            </a:r>
          </a:p>
          <a:p>
            <a:pPr lvl="1">
              <a:buClr>
                <a:srgbClr val="2045AE"/>
              </a:buClr>
              <a:defRPr/>
            </a:pPr>
            <a:r>
              <a:rPr lang="en-US" sz="2400" kern="0">
                <a:solidFill>
                  <a:srgbClr val="002060"/>
                </a:solidFill>
                <a:latin typeface="Cambria" panose="02040503050406030204" pitchFamily="18" charset="0"/>
              </a:rPr>
              <a:t>if(i%2==0) </a:t>
            </a:r>
          </a:p>
          <a:p>
            <a:pPr lvl="2" indent="-285750">
              <a:buClr>
                <a:srgbClr val="2045AE"/>
              </a:buClr>
              <a:buFont typeface="Wingdings" pitchFamily="2" charset="2"/>
              <a:buChar char="§"/>
              <a:defRPr/>
            </a:pPr>
            <a:r>
              <a:rPr lang="en-US" sz="2000" kern="0">
                <a:solidFill>
                  <a:srgbClr val="002060"/>
                </a:solidFill>
                <a:latin typeface="Cambria" panose="02040503050406030204" pitchFamily="18" charset="0"/>
              </a:rPr>
              <a:t>a=“so chan”;</a:t>
            </a:r>
          </a:p>
          <a:p>
            <a:pPr lvl="1">
              <a:buClr>
                <a:srgbClr val="2045AE"/>
              </a:buClr>
              <a:defRPr/>
            </a:pPr>
            <a:r>
              <a:rPr lang="en-US" sz="2400" kern="0">
                <a:solidFill>
                  <a:srgbClr val="002060"/>
                </a:solidFill>
                <a:latin typeface="Cambria" panose="02040503050406030204" pitchFamily="18" charset="0"/>
              </a:rPr>
              <a:t>else </a:t>
            </a:r>
          </a:p>
          <a:p>
            <a:pPr lvl="2">
              <a:buClr>
                <a:srgbClr val="2045AE"/>
              </a:buClr>
              <a:defRPr/>
            </a:pPr>
            <a:r>
              <a:rPr lang="en-US" sz="2000" kern="0">
                <a:solidFill>
                  <a:srgbClr val="002060"/>
                </a:solidFill>
                <a:latin typeface="Cambria" panose="02040503050406030204" pitchFamily="18" charset="0"/>
              </a:rPr>
              <a:t>a=“so le”</a:t>
            </a:r>
          </a:p>
          <a:p>
            <a:pPr lvl="1">
              <a:buClr>
                <a:srgbClr val="2045AE"/>
              </a:buClr>
              <a:defRPr/>
            </a:pPr>
            <a:endParaRPr lang="en-US" sz="2400" kern="0">
              <a:solidFill>
                <a:srgbClr val="002060"/>
              </a:solidFill>
              <a:latin typeface="Cambria" panose="02040503050406030204" pitchFamily="18" charset="0"/>
            </a:endParaRPr>
          </a:p>
        </p:txBody>
      </p:sp>
      <p:sp>
        <p:nvSpPr>
          <p:cNvPr id="2" name="Slide Number Placeholder 1">
            <a:extLst>
              <a:ext uri="{FF2B5EF4-FFF2-40B4-BE49-F238E27FC236}">
                <a16:creationId xmlns:a16="http://schemas.microsoft.com/office/drawing/2014/main" id="{286DBAAD-D343-8BB5-EBF9-1BAED34B9A18}"/>
              </a:ext>
            </a:extLst>
          </p:cNvPr>
          <p:cNvSpPr>
            <a:spLocks noGrp="1"/>
          </p:cNvSpPr>
          <p:nvPr>
            <p:ph type="sldNum" sz="quarter" idx="12"/>
          </p:nvPr>
        </p:nvSpPr>
        <p:spPr/>
        <p:txBody>
          <a:bodyPr/>
          <a:lstStyle/>
          <a:p>
            <a:fld id="{48FE5571-560F-4DFC-BA97-61ACA5F7ADE1}" type="slidenum">
              <a:rPr lang="en-US" smtClean="0"/>
              <a:pPr/>
              <a:t>45</a:t>
            </a:fld>
            <a:endParaRPr lang="en-US"/>
          </a:p>
        </p:txBody>
      </p:sp>
    </p:spTree>
    <p:extLst>
      <p:ext uri="{BB962C8B-B14F-4D97-AF65-F5344CB8AC3E}">
        <p14:creationId xmlns:p14="http://schemas.microsoft.com/office/powerpoint/2010/main" val="808024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en-US" kern="0">
                <a:solidFill>
                  <a:srgbClr val="002060"/>
                </a:solidFill>
                <a:latin typeface="Cambria" panose="02040503050406030204" pitchFamily="18" charset="0"/>
              </a:rPr>
              <a:t>Cấu trúc switch</a:t>
            </a: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272E3DE2-2C5A-A203-588F-E748C157DB7E}"/>
              </a:ext>
            </a:extLst>
          </p:cNvPr>
          <p:cNvSpPr>
            <a:spLocks noGrp="1"/>
          </p:cNvSpPr>
          <p:nvPr>
            <p:ph type="sldNum" sz="quarter" idx="12"/>
          </p:nvPr>
        </p:nvSpPr>
        <p:spPr/>
        <p:txBody>
          <a:bodyPr/>
          <a:lstStyle/>
          <a:p>
            <a:fld id="{48FE5571-560F-4DFC-BA97-61ACA5F7ADE1}" type="slidenum">
              <a:rPr lang="en-US" smtClean="0"/>
              <a:pPr/>
              <a:t>46</a:t>
            </a:fld>
            <a:endParaRPr lang="en-US"/>
          </a:p>
        </p:txBody>
      </p:sp>
    </p:spTree>
    <p:extLst>
      <p:ext uri="{BB962C8B-B14F-4D97-AF65-F5344CB8AC3E}">
        <p14:creationId xmlns:p14="http://schemas.microsoft.com/office/powerpoint/2010/main" val="21632058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Cấu trúc switch tổng quát</a:t>
            </a:r>
          </a:p>
          <a:p>
            <a:pPr lvl="0" algn="just">
              <a:buClr>
                <a:srgbClr val="3DC5C5"/>
              </a:buClr>
              <a:defRPr/>
            </a:pPr>
            <a:r>
              <a:rPr lang="en-US" kern="0">
                <a:solidFill>
                  <a:srgbClr val="002060"/>
                </a:solidFill>
                <a:latin typeface="Cambria" panose="02040503050406030204" pitchFamily="18" charset="0"/>
              </a:rPr>
              <a:t>Cấu trúc switch biến thể</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FC05DA33-1128-F416-8487-A28007A0634F}"/>
              </a:ext>
            </a:extLst>
          </p:cNvPr>
          <p:cNvSpPr>
            <a:spLocks noGrp="1"/>
          </p:cNvSpPr>
          <p:nvPr>
            <p:ph type="sldNum" sz="quarter" idx="12"/>
          </p:nvPr>
        </p:nvSpPr>
        <p:spPr/>
        <p:txBody>
          <a:bodyPr/>
          <a:lstStyle/>
          <a:p>
            <a:fld id="{48FE5571-560F-4DFC-BA97-61ACA5F7ADE1}" type="slidenum">
              <a:rPr lang="en-US" smtClean="0"/>
              <a:pPr/>
              <a:t>47</a:t>
            </a:fld>
            <a:endParaRPr lang="en-US"/>
          </a:p>
        </p:txBody>
      </p:sp>
    </p:spTree>
    <p:extLst>
      <p:ext uri="{BB962C8B-B14F-4D97-AF65-F5344CB8AC3E}">
        <p14:creationId xmlns:p14="http://schemas.microsoft.com/office/powerpoint/2010/main" val="28904213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kern="0">
                  <a:solidFill>
                    <a:srgbClr val="002060"/>
                  </a:solidFill>
                  <a:latin typeface="Cambria" panose="02040503050406030204" pitchFamily="18" charset="0"/>
                </a:rPr>
                <a:t>Cấu trúc switch tổng quát</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Content Placeholder 2"/>
          <p:cNvSpPr txBox="1">
            <a:spLocks/>
          </p:cNvSpPr>
          <p:nvPr/>
        </p:nvSpPr>
        <p:spPr bwMode="auto">
          <a:xfrm>
            <a:off x="1828800" y="1152526"/>
            <a:ext cx="8382000" cy="5248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n-lt"/>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2">
              <a:buClr>
                <a:srgbClr val="000066"/>
              </a:buClr>
              <a:buNone/>
              <a:defRPr/>
            </a:pPr>
            <a:r>
              <a:rPr lang="en-US" sz="2200" b="1" kern="0">
                <a:solidFill>
                  <a:srgbClr val="002060"/>
                </a:solidFill>
                <a:latin typeface="Cambria" panose="02040503050406030204" pitchFamily="18" charset="0"/>
              </a:rPr>
              <a:t>switch</a:t>
            </a:r>
            <a:r>
              <a:rPr lang="en-US" sz="2200" kern="0">
                <a:solidFill>
                  <a:srgbClr val="002060"/>
                </a:solidFill>
                <a:latin typeface="Cambria" panose="02040503050406030204" pitchFamily="18" charset="0"/>
              </a:rPr>
              <a:t> (&lt;biến cần kiểm tra&gt;) </a:t>
            </a:r>
          </a:p>
          <a:p>
            <a:pPr lvl="2">
              <a:buClr>
                <a:srgbClr val="000066"/>
              </a:buClr>
              <a:buNone/>
              <a:defRPr/>
            </a:pPr>
            <a:r>
              <a:rPr lang="en-US" sz="2200" b="1" kern="0">
                <a:solidFill>
                  <a:srgbClr val="002060"/>
                </a:solidFill>
                <a:latin typeface="Cambria" panose="02040503050406030204" pitchFamily="18" charset="0"/>
              </a:rPr>
              <a:t>{</a:t>
            </a:r>
            <a:endParaRPr lang="en-US" sz="2200" kern="0">
              <a:solidFill>
                <a:srgbClr val="002060"/>
              </a:solidFill>
              <a:latin typeface="Cambria" panose="02040503050406030204" pitchFamily="18" charset="0"/>
            </a:endParaRPr>
          </a:p>
          <a:p>
            <a:pPr lvl="2">
              <a:buClr>
                <a:srgbClr val="000066"/>
              </a:buClr>
              <a:buNone/>
              <a:defRPr/>
            </a:pPr>
            <a:r>
              <a:rPr lang="en-US" sz="2200" kern="0">
                <a:solidFill>
                  <a:srgbClr val="002060"/>
                </a:solidFill>
                <a:latin typeface="Cambria" panose="02040503050406030204" pitchFamily="18" charset="0"/>
              </a:rPr>
              <a:t>   </a:t>
            </a:r>
            <a:r>
              <a:rPr lang="en-US" sz="2200" b="1" kern="0">
                <a:solidFill>
                  <a:srgbClr val="002060"/>
                </a:solidFill>
                <a:latin typeface="Cambria" panose="02040503050406030204" pitchFamily="18" charset="0"/>
              </a:rPr>
              <a:t>case</a:t>
            </a:r>
            <a:r>
              <a:rPr lang="en-US" sz="2200" kern="0">
                <a:solidFill>
                  <a:srgbClr val="002060"/>
                </a:solidFill>
                <a:latin typeface="Cambria" panose="02040503050406030204" pitchFamily="18" charset="0"/>
              </a:rPr>
              <a:t> &lt;giá trị 1&gt;:</a:t>
            </a:r>
          </a:p>
          <a:p>
            <a:pPr lvl="2">
              <a:buClr>
                <a:srgbClr val="000066"/>
              </a:buClr>
              <a:buNone/>
              <a:defRPr/>
            </a:pPr>
            <a:r>
              <a:rPr lang="en-US" sz="2200" kern="0">
                <a:solidFill>
                  <a:srgbClr val="002060"/>
                </a:solidFill>
                <a:latin typeface="Cambria" panose="02040503050406030204" pitchFamily="18" charset="0"/>
              </a:rPr>
              <a:t>		&lt;công việc 1&gt;;</a:t>
            </a:r>
          </a:p>
          <a:p>
            <a:pPr lvl="2">
              <a:buClr>
                <a:srgbClr val="000066"/>
              </a:buClr>
              <a:buNone/>
              <a:defRPr/>
            </a:pPr>
            <a:r>
              <a:rPr lang="en-US" sz="2200" kern="0">
                <a:solidFill>
                  <a:srgbClr val="002060"/>
                </a:solidFill>
                <a:latin typeface="Cambria" panose="02040503050406030204" pitchFamily="18" charset="0"/>
              </a:rPr>
              <a:t>		</a:t>
            </a:r>
            <a:r>
              <a:rPr lang="en-US" sz="2200" b="1" kern="0">
                <a:solidFill>
                  <a:srgbClr val="002060"/>
                </a:solidFill>
                <a:latin typeface="Cambria" panose="02040503050406030204" pitchFamily="18" charset="0"/>
              </a:rPr>
              <a:t>break;</a:t>
            </a:r>
            <a:endParaRPr lang="en-US" sz="2200" kern="0">
              <a:solidFill>
                <a:srgbClr val="002060"/>
              </a:solidFill>
              <a:latin typeface="Cambria" panose="02040503050406030204" pitchFamily="18" charset="0"/>
            </a:endParaRPr>
          </a:p>
          <a:p>
            <a:pPr lvl="2">
              <a:buClr>
                <a:srgbClr val="000066"/>
              </a:buClr>
              <a:buNone/>
              <a:defRPr/>
            </a:pPr>
            <a:r>
              <a:rPr lang="en-US" sz="2200" kern="0">
                <a:solidFill>
                  <a:srgbClr val="002060"/>
                </a:solidFill>
                <a:latin typeface="Cambria" panose="02040503050406030204" pitchFamily="18" charset="0"/>
              </a:rPr>
              <a:t>   </a:t>
            </a:r>
            <a:r>
              <a:rPr lang="en-US" sz="2200" b="1" kern="0">
                <a:solidFill>
                  <a:srgbClr val="002060"/>
                </a:solidFill>
                <a:latin typeface="Cambria" panose="02040503050406030204" pitchFamily="18" charset="0"/>
              </a:rPr>
              <a:t>case</a:t>
            </a:r>
            <a:r>
              <a:rPr lang="en-US" sz="2200" kern="0">
                <a:solidFill>
                  <a:srgbClr val="002060"/>
                </a:solidFill>
                <a:latin typeface="Cambria" panose="02040503050406030204" pitchFamily="18" charset="0"/>
              </a:rPr>
              <a:t> &lt;giá trị 2&gt;:</a:t>
            </a:r>
          </a:p>
          <a:p>
            <a:pPr lvl="2">
              <a:buClr>
                <a:srgbClr val="000066"/>
              </a:buClr>
              <a:buNone/>
              <a:defRPr/>
            </a:pPr>
            <a:r>
              <a:rPr lang="en-US" sz="2200" kern="0">
                <a:solidFill>
                  <a:srgbClr val="002060"/>
                </a:solidFill>
                <a:latin typeface="Cambria" panose="02040503050406030204" pitchFamily="18" charset="0"/>
              </a:rPr>
              <a:t>		&lt;công việc 2&gt;;</a:t>
            </a:r>
          </a:p>
          <a:p>
            <a:pPr lvl="2">
              <a:buClr>
                <a:srgbClr val="000066"/>
              </a:buClr>
              <a:buNone/>
              <a:defRPr/>
            </a:pPr>
            <a:r>
              <a:rPr lang="en-US" sz="2200" kern="0">
                <a:solidFill>
                  <a:srgbClr val="002060"/>
                </a:solidFill>
                <a:latin typeface="Cambria" panose="02040503050406030204" pitchFamily="18" charset="0"/>
              </a:rPr>
              <a:t>		</a:t>
            </a:r>
            <a:r>
              <a:rPr lang="en-US" sz="2200" b="1" kern="0">
                <a:solidFill>
                  <a:srgbClr val="002060"/>
                </a:solidFill>
                <a:latin typeface="Cambria" panose="02040503050406030204" pitchFamily="18" charset="0"/>
              </a:rPr>
              <a:t>break;</a:t>
            </a:r>
            <a:endParaRPr lang="en-US" sz="2200" kern="0">
              <a:solidFill>
                <a:srgbClr val="002060"/>
              </a:solidFill>
              <a:latin typeface="Cambria" panose="02040503050406030204" pitchFamily="18" charset="0"/>
            </a:endParaRPr>
          </a:p>
          <a:p>
            <a:pPr lvl="2">
              <a:buClr>
                <a:srgbClr val="000066"/>
              </a:buClr>
              <a:buNone/>
              <a:defRPr/>
            </a:pPr>
            <a:r>
              <a:rPr lang="en-US" sz="2200" kern="0">
                <a:solidFill>
                  <a:srgbClr val="002060"/>
                </a:solidFill>
                <a:latin typeface="Cambria" panose="02040503050406030204" pitchFamily="18" charset="0"/>
              </a:rPr>
              <a:t>	…</a:t>
            </a:r>
          </a:p>
          <a:p>
            <a:pPr lvl="2">
              <a:buClr>
                <a:srgbClr val="000066"/>
              </a:buClr>
              <a:buNone/>
              <a:defRPr/>
            </a:pPr>
            <a:r>
              <a:rPr lang="en-US" sz="2200" kern="0">
                <a:solidFill>
                  <a:srgbClr val="002060"/>
                </a:solidFill>
                <a:latin typeface="Cambria" panose="02040503050406030204" pitchFamily="18" charset="0"/>
              </a:rPr>
              <a:t>   </a:t>
            </a:r>
            <a:r>
              <a:rPr lang="en-US" sz="2200" b="1" kern="0">
                <a:solidFill>
                  <a:srgbClr val="002060"/>
                </a:solidFill>
                <a:latin typeface="Cambria" panose="02040503050406030204" pitchFamily="18" charset="0"/>
              </a:rPr>
              <a:t>default:</a:t>
            </a:r>
            <a:endParaRPr lang="en-US" sz="2200" kern="0">
              <a:solidFill>
                <a:srgbClr val="002060"/>
              </a:solidFill>
              <a:latin typeface="Cambria" panose="02040503050406030204" pitchFamily="18" charset="0"/>
            </a:endParaRPr>
          </a:p>
          <a:p>
            <a:pPr lvl="2">
              <a:buClr>
                <a:srgbClr val="000066"/>
              </a:buClr>
              <a:buNone/>
              <a:defRPr/>
            </a:pPr>
            <a:r>
              <a:rPr lang="en-US" sz="2200" kern="0">
                <a:solidFill>
                  <a:srgbClr val="002060"/>
                </a:solidFill>
                <a:latin typeface="Cambria" panose="02040503050406030204" pitchFamily="18" charset="0"/>
              </a:rPr>
              <a:t>		&lt;công việc nếu không thuộc trường hợp nào ở trên&gt;;</a:t>
            </a:r>
          </a:p>
          <a:p>
            <a:pPr lvl="2">
              <a:buClr>
                <a:srgbClr val="000066"/>
              </a:buClr>
              <a:buNone/>
              <a:defRPr/>
            </a:pPr>
            <a:r>
              <a:rPr lang="en-US" sz="2200" kern="0">
                <a:solidFill>
                  <a:srgbClr val="002060"/>
                </a:solidFill>
                <a:latin typeface="Cambria" panose="02040503050406030204" pitchFamily="18" charset="0"/>
              </a:rPr>
              <a:t>		</a:t>
            </a:r>
            <a:r>
              <a:rPr lang="en-US" sz="2200" b="1" kern="0">
                <a:solidFill>
                  <a:srgbClr val="002060"/>
                </a:solidFill>
                <a:latin typeface="Cambria" panose="02040503050406030204" pitchFamily="18" charset="0"/>
              </a:rPr>
              <a:t>break;</a:t>
            </a:r>
            <a:endParaRPr lang="en-US" sz="2200" kern="0">
              <a:solidFill>
                <a:srgbClr val="002060"/>
              </a:solidFill>
              <a:latin typeface="Cambria" panose="02040503050406030204" pitchFamily="18" charset="0"/>
            </a:endParaRPr>
          </a:p>
          <a:p>
            <a:pPr lvl="2">
              <a:buClr>
                <a:srgbClr val="000066"/>
              </a:buClr>
              <a:buNone/>
              <a:defRPr/>
            </a:pPr>
            <a:r>
              <a:rPr lang="en-US" sz="2200" b="1" kern="0">
                <a:solidFill>
                  <a:srgbClr val="002060"/>
                </a:solidFill>
                <a:latin typeface="Cambria" panose="02040503050406030204" pitchFamily="18" charset="0"/>
              </a:rPr>
              <a:t>}</a:t>
            </a:r>
            <a:endParaRPr lang="en-US" sz="2200" kern="0">
              <a:solidFill>
                <a:srgbClr val="002060"/>
              </a:solidFill>
              <a:latin typeface="Cambria" panose="02040503050406030204" pitchFamily="18" charset="0"/>
            </a:endParaRPr>
          </a:p>
          <a:p>
            <a:pPr lvl="2">
              <a:buClr>
                <a:srgbClr val="000066"/>
              </a:buClr>
              <a:buNone/>
              <a:defRPr/>
            </a:pPr>
            <a:endParaRPr lang="en-US" kern="0">
              <a:solidFill>
                <a:srgbClr val="002060"/>
              </a:solidFill>
              <a:latin typeface="Cambria" panose="02040503050406030204" pitchFamily="18" charset="0"/>
            </a:endParaRPr>
          </a:p>
        </p:txBody>
      </p:sp>
      <p:sp>
        <p:nvSpPr>
          <p:cNvPr id="8" name="Slide Number Placeholder 7">
            <a:extLst>
              <a:ext uri="{FF2B5EF4-FFF2-40B4-BE49-F238E27FC236}">
                <a16:creationId xmlns:a16="http://schemas.microsoft.com/office/drawing/2014/main" id="{B982BABF-1E52-80A4-5080-65C0B38D8A51}"/>
              </a:ext>
            </a:extLst>
          </p:cNvPr>
          <p:cNvSpPr>
            <a:spLocks noGrp="1"/>
          </p:cNvSpPr>
          <p:nvPr>
            <p:ph type="sldNum" sz="quarter" idx="12"/>
          </p:nvPr>
        </p:nvSpPr>
        <p:spPr/>
        <p:txBody>
          <a:bodyPr/>
          <a:lstStyle/>
          <a:p>
            <a:fld id="{48FE5571-560F-4DFC-BA97-61ACA5F7ADE1}" type="slidenum">
              <a:rPr lang="en-US" smtClean="0"/>
              <a:pPr/>
              <a:t>48</a:t>
            </a:fld>
            <a:endParaRPr lang="en-US"/>
          </a:p>
        </p:txBody>
      </p:sp>
    </p:spTree>
    <p:extLst>
      <p:ext uri="{BB962C8B-B14F-4D97-AF65-F5344CB8AC3E}">
        <p14:creationId xmlns:p14="http://schemas.microsoft.com/office/powerpoint/2010/main" val="3628662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kern="0">
                  <a:solidFill>
                    <a:srgbClr val="002060"/>
                  </a:solidFill>
                  <a:latin typeface="Cambria" panose="02040503050406030204" pitchFamily="18" charset="0"/>
                </a:rPr>
                <a:t>Cấu trúc switch tổng quát</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0" name="Picture 9"/>
          <p:cNvPicPr>
            <a:picLocks noChangeAspect="1" noChangeArrowheads="1"/>
          </p:cNvPicPr>
          <p:nvPr/>
        </p:nvPicPr>
        <p:blipFill rotWithShape="1">
          <a:blip r:embed="rId2"/>
          <a:srcRect t="2628"/>
          <a:stretch/>
        </p:blipFill>
        <p:spPr bwMode="auto">
          <a:xfrm>
            <a:off x="2514600" y="1143000"/>
            <a:ext cx="6820832" cy="5268036"/>
          </a:xfrm>
          <a:prstGeom prst="rect">
            <a:avLst/>
          </a:prstGeom>
          <a:noFill/>
          <a:ln w="9525">
            <a:noFill/>
            <a:miter lim="800000"/>
            <a:headEnd/>
            <a:tailEnd/>
          </a:ln>
          <a:effectLst/>
        </p:spPr>
      </p:pic>
      <p:sp>
        <p:nvSpPr>
          <p:cNvPr id="8" name="Slide Number Placeholder 7">
            <a:extLst>
              <a:ext uri="{FF2B5EF4-FFF2-40B4-BE49-F238E27FC236}">
                <a16:creationId xmlns:a16="http://schemas.microsoft.com/office/drawing/2014/main" id="{0B5FFEF2-3F2A-1597-B0DB-68AA87C05AFC}"/>
              </a:ext>
            </a:extLst>
          </p:cNvPr>
          <p:cNvSpPr>
            <a:spLocks noGrp="1"/>
          </p:cNvSpPr>
          <p:nvPr>
            <p:ph type="sldNum" sz="quarter" idx="12"/>
          </p:nvPr>
        </p:nvSpPr>
        <p:spPr/>
        <p:txBody>
          <a:bodyPr/>
          <a:lstStyle/>
          <a:p>
            <a:fld id="{48FE5571-560F-4DFC-BA97-61ACA5F7ADE1}" type="slidenum">
              <a:rPr lang="en-US" smtClean="0"/>
              <a:pPr/>
              <a:t>49</a:t>
            </a:fld>
            <a:endParaRPr lang="en-US"/>
          </a:p>
        </p:txBody>
      </p:sp>
    </p:spTree>
    <p:extLst>
      <p:ext uri="{BB962C8B-B14F-4D97-AF65-F5344CB8AC3E}">
        <p14:creationId xmlns:p14="http://schemas.microsoft.com/office/powerpoint/2010/main" val="15479238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kern="0">
                  <a:solidFill>
                    <a:srgbClr val="002060"/>
                  </a:solidFill>
                  <a:latin typeface="Cambria" panose="02040503050406030204" pitchFamily="18" charset="0"/>
                </a:rPr>
                <a:t>Cấu trúc switch tổng quát</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Content Placeholder 2"/>
          <p:cNvSpPr txBox="1">
            <a:spLocks/>
          </p:cNvSpPr>
          <p:nvPr/>
        </p:nvSpPr>
        <p:spPr bwMode="auto">
          <a:xfrm>
            <a:off x="1981200" y="1076326"/>
            <a:ext cx="8229600" cy="5248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n-lt"/>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3DC5C5"/>
              </a:buClr>
              <a:defRPr/>
            </a:pPr>
            <a:r>
              <a:rPr lang="en-US" kern="0">
                <a:solidFill>
                  <a:srgbClr val="002060"/>
                </a:solidFill>
                <a:latin typeface="Cambria" panose="02040503050406030204" pitchFamily="18" charset="0"/>
              </a:rPr>
              <a:t>Ví dụ</a:t>
            </a:r>
          </a:p>
          <a:p>
            <a:pPr marL="0">
              <a:spcBef>
                <a:spcPts val="0"/>
              </a:spcBef>
              <a:spcAft>
                <a:spcPts val="0"/>
              </a:spcAft>
              <a:buClr>
                <a:srgbClr val="3DC5C5"/>
              </a:buClr>
              <a:buNone/>
              <a:defRPr/>
            </a:pPr>
            <a:r>
              <a:rPr lang="en-US" sz="2400" b="1" kern="0">
                <a:solidFill>
                  <a:srgbClr val="002060"/>
                </a:solidFill>
                <a:latin typeface="Cambria" panose="02040503050406030204" pitchFamily="18" charset="0"/>
                <a:ea typeface="Times New Roman"/>
              </a:rPr>
              <a:t>switch (i)</a:t>
            </a:r>
          </a:p>
          <a:p>
            <a:pPr marL="0">
              <a:spcBef>
                <a:spcPts val="0"/>
              </a:spcBef>
              <a:spcAft>
                <a:spcPts val="0"/>
              </a:spcAft>
              <a:buClr>
                <a:srgbClr val="3DC5C5"/>
              </a:buClr>
              <a:buNone/>
              <a:defRPr/>
            </a:pPr>
            <a:r>
              <a:rPr lang="en-US" sz="2400" b="1" kern="0">
                <a:solidFill>
                  <a:srgbClr val="002060"/>
                </a:solidFill>
                <a:latin typeface="Cambria" panose="02040503050406030204" pitchFamily="18" charset="0"/>
                <a:ea typeface="Times New Roman"/>
              </a:rPr>
              <a:t>{</a:t>
            </a:r>
          </a:p>
          <a:p>
            <a:pPr marL="0">
              <a:spcBef>
                <a:spcPts val="0"/>
              </a:spcBef>
              <a:spcAft>
                <a:spcPts val="0"/>
              </a:spcAft>
              <a:buClr>
                <a:srgbClr val="3DC5C5"/>
              </a:buClr>
              <a:buNone/>
              <a:defRPr/>
            </a:pPr>
            <a:r>
              <a:rPr lang="en-US" sz="2400" b="1" kern="0">
                <a:solidFill>
                  <a:srgbClr val="002060"/>
                </a:solidFill>
                <a:latin typeface="Cambria" panose="02040503050406030204" pitchFamily="18" charset="0"/>
                <a:ea typeface="Times New Roman"/>
              </a:rPr>
              <a:t>	case 1:</a:t>
            </a:r>
          </a:p>
          <a:p>
            <a:pPr marL="0">
              <a:spcBef>
                <a:spcPts val="0"/>
              </a:spcBef>
              <a:spcAft>
                <a:spcPts val="0"/>
              </a:spcAft>
              <a:buClr>
                <a:srgbClr val="3DC5C5"/>
              </a:buClr>
              <a:buNone/>
              <a:defRPr/>
            </a:pPr>
            <a:r>
              <a:rPr lang="en-US" sz="2400" b="1" kern="0">
                <a:solidFill>
                  <a:srgbClr val="002060"/>
                </a:solidFill>
                <a:latin typeface="Cambria" panose="02040503050406030204" pitchFamily="18" charset="0"/>
                <a:ea typeface="Times New Roman"/>
              </a:rPr>
              <a:t>		</a:t>
            </a:r>
            <a:r>
              <a:rPr lang="en-US" sz="2400">
                <a:solidFill>
                  <a:srgbClr val="002060"/>
                </a:solidFill>
              </a:rPr>
              <a:t> System.</a:t>
            </a:r>
            <a:r>
              <a:rPr lang="en-US" sz="2400" i="1">
                <a:solidFill>
                  <a:srgbClr val="002060"/>
                </a:solidFill>
              </a:rPr>
              <a:t>out.println</a:t>
            </a:r>
            <a:r>
              <a:rPr lang="en-US" sz="2400" b="1" kern="0">
                <a:solidFill>
                  <a:srgbClr val="002060"/>
                </a:solidFill>
                <a:latin typeface="Cambria" panose="02040503050406030204" pitchFamily="18" charset="0"/>
                <a:ea typeface="Times New Roman"/>
              </a:rPr>
              <a:t>("so 1");</a:t>
            </a:r>
          </a:p>
          <a:p>
            <a:pPr marL="0">
              <a:spcBef>
                <a:spcPts val="0"/>
              </a:spcBef>
              <a:spcAft>
                <a:spcPts val="0"/>
              </a:spcAft>
              <a:buClr>
                <a:srgbClr val="3DC5C5"/>
              </a:buClr>
              <a:buNone/>
              <a:defRPr/>
            </a:pPr>
            <a:r>
              <a:rPr lang="en-US" sz="2400" b="1" kern="0">
                <a:solidFill>
                  <a:srgbClr val="002060"/>
                </a:solidFill>
                <a:latin typeface="Cambria" panose="02040503050406030204" pitchFamily="18" charset="0"/>
                <a:ea typeface="Times New Roman"/>
              </a:rPr>
              <a:t>		break;</a:t>
            </a:r>
          </a:p>
          <a:p>
            <a:pPr marL="0">
              <a:spcBef>
                <a:spcPts val="0"/>
              </a:spcBef>
              <a:spcAft>
                <a:spcPts val="0"/>
              </a:spcAft>
              <a:buClr>
                <a:srgbClr val="3DC5C5"/>
              </a:buClr>
              <a:buNone/>
              <a:defRPr/>
            </a:pPr>
            <a:r>
              <a:rPr lang="en-US" sz="2400" b="1" kern="0">
                <a:solidFill>
                  <a:srgbClr val="002060"/>
                </a:solidFill>
                <a:latin typeface="Cambria" panose="02040503050406030204" pitchFamily="18" charset="0"/>
                <a:ea typeface="Times New Roman"/>
              </a:rPr>
              <a:t>	case 2:</a:t>
            </a:r>
          </a:p>
          <a:p>
            <a:pPr marL="0">
              <a:spcBef>
                <a:spcPts val="0"/>
              </a:spcBef>
              <a:spcAft>
                <a:spcPts val="0"/>
              </a:spcAft>
              <a:buClr>
                <a:srgbClr val="3DC5C5"/>
              </a:buClr>
              <a:buNone/>
              <a:defRPr/>
            </a:pPr>
            <a:r>
              <a:rPr lang="en-US" sz="2400" b="1" kern="0">
                <a:solidFill>
                  <a:srgbClr val="002060"/>
                </a:solidFill>
                <a:latin typeface="Cambria" panose="02040503050406030204" pitchFamily="18" charset="0"/>
                <a:ea typeface="Times New Roman"/>
              </a:rPr>
              <a:t>		</a:t>
            </a:r>
            <a:r>
              <a:rPr lang="en-US" sz="2400">
                <a:solidFill>
                  <a:srgbClr val="002060"/>
                </a:solidFill>
              </a:rPr>
              <a:t> System.</a:t>
            </a:r>
            <a:r>
              <a:rPr lang="en-US" sz="2400" i="1">
                <a:solidFill>
                  <a:srgbClr val="002060"/>
                </a:solidFill>
              </a:rPr>
              <a:t>out.println</a:t>
            </a:r>
            <a:r>
              <a:rPr lang="en-US" sz="2400" b="1" kern="0">
                <a:solidFill>
                  <a:srgbClr val="002060"/>
                </a:solidFill>
                <a:latin typeface="Cambria" panose="02040503050406030204" pitchFamily="18" charset="0"/>
                <a:ea typeface="Times New Roman"/>
              </a:rPr>
              <a:t>("so 2");</a:t>
            </a:r>
          </a:p>
          <a:p>
            <a:pPr marL="0">
              <a:spcBef>
                <a:spcPts val="0"/>
              </a:spcBef>
              <a:spcAft>
                <a:spcPts val="0"/>
              </a:spcAft>
              <a:buClr>
                <a:srgbClr val="3DC5C5"/>
              </a:buClr>
              <a:buNone/>
              <a:defRPr/>
            </a:pPr>
            <a:r>
              <a:rPr lang="en-US" sz="2400" b="1" kern="0">
                <a:solidFill>
                  <a:srgbClr val="002060"/>
                </a:solidFill>
                <a:latin typeface="Cambria" panose="02040503050406030204" pitchFamily="18" charset="0"/>
                <a:ea typeface="Times New Roman"/>
              </a:rPr>
              <a:t>		break;</a:t>
            </a:r>
          </a:p>
          <a:p>
            <a:pPr marL="0">
              <a:spcBef>
                <a:spcPts val="0"/>
              </a:spcBef>
              <a:spcAft>
                <a:spcPts val="0"/>
              </a:spcAft>
              <a:buClr>
                <a:srgbClr val="3DC5C5"/>
              </a:buClr>
              <a:buNone/>
              <a:defRPr/>
            </a:pPr>
            <a:r>
              <a:rPr lang="en-US" sz="2400" b="1" kern="0">
                <a:solidFill>
                  <a:srgbClr val="002060"/>
                </a:solidFill>
                <a:latin typeface="Cambria" panose="02040503050406030204" pitchFamily="18" charset="0"/>
                <a:ea typeface="Times New Roman"/>
              </a:rPr>
              <a:t>	default:</a:t>
            </a:r>
          </a:p>
          <a:p>
            <a:pPr marL="0">
              <a:spcBef>
                <a:spcPts val="0"/>
              </a:spcBef>
              <a:spcAft>
                <a:spcPts val="0"/>
              </a:spcAft>
              <a:buClr>
                <a:srgbClr val="3DC5C5"/>
              </a:buClr>
              <a:buNone/>
              <a:defRPr/>
            </a:pPr>
            <a:r>
              <a:rPr lang="en-US" sz="2400" b="1" kern="0">
                <a:solidFill>
                  <a:srgbClr val="002060"/>
                </a:solidFill>
                <a:latin typeface="Cambria" panose="02040503050406030204" pitchFamily="18" charset="0"/>
                <a:ea typeface="Times New Roman"/>
              </a:rPr>
              <a:t>		</a:t>
            </a:r>
            <a:r>
              <a:rPr lang="en-US" sz="2400">
                <a:solidFill>
                  <a:srgbClr val="002060"/>
                </a:solidFill>
              </a:rPr>
              <a:t> System.</a:t>
            </a:r>
            <a:r>
              <a:rPr lang="en-US" sz="2400" i="1">
                <a:solidFill>
                  <a:srgbClr val="002060"/>
                </a:solidFill>
              </a:rPr>
              <a:t>out.println</a:t>
            </a:r>
            <a:r>
              <a:rPr lang="en-US" sz="2400" b="1" kern="0">
                <a:solidFill>
                  <a:srgbClr val="002060"/>
                </a:solidFill>
                <a:latin typeface="Cambria" panose="02040503050406030204" pitchFamily="18" charset="0"/>
                <a:ea typeface="Times New Roman"/>
              </a:rPr>
              <a:t>("default");</a:t>
            </a:r>
          </a:p>
          <a:p>
            <a:pPr marL="0">
              <a:spcBef>
                <a:spcPts val="0"/>
              </a:spcBef>
              <a:spcAft>
                <a:spcPts val="0"/>
              </a:spcAft>
              <a:buClr>
                <a:srgbClr val="3DC5C5"/>
              </a:buClr>
              <a:buNone/>
              <a:defRPr/>
            </a:pPr>
            <a:r>
              <a:rPr lang="en-US" sz="2400" b="1" kern="0">
                <a:solidFill>
                  <a:srgbClr val="002060"/>
                </a:solidFill>
                <a:latin typeface="Cambria" panose="02040503050406030204" pitchFamily="18" charset="0"/>
                <a:ea typeface="Times New Roman"/>
              </a:rPr>
              <a:t>		break;</a:t>
            </a:r>
          </a:p>
          <a:p>
            <a:pPr marL="0">
              <a:spcBef>
                <a:spcPts val="0"/>
              </a:spcBef>
              <a:spcAft>
                <a:spcPts val="0"/>
              </a:spcAft>
              <a:buClr>
                <a:srgbClr val="3DC5C5"/>
              </a:buClr>
              <a:buNone/>
              <a:defRPr/>
            </a:pPr>
            <a:r>
              <a:rPr lang="en-US" sz="2400" b="1" kern="0">
                <a:solidFill>
                  <a:srgbClr val="002060"/>
                </a:solidFill>
                <a:latin typeface="Cambria" panose="02040503050406030204" pitchFamily="18" charset="0"/>
                <a:ea typeface="Times New Roman"/>
              </a:rPr>
              <a:t>}</a:t>
            </a:r>
          </a:p>
          <a:p>
            <a:pPr>
              <a:buClr>
                <a:srgbClr val="3DC5C5"/>
              </a:buClr>
              <a:defRPr/>
            </a:pPr>
            <a:endParaRPr lang="en-US" kern="0">
              <a:solidFill>
                <a:srgbClr val="002060"/>
              </a:solidFill>
              <a:latin typeface="Cambria" panose="02040503050406030204" pitchFamily="18" charset="0"/>
            </a:endParaRPr>
          </a:p>
        </p:txBody>
      </p:sp>
      <p:sp>
        <p:nvSpPr>
          <p:cNvPr id="8" name="Slide Number Placeholder 7">
            <a:extLst>
              <a:ext uri="{FF2B5EF4-FFF2-40B4-BE49-F238E27FC236}">
                <a16:creationId xmlns:a16="http://schemas.microsoft.com/office/drawing/2014/main" id="{D10DBC9A-EE45-62E8-EA0B-1901A4413FCA}"/>
              </a:ext>
            </a:extLst>
          </p:cNvPr>
          <p:cNvSpPr>
            <a:spLocks noGrp="1"/>
          </p:cNvSpPr>
          <p:nvPr>
            <p:ph type="sldNum" sz="quarter" idx="12"/>
          </p:nvPr>
        </p:nvSpPr>
        <p:spPr/>
        <p:txBody>
          <a:bodyPr/>
          <a:lstStyle/>
          <a:p>
            <a:fld id="{48FE5571-560F-4DFC-BA97-61ACA5F7ADE1}" type="slidenum">
              <a:rPr lang="en-US" smtClean="0"/>
              <a:pPr/>
              <a:t>50</a:t>
            </a:fld>
            <a:endParaRPr lang="en-US"/>
          </a:p>
        </p:txBody>
      </p:sp>
    </p:spTree>
    <p:extLst>
      <p:ext uri="{BB962C8B-B14F-4D97-AF65-F5344CB8AC3E}">
        <p14:creationId xmlns:p14="http://schemas.microsoft.com/office/powerpoint/2010/main" val="4921200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Cấu trúc switch biến thể</a:t>
              </a:r>
              <a:endParaRPr lang="en-US" sz="4000" b="1" kern="0" dirty="0">
                <a:solidFill>
                  <a:srgbClr val="00206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Content Placeholder 2"/>
          <p:cNvSpPr txBox="1">
            <a:spLocks/>
          </p:cNvSpPr>
          <p:nvPr/>
        </p:nvSpPr>
        <p:spPr bwMode="auto">
          <a:xfrm>
            <a:off x="1828800" y="958308"/>
            <a:ext cx="8382000" cy="5248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n-lt"/>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2">
              <a:buClr>
                <a:srgbClr val="000066"/>
              </a:buClr>
              <a:buNone/>
              <a:defRPr/>
            </a:pPr>
            <a:r>
              <a:rPr lang="en-US" sz="2200" b="1" kern="0">
                <a:solidFill>
                  <a:srgbClr val="002060"/>
                </a:solidFill>
                <a:latin typeface="Cambria" panose="02040503050406030204" pitchFamily="18" charset="0"/>
              </a:rPr>
              <a:t>switch</a:t>
            </a:r>
            <a:r>
              <a:rPr lang="en-US" sz="2200" kern="0">
                <a:solidFill>
                  <a:srgbClr val="002060"/>
                </a:solidFill>
                <a:latin typeface="Cambria" panose="02040503050406030204" pitchFamily="18" charset="0"/>
              </a:rPr>
              <a:t> (&lt;biến cần kiểm tra&gt;) </a:t>
            </a:r>
            <a:r>
              <a:rPr lang="en-US" sz="2200" b="1" kern="0">
                <a:solidFill>
                  <a:srgbClr val="002060"/>
                </a:solidFill>
                <a:latin typeface="Cambria" panose="02040503050406030204" pitchFamily="18" charset="0"/>
              </a:rPr>
              <a:t>{</a:t>
            </a:r>
            <a:endParaRPr lang="en-US" sz="2200" kern="0">
              <a:solidFill>
                <a:srgbClr val="002060"/>
              </a:solidFill>
              <a:latin typeface="Cambria" panose="02040503050406030204" pitchFamily="18" charset="0"/>
            </a:endParaRPr>
          </a:p>
          <a:p>
            <a:pPr lvl="2">
              <a:buClr>
                <a:srgbClr val="000066"/>
              </a:buClr>
              <a:buNone/>
              <a:defRPr/>
            </a:pPr>
            <a:r>
              <a:rPr lang="en-US" sz="2200" kern="0">
                <a:solidFill>
                  <a:srgbClr val="002060"/>
                </a:solidFill>
                <a:latin typeface="Cambria" panose="02040503050406030204" pitchFamily="18" charset="0"/>
              </a:rPr>
              <a:t>    </a:t>
            </a:r>
            <a:r>
              <a:rPr lang="en-US" sz="2200" b="1" kern="0">
                <a:solidFill>
                  <a:srgbClr val="002060"/>
                </a:solidFill>
                <a:latin typeface="Cambria" panose="02040503050406030204" pitchFamily="18" charset="0"/>
              </a:rPr>
              <a:t>case</a:t>
            </a:r>
            <a:r>
              <a:rPr lang="en-US" sz="2200" kern="0">
                <a:solidFill>
                  <a:srgbClr val="002060"/>
                </a:solidFill>
                <a:latin typeface="Cambria" panose="02040503050406030204" pitchFamily="18" charset="0"/>
              </a:rPr>
              <a:t> &lt;giá trị 1&gt;:</a:t>
            </a:r>
          </a:p>
          <a:p>
            <a:pPr lvl="2">
              <a:buClr>
                <a:srgbClr val="000066"/>
              </a:buClr>
              <a:buNone/>
              <a:defRPr/>
            </a:pPr>
            <a:r>
              <a:rPr lang="en-US" sz="2200" kern="0">
                <a:solidFill>
                  <a:srgbClr val="002060"/>
                </a:solidFill>
                <a:latin typeface="Cambria" panose="02040503050406030204" pitchFamily="18" charset="0"/>
              </a:rPr>
              <a:t>	</a:t>
            </a:r>
            <a:r>
              <a:rPr lang="en-US" sz="2200" b="1" kern="0">
                <a:solidFill>
                  <a:srgbClr val="002060"/>
                </a:solidFill>
                <a:latin typeface="Cambria" panose="02040503050406030204" pitchFamily="18" charset="0"/>
              </a:rPr>
              <a:t>case</a:t>
            </a:r>
            <a:r>
              <a:rPr lang="en-US" sz="2200" kern="0">
                <a:solidFill>
                  <a:srgbClr val="002060"/>
                </a:solidFill>
                <a:latin typeface="Cambria" panose="02040503050406030204" pitchFamily="18" charset="0"/>
              </a:rPr>
              <a:t> &lt;giá trị 2&gt;:</a:t>
            </a:r>
          </a:p>
          <a:p>
            <a:pPr lvl="2">
              <a:buClr>
                <a:srgbClr val="000066"/>
              </a:buClr>
              <a:buNone/>
              <a:defRPr/>
            </a:pPr>
            <a:r>
              <a:rPr lang="en-US" sz="2200" kern="0">
                <a:solidFill>
                  <a:srgbClr val="002060"/>
                </a:solidFill>
                <a:latin typeface="Cambria" panose="02040503050406030204" pitchFamily="18" charset="0"/>
              </a:rPr>
              <a:t>		&lt;công việc X&gt;;</a:t>
            </a:r>
          </a:p>
          <a:p>
            <a:pPr lvl="2">
              <a:buClr>
                <a:srgbClr val="000066"/>
              </a:buClr>
              <a:buNone/>
              <a:defRPr/>
            </a:pPr>
            <a:r>
              <a:rPr lang="en-US" sz="2200" kern="0">
                <a:solidFill>
                  <a:srgbClr val="002060"/>
                </a:solidFill>
                <a:latin typeface="Cambria" panose="02040503050406030204" pitchFamily="18" charset="0"/>
              </a:rPr>
              <a:t>		</a:t>
            </a:r>
            <a:r>
              <a:rPr lang="en-US" sz="2200" b="1" kern="0">
                <a:solidFill>
                  <a:srgbClr val="002060"/>
                </a:solidFill>
                <a:latin typeface="Cambria" panose="02040503050406030204" pitchFamily="18" charset="0"/>
              </a:rPr>
              <a:t>break;</a:t>
            </a:r>
            <a:endParaRPr lang="en-US" sz="2200" kern="0">
              <a:solidFill>
                <a:srgbClr val="002060"/>
              </a:solidFill>
              <a:latin typeface="Cambria" panose="02040503050406030204" pitchFamily="18" charset="0"/>
            </a:endParaRPr>
          </a:p>
          <a:p>
            <a:pPr lvl="2">
              <a:buClr>
                <a:srgbClr val="000066"/>
              </a:buClr>
              <a:buNone/>
              <a:defRPr/>
            </a:pPr>
            <a:r>
              <a:rPr lang="en-US" sz="2200" b="1" kern="0">
                <a:solidFill>
                  <a:srgbClr val="002060"/>
                </a:solidFill>
                <a:latin typeface="Cambria" panose="02040503050406030204" pitchFamily="18" charset="0"/>
              </a:rPr>
              <a:t>   case</a:t>
            </a:r>
            <a:r>
              <a:rPr lang="en-US" sz="2200" kern="0">
                <a:solidFill>
                  <a:srgbClr val="002060"/>
                </a:solidFill>
                <a:latin typeface="Cambria" panose="02040503050406030204" pitchFamily="18" charset="0"/>
              </a:rPr>
              <a:t> &lt;giá trị 3&gt;:</a:t>
            </a:r>
          </a:p>
          <a:p>
            <a:pPr lvl="2">
              <a:buClr>
                <a:srgbClr val="000066"/>
              </a:buClr>
              <a:buNone/>
              <a:defRPr/>
            </a:pPr>
            <a:r>
              <a:rPr lang="en-US" sz="2200" kern="0">
                <a:solidFill>
                  <a:srgbClr val="002060"/>
                </a:solidFill>
                <a:latin typeface="Cambria" panose="02040503050406030204" pitchFamily="18" charset="0"/>
              </a:rPr>
              <a:t>	</a:t>
            </a:r>
            <a:r>
              <a:rPr lang="en-US" sz="2200" b="1" kern="0">
                <a:solidFill>
                  <a:srgbClr val="002060"/>
                </a:solidFill>
                <a:latin typeface="Cambria" panose="02040503050406030204" pitchFamily="18" charset="0"/>
              </a:rPr>
              <a:t>case</a:t>
            </a:r>
            <a:r>
              <a:rPr lang="en-US" sz="2200" kern="0">
                <a:solidFill>
                  <a:srgbClr val="002060"/>
                </a:solidFill>
                <a:latin typeface="Cambria" panose="02040503050406030204" pitchFamily="18" charset="0"/>
              </a:rPr>
              <a:t> &lt;giá trị 4&gt;:</a:t>
            </a:r>
          </a:p>
          <a:p>
            <a:pPr lvl="2">
              <a:buClr>
                <a:srgbClr val="000066"/>
              </a:buClr>
              <a:buNone/>
              <a:defRPr/>
            </a:pPr>
            <a:r>
              <a:rPr lang="en-US" sz="2200" kern="0">
                <a:solidFill>
                  <a:srgbClr val="002060"/>
                </a:solidFill>
                <a:latin typeface="Cambria" panose="02040503050406030204" pitchFamily="18" charset="0"/>
              </a:rPr>
              <a:t>		&lt;công việc Y&gt;;</a:t>
            </a:r>
          </a:p>
          <a:p>
            <a:pPr lvl="2">
              <a:buClr>
                <a:srgbClr val="000066"/>
              </a:buClr>
              <a:buNone/>
              <a:defRPr/>
            </a:pPr>
            <a:r>
              <a:rPr lang="en-US" sz="2200" kern="0">
                <a:solidFill>
                  <a:srgbClr val="002060"/>
                </a:solidFill>
                <a:latin typeface="Cambria" panose="02040503050406030204" pitchFamily="18" charset="0"/>
              </a:rPr>
              <a:t>		</a:t>
            </a:r>
            <a:r>
              <a:rPr lang="en-US" sz="2200" b="1" kern="0">
                <a:solidFill>
                  <a:srgbClr val="002060"/>
                </a:solidFill>
                <a:latin typeface="Cambria" panose="02040503050406030204" pitchFamily="18" charset="0"/>
              </a:rPr>
              <a:t>break;</a:t>
            </a:r>
          </a:p>
          <a:p>
            <a:pPr lvl="2">
              <a:buClr>
                <a:srgbClr val="000066"/>
              </a:buClr>
              <a:buNone/>
              <a:defRPr/>
            </a:pPr>
            <a:r>
              <a:rPr lang="en-US" sz="2200" kern="0">
                <a:solidFill>
                  <a:srgbClr val="002060"/>
                </a:solidFill>
                <a:latin typeface="Cambria" panose="02040503050406030204" pitchFamily="18" charset="0"/>
              </a:rPr>
              <a:t>	…</a:t>
            </a:r>
          </a:p>
          <a:p>
            <a:pPr lvl="2">
              <a:buClr>
                <a:srgbClr val="000066"/>
              </a:buClr>
              <a:buNone/>
              <a:defRPr/>
            </a:pPr>
            <a:r>
              <a:rPr lang="en-US" sz="2200" kern="0">
                <a:solidFill>
                  <a:srgbClr val="002060"/>
                </a:solidFill>
                <a:latin typeface="Cambria" panose="02040503050406030204" pitchFamily="18" charset="0"/>
              </a:rPr>
              <a:t>   </a:t>
            </a:r>
            <a:r>
              <a:rPr lang="en-US" sz="2200" b="1" kern="0">
                <a:solidFill>
                  <a:srgbClr val="002060"/>
                </a:solidFill>
                <a:latin typeface="Cambria" panose="02040503050406030204" pitchFamily="18" charset="0"/>
              </a:rPr>
              <a:t>default:</a:t>
            </a:r>
            <a:endParaRPr lang="en-US" sz="2200" kern="0">
              <a:solidFill>
                <a:srgbClr val="002060"/>
              </a:solidFill>
              <a:latin typeface="Cambria" panose="02040503050406030204" pitchFamily="18" charset="0"/>
            </a:endParaRPr>
          </a:p>
          <a:p>
            <a:pPr lvl="2">
              <a:buClr>
                <a:srgbClr val="000066"/>
              </a:buClr>
              <a:buNone/>
              <a:defRPr/>
            </a:pPr>
            <a:r>
              <a:rPr lang="en-US" sz="2200" kern="0">
                <a:solidFill>
                  <a:srgbClr val="002060"/>
                </a:solidFill>
                <a:latin typeface="Cambria" panose="02040503050406030204" pitchFamily="18" charset="0"/>
              </a:rPr>
              <a:t>		&lt;công việc nếu không thuộc trường hợp nào ở trên&gt;;</a:t>
            </a:r>
          </a:p>
          <a:p>
            <a:pPr lvl="2">
              <a:buClr>
                <a:srgbClr val="000066"/>
              </a:buClr>
              <a:buNone/>
              <a:defRPr/>
            </a:pPr>
            <a:r>
              <a:rPr lang="en-US" sz="2200" kern="0">
                <a:solidFill>
                  <a:srgbClr val="002060"/>
                </a:solidFill>
                <a:latin typeface="Cambria" panose="02040503050406030204" pitchFamily="18" charset="0"/>
              </a:rPr>
              <a:t>		</a:t>
            </a:r>
            <a:r>
              <a:rPr lang="en-US" sz="2200" b="1" kern="0">
                <a:solidFill>
                  <a:srgbClr val="002060"/>
                </a:solidFill>
                <a:latin typeface="Cambria" panose="02040503050406030204" pitchFamily="18" charset="0"/>
              </a:rPr>
              <a:t>break;</a:t>
            </a:r>
            <a:endParaRPr lang="en-US" sz="2200" kern="0">
              <a:solidFill>
                <a:srgbClr val="002060"/>
              </a:solidFill>
              <a:latin typeface="Cambria" panose="02040503050406030204" pitchFamily="18" charset="0"/>
            </a:endParaRPr>
          </a:p>
          <a:p>
            <a:pPr lvl="2">
              <a:buClr>
                <a:srgbClr val="000066"/>
              </a:buClr>
              <a:buNone/>
              <a:defRPr/>
            </a:pPr>
            <a:r>
              <a:rPr lang="en-US" sz="2200" b="1" kern="0">
                <a:solidFill>
                  <a:srgbClr val="002060"/>
                </a:solidFill>
                <a:latin typeface="Cambria" panose="02040503050406030204" pitchFamily="18" charset="0"/>
              </a:rPr>
              <a:t>}</a:t>
            </a:r>
            <a:endParaRPr lang="en-US" sz="2200" kern="0">
              <a:solidFill>
                <a:srgbClr val="002060"/>
              </a:solidFill>
              <a:latin typeface="Cambria" panose="02040503050406030204" pitchFamily="18" charset="0"/>
            </a:endParaRPr>
          </a:p>
          <a:p>
            <a:pPr lvl="2">
              <a:buClr>
                <a:srgbClr val="000066"/>
              </a:buClr>
              <a:buNone/>
              <a:defRPr/>
            </a:pPr>
            <a:endParaRPr lang="en-US" kern="0">
              <a:solidFill>
                <a:srgbClr val="002060"/>
              </a:solidFill>
              <a:latin typeface="Cambria" panose="02040503050406030204" pitchFamily="18" charset="0"/>
            </a:endParaRPr>
          </a:p>
        </p:txBody>
      </p:sp>
      <p:sp>
        <p:nvSpPr>
          <p:cNvPr id="8" name="Slide Number Placeholder 7">
            <a:extLst>
              <a:ext uri="{FF2B5EF4-FFF2-40B4-BE49-F238E27FC236}">
                <a16:creationId xmlns:a16="http://schemas.microsoft.com/office/drawing/2014/main" id="{0E8D0782-85FB-2CF3-AFA2-DFD45902ACBE}"/>
              </a:ext>
            </a:extLst>
          </p:cNvPr>
          <p:cNvSpPr>
            <a:spLocks noGrp="1"/>
          </p:cNvSpPr>
          <p:nvPr>
            <p:ph type="sldNum" sz="quarter" idx="12"/>
          </p:nvPr>
        </p:nvSpPr>
        <p:spPr/>
        <p:txBody>
          <a:bodyPr/>
          <a:lstStyle/>
          <a:p>
            <a:fld id="{48FE5571-560F-4DFC-BA97-61ACA5F7ADE1}" type="slidenum">
              <a:rPr lang="en-US" smtClean="0"/>
              <a:pPr/>
              <a:t>51</a:t>
            </a:fld>
            <a:endParaRPr lang="en-US"/>
          </a:p>
        </p:txBody>
      </p:sp>
    </p:spTree>
    <p:extLst>
      <p:ext uri="{BB962C8B-B14F-4D97-AF65-F5344CB8AC3E}">
        <p14:creationId xmlns:p14="http://schemas.microsoft.com/office/powerpoint/2010/main" val="10742965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en-US" kern="0">
                <a:solidFill>
                  <a:srgbClr val="002060"/>
                </a:solidFill>
                <a:latin typeface="Cambria" panose="02040503050406030204" pitchFamily="18" charset="0"/>
              </a:rPr>
              <a:t>Vòng lặp while</a:t>
            </a: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484D53F4-5605-DCB5-C07F-137CE8768A72}"/>
              </a:ext>
            </a:extLst>
          </p:cNvPr>
          <p:cNvSpPr>
            <a:spLocks noGrp="1"/>
          </p:cNvSpPr>
          <p:nvPr>
            <p:ph type="sldNum" sz="quarter" idx="12"/>
          </p:nvPr>
        </p:nvSpPr>
        <p:spPr/>
        <p:txBody>
          <a:bodyPr/>
          <a:lstStyle/>
          <a:p>
            <a:fld id="{48FE5571-560F-4DFC-BA97-61ACA5F7ADE1}" type="slidenum">
              <a:rPr lang="en-US" smtClean="0"/>
              <a:pPr/>
              <a:t>52</a:t>
            </a:fld>
            <a:endParaRPr lang="en-US"/>
          </a:p>
        </p:txBody>
      </p:sp>
    </p:spTree>
    <p:extLst>
      <p:ext uri="{BB962C8B-B14F-4D97-AF65-F5344CB8AC3E}">
        <p14:creationId xmlns:p14="http://schemas.microsoft.com/office/powerpoint/2010/main" val="39883697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Cú pháp và cách hoạt động vòng lặp while</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29CEFF92-A71F-3D07-19F3-680C2C570DF6}"/>
              </a:ext>
            </a:extLst>
          </p:cNvPr>
          <p:cNvSpPr>
            <a:spLocks noGrp="1"/>
          </p:cNvSpPr>
          <p:nvPr>
            <p:ph type="sldNum" sz="quarter" idx="12"/>
          </p:nvPr>
        </p:nvSpPr>
        <p:spPr/>
        <p:txBody>
          <a:bodyPr/>
          <a:lstStyle/>
          <a:p>
            <a:fld id="{48FE5571-560F-4DFC-BA97-61ACA5F7ADE1}" type="slidenum">
              <a:rPr lang="en-US" smtClean="0"/>
              <a:pPr/>
              <a:t>53</a:t>
            </a:fld>
            <a:endParaRPr lang="en-US"/>
          </a:p>
        </p:txBody>
      </p:sp>
    </p:spTree>
    <p:extLst>
      <p:ext uri="{BB962C8B-B14F-4D97-AF65-F5344CB8AC3E}">
        <p14:creationId xmlns:p14="http://schemas.microsoft.com/office/powerpoint/2010/main" val="13592863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5588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Vòng lặp while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Content Placeholder 4"/>
          <p:cNvSpPr txBox="1">
            <a:spLocks/>
          </p:cNvSpPr>
          <p:nvPr/>
        </p:nvSpPr>
        <p:spPr>
          <a:xfrm>
            <a:off x="2164557" y="1219200"/>
            <a:ext cx="4845843" cy="4724400"/>
          </a:xfrm>
          <a:prstGeom prst="rect">
            <a:avLst/>
          </a:prstGeom>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600" u="sng">
                <a:latin typeface="Cambria" panose="02040503050406030204" pitchFamily="18" charset="0"/>
                <a:cs typeface="Times New Roman" pitchFamily="18" charset="0"/>
              </a:rPr>
              <a:t>Cú pháp</a:t>
            </a:r>
            <a:r>
              <a:rPr lang="en-US" sz="2600">
                <a:latin typeface="Cambria" panose="02040503050406030204" pitchFamily="18" charset="0"/>
                <a:cs typeface="Times New Roman" pitchFamily="18" charset="0"/>
              </a:rPr>
              <a:t>:  </a:t>
            </a:r>
          </a:p>
          <a:p>
            <a:pPr lvl="1">
              <a:buFont typeface="Arial" pitchFamily="34" charset="0"/>
              <a:buNone/>
            </a:pPr>
            <a:r>
              <a:rPr lang="en-US" sz="2600" b="1">
                <a:solidFill>
                  <a:srgbClr val="C00000"/>
                </a:solidFill>
                <a:latin typeface="Cambria" panose="02040503050406030204" pitchFamily="18" charset="0"/>
                <a:cs typeface="Times New Roman" pitchFamily="18" charset="0"/>
              </a:rPr>
              <a:t>while(expression) </a:t>
            </a:r>
          </a:p>
          <a:p>
            <a:pPr lvl="1">
              <a:buFont typeface="Arial" pitchFamily="34" charset="0"/>
              <a:buNone/>
            </a:pPr>
            <a:r>
              <a:rPr lang="en-US" sz="2600" b="1">
                <a:solidFill>
                  <a:srgbClr val="C00000"/>
                </a:solidFill>
                <a:latin typeface="Cambria" panose="02040503050406030204" pitchFamily="18" charset="0"/>
                <a:cs typeface="Times New Roman" pitchFamily="18" charset="0"/>
              </a:rPr>
              <a:t>		statement;</a:t>
            </a:r>
          </a:p>
          <a:p>
            <a:pPr>
              <a:buFont typeface="Tahoma" pitchFamily="34" charset="0"/>
              <a:buChar char="●"/>
            </a:pPr>
            <a:r>
              <a:rPr lang="en-US" sz="2600" u="sng">
                <a:latin typeface="Cambria" panose="02040503050406030204" pitchFamily="18" charset="0"/>
                <a:cs typeface="Times New Roman" pitchFamily="18" charset="0"/>
              </a:rPr>
              <a:t>Ý nghĩa:</a:t>
            </a:r>
          </a:p>
          <a:p>
            <a:pPr>
              <a:buFont typeface="Tahoma" pitchFamily="34" charset="0"/>
              <a:buChar char="●"/>
            </a:pPr>
            <a:r>
              <a:rPr lang="en-US" sz="2600">
                <a:latin typeface="Cambria" panose="02040503050406030204" pitchFamily="18" charset="0"/>
                <a:cs typeface="Times New Roman" pitchFamily="18" charset="0"/>
              </a:rPr>
              <a:t>B1: Expression được định trị   </a:t>
            </a:r>
          </a:p>
          <a:p>
            <a:pPr>
              <a:buFont typeface="Tahoma" pitchFamily="34" charset="0"/>
              <a:buChar char="●"/>
            </a:pPr>
            <a:r>
              <a:rPr lang="en-US" sz="2600">
                <a:latin typeface="Cambria" panose="02040503050406030204" pitchFamily="18" charset="0"/>
                <a:cs typeface="Times New Roman" pitchFamily="18" charset="0"/>
              </a:rPr>
              <a:t>B2: Nếu  kết  quả là </a:t>
            </a:r>
            <a:r>
              <a:rPr lang="en-US" sz="2600" b="1">
                <a:solidFill>
                  <a:srgbClr val="C00000"/>
                </a:solidFill>
                <a:latin typeface="Cambria" panose="02040503050406030204" pitchFamily="18" charset="0"/>
                <a:cs typeface="Times New Roman" pitchFamily="18" charset="0"/>
              </a:rPr>
              <a:t>true</a:t>
            </a:r>
            <a:r>
              <a:rPr lang="en-US" sz="2600">
                <a:latin typeface="Cambria" panose="02040503050406030204" pitchFamily="18" charset="0"/>
                <a:cs typeface="Times New Roman" pitchFamily="18" charset="0"/>
              </a:rPr>
              <a:t> thì statement thực thi và quay lại B1  </a:t>
            </a:r>
          </a:p>
          <a:p>
            <a:pPr>
              <a:buFont typeface="Tahoma" pitchFamily="34" charset="0"/>
              <a:buChar char="●"/>
            </a:pPr>
            <a:r>
              <a:rPr lang="en-US" sz="2600">
                <a:latin typeface="Cambria" panose="02040503050406030204" pitchFamily="18" charset="0"/>
                <a:cs typeface="Times New Roman" pitchFamily="18" charset="0"/>
              </a:rPr>
              <a:t>B3: Nếu kết quả là </a:t>
            </a:r>
            <a:r>
              <a:rPr lang="en-US" sz="2600" b="1">
                <a:solidFill>
                  <a:srgbClr val="C00000"/>
                </a:solidFill>
                <a:latin typeface="Cambria" panose="02040503050406030204" pitchFamily="18" charset="0"/>
                <a:cs typeface="Times New Roman" pitchFamily="18" charset="0"/>
              </a:rPr>
              <a:t>false</a:t>
            </a:r>
            <a:r>
              <a:rPr lang="en-US" sz="2600">
                <a:latin typeface="Cambria" panose="02040503050406030204" pitchFamily="18" charset="0"/>
                <a:cs typeface="Times New Roman" pitchFamily="18" charset="0"/>
              </a:rPr>
              <a:t> thì thoát khỏi vòng lặp while.</a:t>
            </a:r>
          </a:p>
          <a:p>
            <a:endParaRPr lang="en-US" sz="2600">
              <a:latin typeface="Cambria" panose="02040503050406030204" pitchFamily="18" charset="0"/>
              <a:cs typeface="Times New Roman" pitchFamily="18" charset="0"/>
            </a:endParaRPr>
          </a:p>
        </p:txBody>
      </p:sp>
      <p:pic>
        <p:nvPicPr>
          <p:cNvPr id="11" name="Picture 10"/>
          <p:cNvPicPr>
            <a:picLocks noChangeAspect="1" noChangeArrowheads="1"/>
          </p:cNvPicPr>
          <p:nvPr/>
        </p:nvPicPr>
        <p:blipFill>
          <a:blip r:embed="rId2"/>
          <a:srcRect/>
          <a:stretch>
            <a:fillRect/>
          </a:stretch>
        </p:blipFill>
        <p:spPr bwMode="auto">
          <a:xfrm>
            <a:off x="6736558" y="1346202"/>
            <a:ext cx="3290887" cy="4337579"/>
          </a:xfrm>
          <a:prstGeom prst="rect">
            <a:avLst/>
          </a:prstGeom>
          <a:noFill/>
          <a:ln w="9525">
            <a:noFill/>
            <a:miter lim="800000"/>
            <a:headEnd/>
            <a:tailEnd/>
          </a:ln>
          <a:effectLst/>
        </p:spPr>
      </p:pic>
      <p:sp>
        <p:nvSpPr>
          <p:cNvPr id="12" name="Rectangle 11"/>
          <p:cNvSpPr/>
          <p:nvPr/>
        </p:nvSpPr>
        <p:spPr>
          <a:xfrm>
            <a:off x="2029776" y="4572000"/>
            <a:ext cx="8333424" cy="1791260"/>
          </a:xfrm>
          <a:prstGeom prst="rect">
            <a:avLst/>
          </a:prstGeom>
        </p:spPr>
        <p:txBody>
          <a:bodyPr wrap="square">
            <a:spAutoFit/>
          </a:bodyPr>
          <a:lstStyle/>
          <a:p>
            <a:pPr marL="342900" indent="-342900" fontAlgn="base">
              <a:spcBef>
                <a:spcPct val="20000"/>
              </a:spcBef>
              <a:spcAft>
                <a:spcPct val="0"/>
              </a:spcAft>
              <a:buClr>
                <a:srgbClr val="3DC5C5"/>
              </a:buClr>
              <a:defRPr/>
            </a:pPr>
            <a:endParaRPr lang="en-US" sz="2400" b="1" kern="0">
              <a:solidFill>
                <a:srgbClr val="002060"/>
              </a:solidFill>
              <a:latin typeface="Cambria" panose="02040503050406030204" pitchFamily="18" charset="0"/>
            </a:endParaRPr>
          </a:p>
          <a:p>
            <a:pPr marL="342900" indent="-342900" fontAlgn="base">
              <a:spcBef>
                <a:spcPct val="20000"/>
              </a:spcBef>
              <a:spcAft>
                <a:spcPct val="0"/>
              </a:spcAft>
              <a:buClr>
                <a:srgbClr val="3DC5C5"/>
              </a:buClr>
              <a:buFont typeface="Wingdings" pitchFamily="2" charset="2"/>
              <a:buChar char="v"/>
              <a:defRPr/>
            </a:pPr>
            <a:r>
              <a:rPr lang="en-US" sz="2400" kern="0">
                <a:solidFill>
                  <a:srgbClr val="002060"/>
                </a:solidFill>
                <a:latin typeface="Cambria" panose="02040503050406030204" pitchFamily="18" charset="0"/>
              </a:rPr>
              <a:t>Để thoát vòng lặp: dùng </a:t>
            </a:r>
            <a:r>
              <a:rPr lang="en-US" sz="2400" b="1" kern="0">
                <a:solidFill>
                  <a:srgbClr val="002060"/>
                </a:solidFill>
                <a:latin typeface="Cambria" panose="02040503050406030204" pitchFamily="18" charset="0"/>
              </a:rPr>
              <a:t>break</a:t>
            </a:r>
          </a:p>
          <a:p>
            <a:pPr marL="342900" indent="-342900" fontAlgn="base">
              <a:spcBef>
                <a:spcPct val="20000"/>
              </a:spcBef>
              <a:spcAft>
                <a:spcPct val="0"/>
              </a:spcAft>
              <a:buClr>
                <a:srgbClr val="3DC5C5"/>
              </a:buClr>
              <a:buFont typeface="Wingdings" pitchFamily="2" charset="2"/>
              <a:buChar char="v"/>
              <a:defRPr/>
            </a:pPr>
            <a:r>
              <a:rPr lang="en-US" sz="2400" kern="0">
                <a:solidFill>
                  <a:srgbClr val="002060"/>
                </a:solidFill>
                <a:latin typeface="Cambria" panose="02040503050406030204" pitchFamily="18" charset="0"/>
              </a:rPr>
              <a:t>Để kết thúc sớm 1 vòng lặp: dùng </a:t>
            </a:r>
            <a:r>
              <a:rPr lang="en-US" sz="2400" b="1" kern="0">
                <a:solidFill>
                  <a:srgbClr val="002060"/>
                </a:solidFill>
                <a:latin typeface="Cambria" panose="02040503050406030204" pitchFamily="18" charset="0"/>
              </a:rPr>
              <a:t>continue</a:t>
            </a:r>
          </a:p>
          <a:p>
            <a:pPr marL="342900" indent="-342900" fontAlgn="base">
              <a:spcBef>
                <a:spcPct val="20000"/>
              </a:spcBef>
              <a:spcAft>
                <a:spcPct val="0"/>
              </a:spcAft>
              <a:buClr>
                <a:srgbClr val="3DC5C5"/>
              </a:buClr>
              <a:buFont typeface="Wingdings" pitchFamily="2" charset="2"/>
              <a:buChar char="v"/>
              <a:defRPr/>
            </a:pPr>
            <a:r>
              <a:rPr lang="en-US" sz="2400" b="1" kern="0">
                <a:solidFill>
                  <a:srgbClr val="002060"/>
                </a:solidFill>
                <a:latin typeface="Cambria" panose="02040503050406030204" pitchFamily="18" charset="0"/>
              </a:rPr>
              <a:t>Lệnh trong while có thể không được thực hiện lần nào</a:t>
            </a:r>
          </a:p>
        </p:txBody>
      </p:sp>
      <p:sp>
        <p:nvSpPr>
          <p:cNvPr id="8" name="Slide Number Placeholder 7">
            <a:extLst>
              <a:ext uri="{FF2B5EF4-FFF2-40B4-BE49-F238E27FC236}">
                <a16:creationId xmlns:a16="http://schemas.microsoft.com/office/drawing/2014/main" id="{310DADE1-A846-1418-05B3-9A84D128A835}"/>
              </a:ext>
            </a:extLst>
          </p:cNvPr>
          <p:cNvSpPr>
            <a:spLocks noGrp="1"/>
          </p:cNvSpPr>
          <p:nvPr>
            <p:ph type="sldNum" sz="quarter" idx="12"/>
          </p:nvPr>
        </p:nvSpPr>
        <p:spPr/>
        <p:txBody>
          <a:bodyPr/>
          <a:lstStyle/>
          <a:p>
            <a:fld id="{48FE5571-560F-4DFC-BA97-61ACA5F7ADE1}" type="slidenum">
              <a:rPr lang="en-US" smtClean="0"/>
              <a:pPr/>
              <a:t>54</a:t>
            </a:fld>
            <a:endParaRPr lang="en-US"/>
          </a:p>
        </p:txBody>
      </p:sp>
    </p:spTree>
    <p:extLst>
      <p:ext uri="{BB962C8B-B14F-4D97-AF65-F5344CB8AC3E}">
        <p14:creationId xmlns:p14="http://schemas.microsoft.com/office/powerpoint/2010/main" val="39223666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5588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Vòng lặp while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Content Placeholder 2"/>
          <p:cNvSpPr txBox="1">
            <a:spLocks/>
          </p:cNvSpPr>
          <p:nvPr/>
        </p:nvSpPr>
        <p:spPr bwMode="auto">
          <a:xfrm>
            <a:off x="1981200" y="1076326"/>
            <a:ext cx="8229600" cy="5248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n-lt"/>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3DC5C5"/>
              </a:buClr>
              <a:defRPr/>
            </a:pPr>
            <a:r>
              <a:rPr lang="en-US" kern="0">
                <a:solidFill>
                  <a:srgbClr val="002060"/>
                </a:solidFill>
                <a:latin typeface="Cambria" panose="02040503050406030204" pitchFamily="18" charset="0"/>
              </a:rPr>
              <a:t>Ví dụ</a:t>
            </a:r>
          </a:p>
          <a:p>
            <a:pPr>
              <a:buClr>
                <a:srgbClr val="3DC5C5"/>
              </a:buClr>
              <a:buNone/>
              <a:defRPr/>
            </a:pPr>
            <a:r>
              <a:rPr lang="en-US" b="1" kern="0">
                <a:solidFill>
                  <a:srgbClr val="002060"/>
                </a:solidFill>
                <a:latin typeface="Cambria" panose="02040503050406030204" pitchFamily="18" charset="0"/>
                <a:ea typeface="Times New Roman"/>
              </a:rPr>
              <a:t>n = 1;</a:t>
            </a:r>
          </a:p>
          <a:p>
            <a:pPr marL="0">
              <a:spcBef>
                <a:spcPts val="0"/>
              </a:spcBef>
              <a:spcAft>
                <a:spcPts val="0"/>
              </a:spcAft>
              <a:buClr>
                <a:srgbClr val="3DC5C5"/>
              </a:buClr>
              <a:buNone/>
              <a:defRPr/>
            </a:pPr>
            <a:r>
              <a:rPr lang="en-US" b="1" kern="0">
                <a:solidFill>
                  <a:srgbClr val="002060"/>
                </a:solidFill>
                <a:latin typeface="Cambria" panose="02040503050406030204" pitchFamily="18" charset="0"/>
                <a:ea typeface="Times New Roman"/>
              </a:rPr>
              <a:t>i = 1;</a:t>
            </a:r>
          </a:p>
          <a:p>
            <a:pPr marL="0">
              <a:spcBef>
                <a:spcPts val="0"/>
              </a:spcBef>
              <a:spcAft>
                <a:spcPts val="0"/>
              </a:spcAft>
              <a:buClr>
                <a:srgbClr val="3DC5C5"/>
              </a:buClr>
              <a:buNone/>
              <a:defRPr/>
            </a:pPr>
            <a:r>
              <a:rPr lang="en-US" b="1" kern="0">
                <a:solidFill>
                  <a:srgbClr val="002060"/>
                </a:solidFill>
                <a:latin typeface="Cambria" panose="02040503050406030204" pitchFamily="18" charset="0"/>
                <a:ea typeface="Times New Roman"/>
              </a:rPr>
              <a:t>while (i &lt;= 5)</a:t>
            </a:r>
          </a:p>
          <a:p>
            <a:pPr marL="0">
              <a:spcBef>
                <a:spcPts val="0"/>
              </a:spcBef>
              <a:spcAft>
                <a:spcPts val="0"/>
              </a:spcAft>
              <a:buClr>
                <a:srgbClr val="3DC5C5"/>
              </a:buClr>
              <a:buNone/>
              <a:defRPr/>
            </a:pPr>
            <a:r>
              <a:rPr lang="en-US" b="1" kern="0">
                <a:solidFill>
                  <a:srgbClr val="002060"/>
                </a:solidFill>
                <a:latin typeface="Cambria" panose="02040503050406030204" pitchFamily="18" charset="0"/>
                <a:ea typeface="Times New Roman"/>
              </a:rPr>
              <a:t>{</a:t>
            </a:r>
          </a:p>
          <a:p>
            <a:pPr marL="0">
              <a:spcBef>
                <a:spcPts val="0"/>
              </a:spcBef>
              <a:spcAft>
                <a:spcPts val="0"/>
              </a:spcAft>
              <a:buClr>
                <a:srgbClr val="3DC5C5"/>
              </a:buClr>
              <a:buNone/>
              <a:defRPr/>
            </a:pPr>
            <a:r>
              <a:rPr lang="en-US" b="1" kern="0">
                <a:solidFill>
                  <a:srgbClr val="002060"/>
                </a:solidFill>
                <a:latin typeface="Cambria" panose="02040503050406030204" pitchFamily="18" charset="0"/>
                <a:ea typeface="Times New Roman"/>
              </a:rPr>
              <a:t>	n *= i;</a:t>
            </a:r>
          </a:p>
          <a:p>
            <a:pPr marL="0">
              <a:spcBef>
                <a:spcPts val="0"/>
              </a:spcBef>
              <a:spcAft>
                <a:spcPts val="0"/>
              </a:spcAft>
              <a:buClr>
                <a:srgbClr val="3DC5C5"/>
              </a:buClr>
              <a:buNone/>
              <a:defRPr/>
            </a:pPr>
            <a:r>
              <a:rPr lang="en-US" b="1" kern="0">
                <a:solidFill>
                  <a:srgbClr val="002060"/>
                </a:solidFill>
                <a:latin typeface="Cambria" panose="02040503050406030204" pitchFamily="18" charset="0"/>
                <a:ea typeface="Times New Roman"/>
              </a:rPr>
              <a:t>	i++;</a:t>
            </a:r>
          </a:p>
          <a:p>
            <a:pPr marL="0">
              <a:spcBef>
                <a:spcPts val="0"/>
              </a:spcBef>
              <a:spcAft>
                <a:spcPts val="0"/>
              </a:spcAft>
              <a:buClr>
                <a:srgbClr val="3DC5C5"/>
              </a:buClr>
              <a:buNone/>
              <a:defRPr/>
            </a:pPr>
            <a:r>
              <a:rPr lang="en-US" b="1" kern="0">
                <a:solidFill>
                  <a:srgbClr val="002060"/>
                </a:solidFill>
                <a:latin typeface="Cambria" panose="02040503050406030204" pitchFamily="18" charset="0"/>
                <a:ea typeface="Times New Roman"/>
              </a:rPr>
              <a:t>}</a:t>
            </a:r>
          </a:p>
          <a:p>
            <a:pPr lvl="0">
              <a:buClr>
                <a:srgbClr val="3DC5C5"/>
              </a:buClr>
              <a:buNone/>
              <a:defRPr/>
            </a:pPr>
            <a:r>
              <a:rPr lang="en-US">
                <a:solidFill>
                  <a:srgbClr val="002060"/>
                </a:solidFill>
              </a:rPr>
              <a:t>System.</a:t>
            </a:r>
            <a:r>
              <a:rPr lang="en-US" i="1">
                <a:solidFill>
                  <a:srgbClr val="002060"/>
                </a:solidFill>
              </a:rPr>
              <a:t>out.println</a:t>
            </a:r>
            <a:r>
              <a:rPr lang="it-IT" b="1" kern="0">
                <a:solidFill>
                  <a:srgbClr val="002060"/>
                </a:solidFill>
                <a:latin typeface="Cambria" panose="02040503050406030204" pitchFamily="18" charset="0"/>
                <a:ea typeface="Times New Roman"/>
              </a:rPr>
              <a:t>("5 giai thua ="+ n);</a:t>
            </a:r>
            <a:endParaRPr lang="en-US" b="1" kern="0">
              <a:solidFill>
                <a:srgbClr val="002060"/>
              </a:solidFill>
              <a:latin typeface="Cambria" panose="02040503050406030204" pitchFamily="18" charset="0"/>
            </a:endParaRPr>
          </a:p>
        </p:txBody>
      </p:sp>
      <p:sp>
        <p:nvSpPr>
          <p:cNvPr id="8" name="Slide Number Placeholder 7">
            <a:extLst>
              <a:ext uri="{FF2B5EF4-FFF2-40B4-BE49-F238E27FC236}">
                <a16:creationId xmlns:a16="http://schemas.microsoft.com/office/drawing/2014/main" id="{8A6F83D7-4C9B-BF10-C8FE-CFEAFA7B6395}"/>
              </a:ext>
            </a:extLst>
          </p:cNvPr>
          <p:cNvSpPr>
            <a:spLocks noGrp="1"/>
          </p:cNvSpPr>
          <p:nvPr>
            <p:ph type="sldNum" sz="quarter" idx="12"/>
          </p:nvPr>
        </p:nvSpPr>
        <p:spPr/>
        <p:txBody>
          <a:bodyPr/>
          <a:lstStyle/>
          <a:p>
            <a:fld id="{48FE5571-560F-4DFC-BA97-61ACA5F7ADE1}" type="slidenum">
              <a:rPr lang="en-US" smtClean="0"/>
              <a:pPr/>
              <a:t>55</a:t>
            </a:fld>
            <a:endParaRPr lang="en-US"/>
          </a:p>
        </p:txBody>
      </p:sp>
    </p:spTree>
    <p:extLst>
      <p:ext uri="{BB962C8B-B14F-4D97-AF65-F5344CB8AC3E}">
        <p14:creationId xmlns:p14="http://schemas.microsoft.com/office/powerpoint/2010/main" val="11089821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69402" y="1068387"/>
            <a:ext cx="3417407" cy="1865582"/>
          </a:xfrm>
          <a:prstGeom prst="rect">
            <a:avLst/>
          </a:prstGeom>
        </p:spPr>
      </p:pic>
      <p:cxnSp>
        <p:nvCxnSpPr>
          <p:cNvPr id="6" name="Straight Connector 5"/>
          <p:cNvCxnSpPr/>
          <p:nvPr/>
        </p:nvCxnSpPr>
        <p:spPr>
          <a:xfrm>
            <a:off x="5320048" y="857250"/>
            <a:ext cx="0" cy="514350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320048" y="1068387"/>
            <a:ext cx="5314340" cy="4801314"/>
          </a:xfrm>
          <a:prstGeom prst="rect">
            <a:avLst/>
          </a:prstGeom>
          <a:noFill/>
        </p:spPr>
        <p:txBody>
          <a:bodyPr wrap="none" rtlCol="0">
            <a:spAutoFit/>
          </a:bodyPr>
          <a:lstStyle/>
          <a:p>
            <a:r>
              <a:rPr lang="en-US"/>
              <a:t>Giả sử n=5, gt=1, i=1</a:t>
            </a:r>
          </a:p>
          <a:p>
            <a:r>
              <a:rPr lang="en-US"/>
              <a:t>Lần 1: kiểm tra i&lt;=n</a:t>
            </a:r>
            <a:r>
              <a:rPr lang="en-US">
                <a:sym typeface="Wingdings" panose="05000000000000000000" pitchFamily="2" charset="2"/>
              </a:rPr>
              <a:t>1&lt;=5đúnglàm body while:</a:t>
            </a:r>
          </a:p>
          <a:p>
            <a:r>
              <a:rPr lang="en-US">
                <a:sym typeface="Wingdings" panose="05000000000000000000" pitchFamily="2" charset="2"/>
              </a:rPr>
              <a:t> 	gt=gt*i=1*1=1</a:t>
            </a:r>
          </a:p>
          <a:p>
            <a:r>
              <a:rPr lang="en-US">
                <a:sym typeface="Wingdings" panose="05000000000000000000" pitchFamily="2" charset="2"/>
              </a:rPr>
              <a:t>	i++i=i+1=1+1=2</a:t>
            </a:r>
          </a:p>
          <a:p>
            <a:r>
              <a:rPr lang="en-US">
                <a:sym typeface="Wingdings" panose="05000000000000000000" pitchFamily="2" charset="2"/>
              </a:rPr>
              <a:t>Lần 2: kiểm tra i&lt;=n2&lt;=5đúnglàm body while:</a:t>
            </a:r>
          </a:p>
          <a:p>
            <a:r>
              <a:rPr lang="en-US">
                <a:sym typeface="Wingdings" panose="05000000000000000000" pitchFamily="2" charset="2"/>
              </a:rPr>
              <a:t>	gt=gt*i=1*2=2</a:t>
            </a:r>
          </a:p>
          <a:p>
            <a:r>
              <a:rPr lang="en-US">
                <a:sym typeface="Wingdings" panose="05000000000000000000" pitchFamily="2" charset="2"/>
              </a:rPr>
              <a:t>	i++i=i+1= 2+1=3</a:t>
            </a:r>
          </a:p>
          <a:p>
            <a:r>
              <a:rPr lang="en-US">
                <a:sym typeface="Wingdings" panose="05000000000000000000" pitchFamily="2" charset="2"/>
              </a:rPr>
              <a:t>Lần 3: kiểm tra i&lt;=n 3 &lt;=5đúnglàm body while:</a:t>
            </a:r>
          </a:p>
          <a:p>
            <a:r>
              <a:rPr lang="en-US">
                <a:sym typeface="Wingdings" panose="05000000000000000000" pitchFamily="2" charset="2"/>
              </a:rPr>
              <a:t>	gt=gt*i=2*3=6</a:t>
            </a:r>
          </a:p>
          <a:p>
            <a:r>
              <a:rPr lang="en-US">
                <a:sym typeface="Wingdings" panose="05000000000000000000" pitchFamily="2" charset="2"/>
              </a:rPr>
              <a:t>	i++i=i+1=3+1=4</a:t>
            </a:r>
          </a:p>
          <a:p>
            <a:r>
              <a:rPr lang="en-US"/>
              <a:t>Lần 4: Kiểm tra i&lt;=n</a:t>
            </a:r>
            <a:r>
              <a:rPr lang="en-US">
                <a:sym typeface="Wingdings" panose="05000000000000000000" pitchFamily="2" charset="2"/>
              </a:rPr>
              <a:t>4&lt;=5đúgnlàm body while:</a:t>
            </a:r>
          </a:p>
          <a:p>
            <a:r>
              <a:rPr lang="en-US">
                <a:sym typeface="Wingdings" panose="05000000000000000000" pitchFamily="2" charset="2"/>
              </a:rPr>
              <a:t>	gt=gt*i=6*4=24</a:t>
            </a:r>
          </a:p>
          <a:p>
            <a:r>
              <a:rPr lang="en-US">
                <a:sym typeface="Wingdings" panose="05000000000000000000" pitchFamily="2" charset="2"/>
              </a:rPr>
              <a:t>	i++i=i+1=4+1=5</a:t>
            </a:r>
          </a:p>
          <a:p>
            <a:r>
              <a:rPr lang="en-US">
                <a:sym typeface="Wingdings" panose="05000000000000000000" pitchFamily="2" charset="2"/>
              </a:rPr>
              <a:t>Lần 5: Kiểm tra i&lt;=n5&lt;=5đúnglàm body while:</a:t>
            </a:r>
          </a:p>
          <a:p>
            <a:r>
              <a:rPr lang="en-US">
                <a:sym typeface="Wingdings" panose="05000000000000000000" pitchFamily="2" charset="2"/>
              </a:rPr>
              <a:t>	</a:t>
            </a:r>
            <a:r>
              <a:rPr lang="en-US">
                <a:solidFill>
                  <a:srgbClr val="FF0000"/>
                </a:solidFill>
                <a:sym typeface="Wingdings" panose="05000000000000000000" pitchFamily="2" charset="2"/>
              </a:rPr>
              <a:t>gt=gt*i=24*5=120</a:t>
            </a:r>
          </a:p>
          <a:p>
            <a:r>
              <a:rPr lang="en-US">
                <a:sym typeface="Wingdings" panose="05000000000000000000" pitchFamily="2" charset="2"/>
              </a:rPr>
              <a:t>	i+=i=i+1=5+1=6</a:t>
            </a:r>
          </a:p>
          <a:p>
            <a:r>
              <a:rPr lang="en-US">
                <a:sym typeface="Wingdings" panose="05000000000000000000" pitchFamily="2" charset="2"/>
              </a:rPr>
              <a:t>Lần 6: kiể mtra i&lt;=n6&lt;=5saingừng while</a:t>
            </a:r>
            <a:endParaRPr lang="en-US"/>
          </a:p>
        </p:txBody>
      </p:sp>
      <p:sp>
        <p:nvSpPr>
          <p:cNvPr id="2" name="Slide Number Placeholder 1">
            <a:extLst>
              <a:ext uri="{FF2B5EF4-FFF2-40B4-BE49-F238E27FC236}">
                <a16:creationId xmlns:a16="http://schemas.microsoft.com/office/drawing/2014/main" id="{962F0BB2-9EC5-A5CC-250F-C92BD574056E}"/>
              </a:ext>
            </a:extLst>
          </p:cNvPr>
          <p:cNvSpPr>
            <a:spLocks noGrp="1"/>
          </p:cNvSpPr>
          <p:nvPr>
            <p:ph type="sldNum" sz="quarter" idx="12"/>
          </p:nvPr>
        </p:nvSpPr>
        <p:spPr/>
        <p:txBody>
          <a:bodyPr/>
          <a:lstStyle/>
          <a:p>
            <a:fld id="{5BED0315-10DD-40E3-998C-3B4D5D35B9DC}" type="slidenum">
              <a:rPr lang="vi-VN" smtClean="0"/>
              <a:t>56</a:t>
            </a:fld>
            <a:endParaRPr lang="vi-VN"/>
          </a:p>
        </p:txBody>
      </p:sp>
    </p:spTree>
    <p:extLst>
      <p:ext uri="{BB962C8B-B14F-4D97-AF65-F5344CB8AC3E}">
        <p14:creationId xmlns:p14="http://schemas.microsoft.com/office/powerpoint/2010/main" val="14775154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en-US" kern="0">
                <a:solidFill>
                  <a:srgbClr val="002060"/>
                </a:solidFill>
                <a:latin typeface="Cambria" panose="02040503050406030204" pitchFamily="18" charset="0"/>
              </a:rPr>
              <a:t>Vòng lặp do..while</a:t>
            </a: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9BC5EB6A-A2BC-62E9-EB98-D483FA1000EB}"/>
              </a:ext>
            </a:extLst>
          </p:cNvPr>
          <p:cNvSpPr>
            <a:spLocks noGrp="1"/>
          </p:cNvSpPr>
          <p:nvPr>
            <p:ph type="sldNum" sz="quarter" idx="12"/>
          </p:nvPr>
        </p:nvSpPr>
        <p:spPr/>
        <p:txBody>
          <a:bodyPr/>
          <a:lstStyle/>
          <a:p>
            <a:fld id="{48FE5571-560F-4DFC-BA97-61ACA5F7ADE1}" type="slidenum">
              <a:rPr lang="en-US" smtClean="0"/>
              <a:pPr/>
              <a:t>57</a:t>
            </a:fld>
            <a:endParaRPr lang="en-US"/>
          </a:p>
        </p:txBody>
      </p:sp>
    </p:spTree>
    <p:extLst>
      <p:ext uri="{BB962C8B-B14F-4D97-AF65-F5344CB8AC3E}">
        <p14:creationId xmlns:p14="http://schemas.microsoft.com/office/powerpoint/2010/main" val="11872030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 Cú pháp và cách hoạt động vòng lặp do...while</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C0AA3D7F-76B4-557B-1895-A0A06086A534}"/>
              </a:ext>
            </a:extLst>
          </p:cNvPr>
          <p:cNvSpPr>
            <a:spLocks noGrp="1"/>
          </p:cNvSpPr>
          <p:nvPr>
            <p:ph type="sldNum" sz="quarter" idx="12"/>
          </p:nvPr>
        </p:nvSpPr>
        <p:spPr/>
        <p:txBody>
          <a:bodyPr/>
          <a:lstStyle/>
          <a:p>
            <a:fld id="{48FE5571-560F-4DFC-BA97-61ACA5F7ADE1}" type="slidenum">
              <a:rPr lang="en-US" smtClean="0"/>
              <a:pPr/>
              <a:t>58</a:t>
            </a:fld>
            <a:endParaRPr lang="en-US"/>
          </a:p>
        </p:txBody>
      </p:sp>
    </p:spTree>
    <p:extLst>
      <p:ext uri="{BB962C8B-B14F-4D97-AF65-F5344CB8AC3E}">
        <p14:creationId xmlns:p14="http://schemas.microsoft.com/office/powerpoint/2010/main" val="29202812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5588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Vòng lặp do…while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Content Placeholder 4"/>
          <p:cNvSpPr txBox="1">
            <a:spLocks/>
          </p:cNvSpPr>
          <p:nvPr/>
        </p:nvSpPr>
        <p:spPr>
          <a:xfrm>
            <a:off x="2171700" y="1151513"/>
            <a:ext cx="4724400" cy="5334000"/>
          </a:xfrm>
          <a:prstGeom prst="rect">
            <a:avLst/>
          </a:prstGeom>
        </p:spPr>
        <p:txBody>
          <a:bodyP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u="sng">
                <a:latin typeface="Times New Roman" pitchFamily="18" charset="0"/>
                <a:cs typeface="Times New Roman" pitchFamily="18" charset="0"/>
              </a:rPr>
              <a:t>Cú pháp</a:t>
            </a:r>
            <a:r>
              <a:rPr lang="en-US" sz="2800">
                <a:latin typeface="Times New Roman" pitchFamily="18" charset="0"/>
                <a:cs typeface="Times New Roman" pitchFamily="18" charset="0"/>
              </a:rPr>
              <a:t>: </a:t>
            </a:r>
          </a:p>
          <a:p>
            <a:pPr>
              <a:buFont typeface="Arial" pitchFamily="34" charset="0"/>
              <a:buNone/>
            </a:pPr>
            <a:r>
              <a:rPr lang="en-US" sz="2400" b="1">
                <a:solidFill>
                  <a:srgbClr val="C00000"/>
                </a:solidFill>
                <a:latin typeface="Times New Roman" pitchFamily="18" charset="0"/>
                <a:cs typeface="Times New Roman" pitchFamily="18" charset="0"/>
              </a:rPr>
              <a:t>	do {  </a:t>
            </a:r>
          </a:p>
          <a:p>
            <a:pPr lvl="1"/>
            <a:r>
              <a:rPr lang="en-US" sz="2400" b="1">
                <a:solidFill>
                  <a:srgbClr val="C00000"/>
                </a:solidFill>
                <a:latin typeface="Times New Roman" pitchFamily="18" charset="0"/>
                <a:cs typeface="Times New Roman" pitchFamily="18" charset="0"/>
              </a:rPr>
              <a:t>		statement; </a:t>
            </a:r>
          </a:p>
          <a:p>
            <a:pPr lvl="1">
              <a:buFont typeface="Arial" pitchFamily="34" charset="0"/>
              <a:buNone/>
            </a:pPr>
            <a:r>
              <a:rPr lang="en-US" sz="2400" b="1">
                <a:solidFill>
                  <a:srgbClr val="C00000"/>
                </a:solidFill>
                <a:latin typeface="Times New Roman" pitchFamily="18" charset="0"/>
                <a:cs typeface="Times New Roman" pitchFamily="18" charset="0"/>
              </a:rPr>
              <a:t>	   }while(expression);</a:t>
            </a:r>
          </a:p>
          <a:p>
            <a:pPr>
              <a:buFont typeface="Tahoma" pitchFamily="34" charset="0"/>
              <a:buChar char="●"/>
            </a:pPr>
            <a:r>
              <a:rPr lang="en-US" sz="2800" u="sng">
                <a:latin typeface="Times New Roman" pitchFamily="18" charset="0"/>
                <a:cs typeface="Times New Roman" pitchFamily="18" charset="0"/>
              </a:rPr>
              <a:t>Ý nghĩa</a:t>
            </a:r>
            <a:r>
              <a:rPr lang="en-US" sz="2800">
                <a:latin typeface="Times New Roman" pitchFamily="18" charset="0"/>
                <a:cs typeface="Times New Roman" pitchFamily="18" charset="0"/>
              </a:rPr>
              <a:t>:</a:t>
            </a:r>
          </a:p>
          <a:p>
            <a:pPr>
              <a:buFont typeface="Tahoma" pitchFamily="34" charset="0"/>
              <a:buChar char="−"/>
            </a:pPr>
            <a:r>
              <a:rPr lang="en-US" sz="2800">
                <a:latin typeface="Times New Roman" pitchFamily="18" charset="0"/>
                <a:cs typeface="Times New Roman" pitchFamily="18" charset="0"/>
              </a:rPr>
              <a:t>B1:Statement được thực hiện </a:t>
            </a:r>
          </a:p>
          <a:p>
            <a:pPr>
              <a:buFont typeface="Tahoma" pitchFamily="34" charset="0"/>
              <a:buChar char="−"/>
            </a:pPr>
            <a:r>
              <a:rPr lang="en-US" sz="2800">
                <a:latin typeface="Times New Roman" pitchFamily="18" charset="0"/>
                <a:cs typeface="Times New Roman" pitchFamily="18" charset="0"/>
              </a:rPr>
              <a:t>B2:Expression được định trị. </a:t>
            </a:r>
          </a:p>
          <a:p>
            <a:pPr>
              <a:buFont typeface="Tahoma" pitchFamily="34" charset="0"/>
              <a:buChar char="−"/>
            </a:pPr>
            <a:r>
              <a:rPr lang="en-US" sz="2800">
                <a:latin typeface="Times New Roman" pitchFamily="18" charset="0"/>
                <a:cs typeface="Times New Roman" pitchFamily="18" charset="0"/>
              </a:rPr>
              <a:t>Nếu expression là true thì quay lại bước 1 </a:t>
            </a:r>
          </a:p>
          <a:p>
            <a:pPr>
              <a:buFont typeface="Tahoma" pitchFamily="34" charset="0"/>
              <a:buChar char="−"/>
            </a:pPr>
            <a:r>
              <a:rPr lang="en-US" sz="2800">
                <a:latin typeface="Times New Roman" pitchFamily="18" charset="0"/>
                <a:cs typeface="Times New Roman" pitchFamily="18" charset="0"/>
              </a:rPr>
              <a:t>Nếu expression là false thì thoát khỏi vòng lặp. </a:t>
            </a:r>
          </a:p>
        </p:txBody>
      </p:sp>
      <p:pic>
        <p:nvPicPr>
          <p:cNvPr id="10" name="Picture 9"/>
          <p:cNvPicPr>
            <a:picLocks noChangeAspect="1" noChangeArrowheads="1"/>
          </p:cNvPicPr>
          <p:nvPr/>
        </p:nvPicPr>
        <p:blipFill>
          <a:blip r:embed="rId2"/>
          <a:srcRect/>
          <a:stretch>
            <a:fillRect/>
          </a:stretch>
        </p:blipFill>
        <p:spPr bwMode="auto">
          <a:xfrm>
            <a:off x="6886575" y="1143001"/>
            <a:ext cx="3133725" cy="4914763"/>
          </a:xfrm>
          <a:prstGeom prst="rect">
            <a:avLst/>
          </a:prstGeom>
          <a:noFill/>
          <a:ln w="9525">
            <a:noFill/>
            <a:miter lim="800000"/>
            <a:headEnd/>
            <a:tailEnd/>
          </a:ln>
          <a:effectLst/>
        </p:spPr>
      </p:pic>
      <p:sp>
        <p:nvSpPr>
          <p:cNvPr id="8" name="Slide Number Placeholder 7">
            <a:extLst>
              <a:ext uri="{FF2B5EF4-FFF2-40B4-BE49-F238E27FC236}">
                <a16:creationId xmlns:a16="http://schemas.microsoft.com/office/drawing/2014/main" id="{48C06F18-48C9-32FB-3CD7-6B6F862113B2}"/>
              </a:ext>
            </a:extLst>
          </p:cNvPr>
          <p:cNvSpPr>
            <a:spLocks noGrp="1"/>
          </p:cNvSpPr>
          <p:nvPr>
            <p:ph type="sldNum" sz="quarter" idx="12"/>
          </p:nvPr>
        </p:nvSpPr>
        <p:spPr/>
        <p:txBody>
          <a:bodyPr/>
          <a:lstStyle/>
          <a:p>
            <a:fld id="{48FE5571-560F-4DFC-BA97-61ACA5F7ADE1}" type="slidenum">
              <a:rPr lang="en-US" smtClean="0"/>
              <a:pPr/>
              <a:t>59</a:t>
            </a:fld>
            <a:endParaRPr lang="en-US"/>
          </a:p>
        </p:txBody>
      </p:sp>
    </p:spTree>
    <p:extLst>
      <p:ext uri="{BB962C8B-B14F-4D97-AF65-F5344CB8AC3E}">
        <p14:creationId xmlns:p14="http://schemas.microsoft.com/office/powerpoint/2010/main" val="32338714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5588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Vòng lặp do…while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1981200" y="1076326"/>
            <a:ext cx="8458200" cy="5248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n-lt"/>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3DC5C5"/>
              </a:buClr>
              <a:defRPr/>
            </a:pPr>
            <a:r>
              <a:rPr lang="en-US" kern="0">
                <a:solidFill>
                  <a:srgbClr val="002060"/>
                </a:solidFill>
                <a:latin typeface="Cambria" panose="02040503050406030204" pitchFamily="18" charset="0"/>
              </a:rPr>
              <a:t>Để thoát vòng lặp: dùng </a:t>
            </a:r>
            <a:r>
              <a:rPr lang="en-US" b="1" kern="0">
                <a:solidFill>
                  <a:srgbClr val="002060"/>
                </a:solidFill>
                <a:latin typeface="Cambria" panose="02040503050406030204" pitchFamily="18" charset="0"/>
              </a:rPr>
              <a:t>break</a:t>
            </a:r>
          </a:p>
          <a:p>
            <a:pPr>
              <a:buClr>
                <a:srgbClr val="3DC5C5"/>
              </a:buClr>
              <a:defRPr/>
            </a:pPr>
            <a:r>
              <a:rPr lang="en-US" kern="0">
                <a:solidFill>
                  <a:srgbClr val="002060"/>
                </a:solidFill>
                <a:latin typeface="Cambria" panose="02040503050406030204" pitchFamily="18" charset="0"/>
              </a:rPr>
              <a:t>Để kết thúc sớm 1 vòng lặp: dùng </a:t>
            </a:r>
            <a:r>
              <a:rPr lang="en-US" b="1" kern="0">
                <a:solidFill>
                  <a:srgbClr val="002060"/>
                </a:solidFill>
                <a:latin typeface="Cambria" panose="02040503050406030204" pitchFamily="18" charset="0"/>
              </a:rPr>
              <a:t>continue</a:t>
            </a:r>
          </a:p>
          <a:p>
            <a:pPr>
              <a:buClr>
                <a:srgbClr val="3DC5C5"/>
              </a:buClr>
              <a:defRPr/>
            </a:pPr>
            <a:r>
              <a:rPr lang="en-US" kern="0">
                <a:solidFill>
                  <a:srgbClr val="002060"/>
                </a:solidFill>
                <a:latin typeface="Cambria" panose="02040503050406030204" pitchFamily="18" charset="0"/>
              </a:rPr>
              <a:t>Nhận xét:</a:t>
            </a:r>
          </a:p>
          <a:p>
            <a:pPr lvl="1">
              <a:buClr>
                <a:srgbClr val="2045AE"/>
              </a:buClr>
              <a:defRPr/>
            </a:pPr>
            <a:r>
              <a:rPr lang="en-US" kern="0">
                <a:solidFill>
                  <a:srgbClr val="002060"/>
                </a:solidFill>
                <a:latin typeface="Cambria" panose="02040503050406030204" pitchFamily="18" charset="0"/>
              </a:rPr>
              <a:t>Vòng lặp được chạy ít nhất 1 lần</a:t>
            </a:r>
          </a:p>
        </p:txBody>
      </p:sp>
      <p:sp>
        <p:nvSpPr>
          <p:cNvPr id="9" name="Slide Number Placeholder 8">
            <a:extLst>
              <a:ext uri="{FF2B5EF4-FFF2-40B4-BE49-F238E27FC236}">
                <a16:creationId xmlns:a16="http://schemas.microsoft.com/office/drawing/2014/main" id="{2F153DAA-2003-F165-2B98-E2CB21A3275C}"/>
              </a:ext>
            </a:extLst>
          </p:cNvPr>
          <p:cNvSpPr>
            <a:spLocks noGrp="1"/>
          </p:cNvSpPr>
          <p:nvPr>
            <p:ph type="sldNum" sz="quarter" idx="12"/>
          </p:nvPr>
        </p:nvSpPr>
        <p:spPr/>
        <p:txBody>
          <a:bodyPr/>
          <a:lstStyle/>
          <a:p>
            <a:fld id="{48FE5571-560F-4DFC-BA97-61ACA5F7ADE1}" type="slidenum">
              <a:rPr lang="en-US" smtClean="0"/>
              <a:pPr/>
              <a:t>60</a:t>
            </a:fld>
            <a:endParaRPr lang="en-US"/>
          </a:p>
        </p:txBody>
      </p:sp>
    </p:spTree>
    <p:extLst>
      <p:ext uri="{BB962C8B-B14F-4D97-AF65-F5344CB8AC3E}">
        <p14:creationId xmlns:p14="http://schemas.microsoft.com/office/powerpoint/2010/main" val="41565248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5588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Vòng lặp do…while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Content Placeholder 2"/>
          <p:cNvSpPr txBox="1">
            <a:spLocks/>
          </p:cNvSpPr>
          <p:nvPr/>
        </p:nvSpPr>
        <p:spPr bwMode="auto">
          <a:xfrm>
            <a:off x="1981200" y="1152526"/>
            <a:ext cx="7696200" cy="5248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n-lt"/>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3DC5C5"/>
              </a:buClr>
              <a:defRPr/>
            </a:pPr>
            <a:r>
              <a:rPr lang="en-US" kern="0">
                <a:solidFill>
                  <a:srgbClr val="2045AE"/>
                </a:solidFill>
                <a:latin typeface="Cambria" panose="02040503050406030204" pitchFamily="18" charset="0"/>
              </a:rPr>
              <a:t>Ví dụ</a:t>
            </a:r>
          </a:p>
          <a:p>
            <a:pPr>
              <a:buClr>
                <a:srgbClr val="3DC5C5"/>
              </a:buClr>
              <a:defRPr/>
            </a:pPr>
            <a:endParaRPr lang="en-US" kern="0">
              <a:solidFill>
                <a:srgbClr val="2045AE"/>
              </a:solidFill>
              <a:latin typeface="Cambria" panose="02040503050406030204" pitchFamily="18" charset="0"/>
            </a:endParaRPr>
          </a:p>
          <a:p>
            <a:pPr marL="0">
              <a:spcBef>
                <a:spcPts val="0"/>
              </a:spcBef>
              <a:spcAft>
                <a:spcPts val="0"/>
              </a:spcAft>
              <a:buClr>
                <a:srgbClr val="3DC5C5"/>
              </a:buClr>
              <a:buNone/>
              <a:defRPr/>
            </a:pPr>
            <a:r>
              <a:rPr lang="en-US" sz="2800" b="1" kern="0">
                <a:solidFill>
                  <a:srgbClr val="2045AE"/>
                </a:solidFill>
                <a:latin typeface="Cambria" panose="02040503050406030204" pitchFamily="18" charset="0"/>
                <a:ea typeface="Times New Roman"/>
              </a:rPr>
              <a:t>n = 1;</a:t>
            </a:r>
          </a:p>
          <a:p>
            <a:pPr marL="0">
              <a:spcBef>
                <a:spcPts val="0"/>
              </a:spcBef>
              <a:spcAft>
                <a:spcPts val="0"/>
              </a:spcAft>
              <a:buClr>
                <a:srgbClr val="3DC5C5"/>
              </a:buClr>
              <a:buNone/>
              <a:defRPr/>
            </a:pPr>
            <a:r>
              <a:rPr lang="en-US" sz="2800" b="1" kern="0">
                <a:solidFill>
                  <a:srgbClr val="2045AE"/>
                </a:solidFill>
                <a:latin typeface="Cambria" panose="02040503050406030204" pitchFamily="18" charset="0"/>
                <a:ea typeface="Times New Roman"/>
              </a:rPr>
              <a:t>i = 1;</a:t>
            </a:r>
          </a:p>
          <a:p>
            <a:pPr marL="0">
              <a:spcBef>
                <a:spcPts val="0"/>
              </a:spcBef>
              <a:spcAft>
                <a:spcPts val="0"/>
              </a:spcAft>
              <a:buClr>
                <a:srgbClr val="3DC5C5"/>
              </a:buClr>
              <a:buNone/>
              <a:defRPr/>
            </a:pPr>
            <a:r>
              <a:rPr lang="en-US" sz="2800" b="1" kern="0">
                <a:solidFill>
                  <a:srgbClr val="0000FF"/>
                </a:solidFill>
                <a:latin typeface="Cambria" panose="02040503050406030204" pitchFamily="18" charset="0"/>
                <a:ea typeface="Times New Roman"/>
              </a:rPr>
              <a:t>do</a:t>
            </a:r>
            <a:endParaRPr lang="en-US" sz="2800" b="1" kern="0">
              <a:solidFill>
                <a:srgbClr val="2045AE"/>
              </a:solidFill>
              <a:latin typeface="Cambria" panose="02040503050406030204" pitchFamily="18" charset="0"/>
              <a:ea typeface="Times New Roman"/>
            </a:endParaRPr>
          </a:p>
          <a:p>
            <a:pPr marL="0">
              <a:spcBef>
                <a:spcPts val="0"/>
              </a:spcBef>
              <a:spcAft>
                <a:spcPts val="0"/>
              </a:spcAft>
              <a:buClr>
                <a:srgbClr val="3DC5C5"/>
              </a:buClr>
              <a:buNone/>
              <a:defRPr/>
            </a:pPr>
            <a:r>
              <a:rPr lang="en-US" sz="2800" b="1" kern="0">
                <a:solidFill>
                  <a:srgbClr val="2045AE"/>
                </a:solidFill>
                <a:latin typeface="Cambria" panose="02040503050406030204" pitchFamily="18" charset="0"/>
                <a:ea typeface="Times New Roman"/>
              </a:rPr>
              <a:t>{</a:t>
            </a:r>
          </a:p>
          <a:p>
            <a:pPr marL="0">
              <a:spcBef>
                <a:spcPts val="0"/>
              </a:spcBef>
              <a:spcAft>
                <a:spcPts val="0"/>
              </a:spcAft>
              <a:buClr>
                <a:srgbClr val="3DC5C5"/>
              </a:buClr>
              <a:buNone/>
              <a:defRPr/>
            </a:pPr>
            <a:r>
              <a:rPr lang="en-US" sz="2800" b="1" kern="0">
                <a:solidFill>
                  <a:srgbClr val="2045AE"/>
                </a:solidFill>
                <a:latin typeface="Cambria" panose="02040503050406030204" pitchFamily="18" charset="0"/>
                <a:ea typeface="Times New Roman"/>
              </a:rPr>
              <a:t>	n *= i;</a:t>
            </a:r>
          </a:p>
          <a:p>
            <a:pPr marL="0">
              <a:spcBef>
                <a:spcPts val="0"/>
              </a:spcBef>
              <a:spcAft>
                <a:spcPts val="0"/>
              </a:spcAft>
              <a:buClr>
                <a:srgbClr val="3DC5C5"/>
              </a:buClr>
              <a:buNone/>
              <a:defRPr/>
            </a:pPr>
            <a:r>
              <a:rPr lang="en-US" sz="2800" b="1" kern="0">
                <a:solidFill>
                  <a:srgbClr val="2045AE"/>
                </a:solidFill>
                <a:latin typeface="Cambria" panose="02040503050406030204" pitchFamily="18" charset="0"/>
                <a:ea typeface="Times New Roman"/>
              </a:rPr>
              <a:t>	i++;</a:t>
            </a:r>
          </a:p>
          <a:p>
            <a:pPr marL="0">
              <a:spcBef>
                <a:spcPts val="0"/>
              </a:spcBef>
              <a:spcAft>
                <a:spcPts val="0"/>
              </a:spcAft>
              <a:buClr>
                <a:srgbClr val="3DC5C5"/>
              </a:buClr>
              <a:buNone/>
              <a:defRPr/>
            </a:pPr>
            <a:r>
              <a:rPr lang="en-US" sz="2800" b="1" kern="0">
                <a:solidFill>
                  <a:srgbClr val="2045AE"/>
                </a:solidFill>
                <a:latin typeface="Cambria" panose="02040503050406030204" pitchFamily="18" charset="0"/>
                <a:ea typeface="Times New Roman"/>
              </a:rPr>
              <a:t>} </a:t>
            </a:r>
            <a:r>
              <a:rPr lang="en-US" sz="2800" b="1" kern="0">
                <a:solidFill>
                  <a:srgbClr val="0000FF"/>
                </a:solidFill>
                <a:latin typeface="Cambria" panose="02040503050406030204" pitchFamily="18" charset="0"/>
                <a:ea typeface="Times New Roman"/>
              </a:rPr>
              <a:t>while</a:t>
            </a:r>
            <a:r>
              <a:rPr lang="en-US" sz="2800" b="1" kern="0">
                <a:solidFill>
                  <a:srgbClr val="2045AE"/>
                </a:solidFill>
                <a:latin typeface="Cambria" panose="02040503050406030204" pitchFamily="18" charset="0"/>
                <a:ea typeface="Times New Roman"/>
              </a:rPr>
              <a:t> (i&lt;=5);</a:t>
            </a:r>
          </a:p>
          <a:p>
            <a:pPr marL="0">
              <a:spcBef>
                <a:spcPts val="0"/>
              </a:spcBef>
              <a:spcAft>
                <a:spcPts val="0"/>
              </a:spcAft>
              <a:buClr>
                <a:srgbClr val="3DC5C5"/>
              </a:buClr>
              <a:buNone/>
              <a:defRPr/>
            </a:pPr>
            <a:r>
              <a:rPr lang="en-US" sz="2800">
                <a:solidFill>
                  <a:srgbClr val="002060"/>
                </a:solidFill>
              </a:rPr>
              <a:t>System.</a:t>
            </a:r>
            <a:r>
              <a:rPr lang="en-US" sz="2800" i="1">
                <a:solidFill>
                  <a:srgbClr val="002060"/>
                </a:solidFill>
              </a:rPr>
              <a:t>out.println</a:t>
            </a:r>
            <a:r>
              <a:rPr lang="en-US" sz="2800" b="1" kern="0">
                <a:solidFill>
                  <a:srgbClr val="2045AE"/>
                </a:solidFill>
                <a:latin typeface="Cambria" panose="02040503050406030204" pitchFamily="18" charset="0"/>
                <a:ea typeface="Times New Roman"/>
              </a:rPr>
              <a:t>(</a:t>
            </a:r>
            <a:r>
              <a:rPr lang="en-US" sz="2800" b="1" kern="0">
                <a:solidFill>
                  <a:srgbClr val="A31515"/>
                </a:solidFill>
                <a:latin typeface="Cambria" panose="02040503050406030204" pitchFamily="18" charset="0"/>
                <a:ea typeface="Times New Roman"/>
              </a:rPr>
              <a:t>"5! = "</a:t>
            </a:r>
            <a:r>
              <a:rPr lang="en-US" sz="2800" b="1" kern="0">
                <a:solidFill>
                  <a:srgbClr val="2045AE"/>
                </a:solidFill>
                <a:latin typeface="Cambria" panose="02040503050406030204" pitchFamily="18" charset="0"/>
                <a:ea typeface="Times New Roman"/>
              </a:rPr>
              <a:t>+ n);</a:t>
            </a:r>
          </a:p>
          <a:p>
            <a:pPr>
              <a:buClr>
                <a:srgbClr val="3DC5C5"/>
              </a:buClr>
              <a:defRPr/>
            </a:pPr>
            <a:endParaRPr lang="en-US" kern="0">
              <a:solidFill>
                <a:srgbClr val="2045AE"/>
              </a:solidFill>
              <a:latin typeface="Cambria" panose="02040503050406030204" pitchFamily="18" charset="0"/>
            </a:endParaRPr>
          </a:p>
        </p:txBody>
      </p:sp>
      <p:sp>
        <p:nvSpPr>
          <p:cNvPr id="8" name="Slide Number Placeholder 7">
            <a:extLst>
              <a:ext uri="{FF2B5EF4-FFF2-40B4-BE49-F238E27FC236}">
                <a16:creationId xmlns:a16="http://schemas.microsoft.com/office/drawing/2014/main" id="{8C9F003D-F824-3858-63D9-F30B6C3489CE}"/>
              </a:ext>
            </a:extLst>
          </p:cNvPr>
          <p:cNvSpPr>
            <a:spLocks noGrp="1"/>
          </p:cNvSpPr>
          <p:nvPr>
            <p:ph type="sldNum" sz="quarter" idx="12"/>
          </p:nvPr>
        </p:nvSpPr>
        <p:spPr/>
        <p:txBody>
          <a:bodyPr/>
          <a:lstStyle/>
          <a:p>
            <a:fld id="{48FE5571-560F-4DFC-BA97-61ACA5F7ADE1}" type="slidenum">
              <a:rPr lang="en-US" smtClean="0"/>
              <a:pPr/>
              <a:t>61</a:t>
            </a:fld>
            <a:endParaRPr lang="en-US"/>
          </a:p>
        </p:txBody>
      </p:sp>
    </p:spTree>
    <p:extLst>
      <p:ext uri="{BB962C8B-B14F-4D97-AF65-F5344CB8AC3E}">
        <p14:creationId xmlns:p14="http://schemas.microsoft.com/office/powerpoint/2010/main" val="2152912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44928" y="1293682"/>
            <a:ext cx="3416843" cy="2120503"/>
          </a:xfrm>
          <a:prstGeom prst="rect">
            <a:avLst/>
          </a:prstGeom>
        </p:spPr>
      </p:pic>
      <p:cxnSp>
        <p:nvCxnSpPr>
          <p:cNvPr id="6" name="Straight Connector 5"/>
          <p:cNvCxnSpPr/>
          <p:nvPr/>
        </p:nvCxnSpPr>
        <p:spPr>
          <a:xfrm>
            <a:off x="5320048" y="857250"/>
            <a:ext cx="0" cy="514350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445617" y="1002139"/>
            <a:ext cx="4400628" cy="4524315"/>
          </a:xfrm>
          <a:prstGeom prst="rect">
            <a:avLst/>
          </a:prstGeom>
          <a:noFill/>
        </p:spPr>
        <p:txBody>
          <a:bodyPr wrap="none" rtlCol="0">
            <a:spAutoFit/>
          </a:bodyPr>
          <a:lstStyle/>
          <a:p>
            <a:r>
              <a:rPr lang="en-US"/>
              <a:t>Giả sử: n=5; gt=1, i=1</a:t>
            </a:r>
          </a:p>
          <a:p>
            <a:r>
              <a:rPr lang="en-US"/>
              <a:t>Lần 1: gt=gt*i=1*1=1</a:t>
            </a:r>
          </a:p>
          <a:p>
            <a:r>
              <a:rPr lang="en-US"/>
              <a:t>	i++</a:t>
            </a:r>
            <a:r>
              <a:rPr lang="en-US">
                <a:sym typeface="Wingdings" panose="05000000000000000000" pitchFamily="2" charset="2"/>
              </a:rPr>
              <a:t>i=i+1=1+1=2</a:t>
            </a:r>
          </a:p>
          <a:p>
            <a:r>
              <a:rPr lang="en-US">
                <a:sym typeface="Wingdings" panose="05000000000000000000" pitchFamily="2" charset="2"/>
              </a:rPr>
              <a:t>Kiểm tra i&lt;=n 2&lt;=5đúng</a:t>
            </a:r>
          </a:p>
          <a:p>
            <a:r>
              <a:rPr lang="en-US">
                <a:sym typeface="Wingdings" panose="05000000000000000000" pitchFamily="2" charset="2"/>
              </a:rPr>
              <a:t>Lần 2: gt=gt*i=1*2=2</a:t>
            </a:r>
          </a:p>
          <a:p>
            <a:r>
              <a:rPr lang="en-US">
                <a:sym typeface="Wingdings" panose="05000000000000000000" pitchFamily="2" charset="2"/>
              </a:rPr>
              <a:t>	i++i=i+1=2+1=3</a:t>
            </a:r>
          </a:p>
          <a:p>
            <a:r>
              <a:rPr lang="en-US">
                <a:sym typeface="Wingdings" panose="05000000000000000000" pitchFamily="2" charset="2"/>
              </a:rPr>
              <a:t>Kiểm tra i&lt;=n 3&lt;=5đúng</a:t>
            </a:r>
          </a:p>
          <a:p>
            <a:r>
              <a:rPr lang="en-US">
                <a:sym typeface="Wingdings" panose="05000000000000000000" pitchFamily="2" charset="2"/>
              </a:rPr>
              <a:t>Lần 3: gt=gt*i=2*3=6</a:t>
            </a:r>
          </a:p>
          <a:p>
            <a:r>
              <a:rPr lang="en-US">
                <a:sym typeface="Wingdings" panose="05000000000000000000" pitchFamily="2" charset="2"/>
              </a:rPr>
              <a:t>	i++i=i+1=3+1=4</a:t>
            </a:r>
          </a:p>
          <a:p>
            <a:r>
              <a:rPr lang="en-US">
                <a:sym typeface="Wingdings" panose="05000000000000000000" pitchFamily="2" charset="2"/>
              </a:rPr>
              <a:t>Kiểm tra i&lt;=n 4&lt;=5đúng</a:t>
            </a:r>
          </a:p>
          <a:p>
            <a:r>
              <a:rPr lang="en-US">
                <a:sym typeface="Wingdings" panose="05000000000000000000" pitchFamily="2" charset="2"/>
              </a:rPr>
              <a:t>Lần 4: gt=gt*i=6*4=24</a:t>
            </a:r>
          </a:p>
          <a:p>
            <a:r>
              <a:rPr lang="en-US">
                <a:sym typeface="Wingdings" panose="05000000000000000000" pitchFamily="2" charset="2"/>
              </a:rPr>
              <a:t>	i++i=i+1=4+1=5</a:t>
            </a:r>
          </a:p>
          <a:p>
            <a:r>
              <a:rPr lang="en-US">
                <a:sym typeface="Wingdings" panose="05000000000000000000" pitchFamily="2" charset="2"/>
              </a:rPr>
              <a:t>Kiểm tra i&lt;=n5&lt;=5đúng</a:t>
            </a:r>
          </a:p>
          <a:p>
            <a:r>
              <a:rPr lang="en-US">
                <a:sym typeface="Wingdings" panose="05000000000000000000" pitchFamily="2" charset="2"/>
              </a:rPr>
              <a:t>Lần 5: gt=gt*i=24*5=120</a:t>
            </a:r>
          </a:p>
          <a:p>
            <a:r>
              <a:rPr lang="en-US">
                <a:sym typeface="Wingdings" panose="05000000000000000000" pitchFamily="2" charset="2"/>
              </a:rPr>
              <a:t>	i++i=i+1=5+1=6</a:t>
            </a:r>
          </a:p>
          <a:p>
            <a:r>
              <a:rPr lang="en-US">
                <a:sym typeface="Wingdings" panose="05000000000000000000" pitchFamily="2" charset="2"/>
              </a:rPr>
              <a:t>Kiểm tra i&lt;=n 6&lt;=5saingừng do while</a:t>
            </a:r>
            <a:endParaRPr lang="en-US"/>
          </a:p>
        </p:txBody>
      </p:sp>
      <p:sp>
        <p:nvSpPr>
          <p:cNvPr id="2" name="Slide Number Placeholder 1">
            <a:extLst>
              <a:ext uri="{FF2B5EF4-FFF2-40B4-BE49-F238E27FC236}">
                <a16:creationId xmlns:a16="http://schemas.microsoft.com/office/drawing/2014/main" id="{B4655105-7E37-0B6B-EF54-F313DC371392}"/>
              </a:ext>
            </a:extLst>
          </p:cNvPr>
          <p:cNvSpPr>
            <a:spLocks noGrp="1"/>
          </p:cNvSpPr>
          <p:nvPr>
            <p:ph type="sldNum" sz="quarter" idx="12"/>
          </p:nvPr>
        </p:nvSpPr>
        <p:spPr/>
        <p:txBody>
          <a:bodyPr/>
          <a:lstStyle/>
          <a:p>
            <a:fld id="{5BED0315-10DD-40E3-998C-3B4D5D35B9DC}" type="slidenum">
              <a:rPr lang="vi-VN" smtClean="0"/>
              <a:t>62</a:t>
            </a:fld>
            <a:endParaRPr lang="vi-VN"/>
          </a:p>
        </p:txBody>
      </p:sp>
    </p:spTree>
    <p:extLst>
      <p:ext uri="{BB962C8B-B14F-4D97-AF65-F5344CB8AC3E}">
        <p14:creationId xmlns:p14="http://schemas.microsoft.com/office/powerpoint/2010/main" val="8780015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en-US" kern="0">
                <a:solidFill>
                  <a:srgbClr val="002060"/>
                </a:solidFill>
                <a:latin typeface="Cambria" panose="02040503050406030204" pitchFamily="18" charset="0"/>
              </a:rPr>
              <a:t>Vòng lặp for</a:t>
            </a: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D0817C3F-6BA6-BC79-42ED-9735FED2FDB0}"/>
              </a:ext>
            </a:extLst>
          </p:cNvPr>
          <p:cNvSpPr>
            <a:spLocks noGrp="1"/>
          </p:cNvSpPr>
          <p:nvPr>
            <p:ph type="sldNum" sz="quarter" idx="12"/>
          </p:nvPr>
        </p:nvSpPr>
        <p:spPr/>
        <p:txBody>
          <a:bodyPr/>
          <a:lstStyle/>
          <a:p>
            <a:fld id="{48FE5571-560F-4DFC-BA97-61ACA5F7ADE1}" type="slidenum">
              <a:rPr lang="en-US" smtClean="0"/>
              <a:pPr/>
              <a:t>63</a:t>
            </a:fld>
            <a:endParaRPr lang="en-US"/>
          </a:p>
        </p:txBody>
      </p:sp>
    </p:spTree>
    <p:extLst>
      <p:ext uri="{BB962C8B-B14F-4D97-AF65-F5344CB8AC3E}">
        <p14:creationId xmlns:p14="http://schemas.microsoft.com/office/powerpoint/2010/main" val="11539278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 Cú pháp và cách hoạt động vòng lặp for</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2513A024-2F57-E2C2-0476-044DAA83E724}"/>
              </a:ext>
            </a:extLst>
          </p:cNvPr>
          <p:cNvSpPr>
            <a:spLocks noGrp="1"/>
          </p:cNvSpPr>
          <p:nvPr>
            <p:ph type="sldNum" sz="quarter" idx="12"/>
          </p:nvPr>
        </p:nvSpPr>
        <p:spPr/>
        <p:txBody>
          <a:bodyPr/>
          <a:lstStyle/>
          <a:p>
            <a:fld id="{48FE5571-560F-4DFC-BA97-61ACA5F7ADE1}" type="slidenum">
              <a:rPr lang="en-US" smtClean="0"/>
              <a:pPr/>
              <a:t>64</a:t>
            </a:fld>
            <a:endParaRPr lang="en-US"/>
          </a:p>
        </p:txBody>
      </p:sp>
    </p:spTree>
    <p:extLst>
      <p:ext uri="{BB962C8B-B14F-4D97-AF65-F5344CB8AC3E}">
        <p14:creationId xmlns:p14="http://schemas.microsoft.com/office/powerpoint/2010/main" val="30945346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5588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Vòng lặp for</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3"/>
          <p:cNvSpPr txBox="1">
            <a:spLocks/>
          </p:cNvSpPr>
          <p:nvPr/>
        </p:nvSpPr>
        <p:spPr>
          <a:xfrm>
            <a:off x="2209800" y="1143000"/>
            <a:ext cx="5105400" cy="51054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800" u="sng">
                <a:solidFill>
                  <a:srgbClr val="002060"/>
                </a:solidFill>
                <a:latin typeface="Cambria" panose="02040503050406030204" pitchFamily="18" charset="0"/>
                <a:cs typeface="Times New Roman" pitchFamily="18" charset="0"/>
              </a:rPr>
              <a:t>Cú pháp</a:t>
            </a:r>
            <a:r>
              <a:rPr lang="en-US" sz="2800">
                <a:solidFill>
                  <a:srgbClr val="002060"/>
                </a:solidFill>
                <a:latin typeface="Cambria" panose="02040503050406030204" pitchFamily="18" charset="0"/>
                <a:cs typeface="Times New Roman" pitchFamily="18" charset="0"/>
              </a:rPr>
              <a:t>: </a:t>
            </a:r>
          </a:p>
          <a:p>
            <a:pPr lvl="1" algn="just">
              <a:buFont typeface="Arial" pitchFamily="34" charset="0"/>
              <a:buNone/>
            </a:pPr>
            <a:r>
              <a:rPr lang="en-US" sz="2400" b="1">
                <a:solidFill>
                  <a:srgbClr val="002060"/>
                </a:solidFill>
                <a:latin typeface="Cambria" panose="02040503050406030204" pitchFamily="18" charset="0"/>
                <a:cs typeface="Times New Roman" pitchFamily="18" charset="0"/>
              </a:rPr>
              <a:t>for (Exp1; Exp2; Exp3) </a:t>
            </a:r>
          </a:p>
          <a:p>
            <a:pPr lvl="2" algn="just">
              <a:buFont typeface="Arial" pitchFamily="34" charset="0"/>
              <a:buNone/>
            </a:pPr>
            <a:r>
              <a:rPr lang="en-US" b="1">
                <a:solidFill>
                  <a:srgbClr val="002060"/>
                </a:solidFill>
                <a:latin typeface="Cambria" panose="02040503050406030204" pitchFamily="18" charset="0"/>
                <a:cs typeface="Times New Roman" pitchFamily="18" charset="0"/>
              </a:rPr>
              <a:t>statement; </a:t>
            </a:r>
          </a:p>
          <a:p>
            <a:pPr algn="just"/>
            <a:r>
              <a:rPr lang="en-US" sz="2800" u="sng">
                <a:solidFill>
                  <a:srgbClr val="002060"/>
                </a:solidFill>
                <a:latin typeface="Cambria" panose="02040503050406030204" pitchFamily="18" charset="0"/>
                <a:cs typeface="Times New Roman" pitchFamily="18" charset="0"/>
              </a:rPr>
              <a:t>Ý nghĩa:</a:t>
            </a:r>
          </a:p>
          <a:p>
            <a:pPr algn="just">
              <a:buFont typeface="Tahoma" pitchFamily="34" charset="0"/>
              <a:buChar char="−"/>
            </a:pPr>
            <a:r>
              <a:rPr lang="en-US" sz="2800">
                <a:solidFill>
                  <a:srgbClr val="002060"/>
                </a:solidFill>
                <a:latin typeface="Cambria" panose="02040503050406030204" pitchFamily="18" charset="0"/>
                <a:cs typeface="Times New Roman" pitchFamily="18" charset="0"/>
              </a:rPr>
              <a:t>Exp1: là biểu thức khởi tạo được thực hiện.</a:t>
            </a:r>
          </a:p>
          <a:p>
            <a:pPr algn="just">
              <a:buFont typeface="Tahoma" pitchFamily="34" charset="0"/>
              <a:buChar char="−"/>
            </a:pPr>
            <a:r>
              <a:rPr lang="en-US" sz="2800">
                <a:solidFill>
                  <a:srgbClr val="002060"/>
                </a:solidFill>
                <a:latin typeface="Cambria" panose="02040503050406030204" pitchFamily="18" charset="0"/>
                <a:cs typeface="Times New Roman" pitchFamily="18" charset="0"/>
              </a:rPr>
              <a:t>Exp2: là biểu thức điều kiện</a:t>
            </a:r>
          </a:p>
          <a:p>
            <a:pPr algn="just">
              <a:buFont typeface="Tahoma" pitchFamily="34" charset="0"/>
              <a:buChar char="−"/>
            </a:pPr>
            <a:r>
              <a:rPr lang="en-US" sz="2800">
                <a:solidFill>
                  <a:srgbClr val="002060"/>
                </a:solidFill>
                <a:latin typeface="Cambria" panose="02040503050406030204" pitchFamily="18" charset="0"/>
                <a:cs typeface="Times New Roman" pitchFamily="18" charset="0"/>
              </a:rPr>
              <a:t>Exp3: biểu thức điều khiển lặp</a:t>
            </a:r>
          </a:p>
        </p:txBody>
      </p:sp>
      <p:pic>
        <p:nvPicPr>
          <p:cNvPr id="9" name="Picture 2"/>
          <p:cNvPicPr>
            <a:picLocks noChangeAspect="1" noChangeArrowheads="1"/>
          </p:cNvPicPr>
          <p:nvPr/>
        </p:nvPicPr>
        <p:blipFill>
          <a:blip r:embed="rId2"/>
          <a:srcRect/>
          <a:stretch>
            <a:fillRect/>
          </a:stretch>
        </p:blipFill>
        <p:spPr bwMode="auto">
          <a:xfrm>
            <a:off x="7391400" y="1143000"/>
            <a:ext cx="2683608" cy="5105400"/>
          </a:xfrm>
          <a:prstGeom prst="rect">
            <a:avLst/>
          </a:prstGeom>
          <a:noFill/>
          <a:ln w="9525">
            <a:noFill/>
            <a:miter lim="800000"/>
            <a:headEnd/>
            <a:tailEnd/>
          </a:ln>
          <a:effectLst/>
        </p:spPr>
      </p:pic>
      <p:sp>
        <p:nvSpPr>
          <p:cNvPr id="10" name="Rectangle 9"/>
          <p:cNvSpPr/>
          <p:nvPr/>
        </p:nvSpPr>
        <p:spPr>
          <a:xfrm>
            <a:off x="2105976" y="5052740"/>
            <a:ext cx="8333424" cy="1348061"/>
          </a:xfrm>
          <a:prstGeom prst="rect">
            <a:avLst/>
          </a:prstGeom>
        </p:spPr>
        <p:txBody>
          <a:bodyPr wrap="square">
            <a:spAutoFit/>
          </a:bodyPr>
          <a:lstStyle/>
          <a:p>
            <a:pPr marL="342900" indent="-342900" fontAlgn="base">
              <a:spcBef>
                <a:spcPct val="20000"/>
              </a:spcBef>
              <a:spcAft>
                <a:spcPct val="0"/>
              </a:spcAft>
              <a:buClr>
                <a:srgbClr val="3DC5C5"/>
              </a:buClr>
              <a:defRPr/>
            </a:pPr>
            <a:endParaRPr lang="en-US" sz="2400" b="1" kern="0">
              <a:solidFill>
                <a:srgbClr val="002060"/>
              </a:solidFill>
              <a:latin typeface="Cambria" panose="02040503050406030204" pitchFamily="18" charset="0"/>
            </a:endParaRPr>
          </a:p>
          <a:p>
            <a:pPr marL="342900" indent="-342900" fontAlgn="base">
              <a:spcBef>
                <a:spcPct val="20000"/>
              </a:spcBef>
              <a:spcAft>
                <a:spcPct val="0"/>
              </a:spcAft>
              <a:buClr>
                <a:srgbClr val="3DC5C5"/>
              </a:buClr>
              <a:buFont typeface="Wingdings" pitchFamily="2" charset="2"/>
              <a:buChar char="v"/>
              <a:defRPr/>
            </a:pPr>
            <a:r>
              <a:rPr lang="en-US" sz="2400" kern="0">
                <a:solidFill>
                  <a:srgbClr val="002060"/>
                </a:solidFill>
                <a:latin typeface="Cambria" panose="02040503050406030204" pitchFamily="18" charset="0"/>
              </a:rPr>
              <a:t>Để thoát vòng lặp: dùng </a:t>
            </a:r>
            <a:r>
              <a:rPr lang="en-US" sz="2400" b="1" kern="0">
                <a:solidFill>
                  <a:srgbClr val="002060"/>
                </a:solidFill>
                <a:latin typeface="Cambria" panose="02040503050406030204" pitchFamily="18" charset="0"/>
              </a:rPr>
              <a:t>break</a:t>
            </a:r>
          </a:p>
          <a:p>
            <a:pPr marL="342900" indent="-342900" fontAlgn="base">
              <a:spcBef>
                <a:spcPct val="20000"/>
              </a:spcBef>
              <a:spcAft>
                <a:spcPct val="0"/>
              </a:spcAft>
              <a:buClr>
                <a:srgbClr val="3DC5C5"/>
              </a:buClr>
              <a:buFont typeface="Wingdings" pitchFamily="2" charset="2"/>
              <a:buChar char="v"/>
              <a:defRPr/>
            </a:pPr>
            <a:r>
              <a:rPr lang="en-US" sz="2400" kern="0">
                <a:solidFill>
                  <a:srgbClr val="002060"/>
                </a:solidFill>
                <a:latin typeface="Cambria" panose="02040503050406030204" pitchFamily="18" charset="0"/>
              </a:rPr>
              <a:t>Để kết thúc sớm 1 vòng lặp: dùng </a:t>
            </a:r>
            <a:r>
              <a:rPr lang="en-US" sz="2400" b="1" kern="0">
                <a:solidFill>
                  <a:srgbClr val="002060"/>
                </a:solidFill>
                <a:latin typeface="Cambria" panose="02040503050406030204" pitchFamily="18" charset="0"/>
              </a:rPr>
              <a:t>continue</a:t>
            </a:r>
          </a:p>
        </p:txBody>
      </p:sp>
      <p:sp>
        <p:nvSpPr>
          <p:cNvPr id="11" name="Slide Number Placeholder 10">
            <a:extLst>
              <a:ext uri="{FF2B5EF4-FFF2-40B4-BE49-F238E27FC236}">
                <a16:creationId xmlns:a16="http://schemas.microsoft.com/office/drawing/2014/main" id="{4AFD585D-F1B7-5E14-C597-3A7A1B3AAF6D}"/>
              </a:ext>
            </a:extLst>
          </p:cNvPr>
          <p:cNvSpPr>
            <a:spLocks noGrp="1"/>
          </p:cNvSpPr>
          <p:nvPr>
            <p:ph type="sldNum" sz="quarter" idx="12"/>
          </p:nvPr>
        </p:nvSpPr>
        <p:spPr/>
        <p:txBody>
          <a:bodyPr/>
          <a:lstStyle/>
          <a:p>
            <a:fld id="{48FE5571-560F-4DFC-BA97-61ACA5F7ADE1}" type="slidenum">
              <a:rPr lang="en-US" smtClean="0"/>
              <a:pPr/>
              <a:t>65</a:t>
            </a:fld>
            <a:endParaRPr lang="en-US"/>
          </a:p>
        </p:txBody>
      </p:sp>
    </p:spTree>
    <p:extLst>
      <p:ext uri="{BB962C8B-B14F-4D97-AF65-F5344CB8AC3E}">
        <p14:creationId xmlns:p14="http://schemas.microsoft.com/office/powerpoint/2010/main" val="39062262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5588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Vòng lặp for</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Content Placeholder 2"/>
          <p:cNvSpPr txBox="1">
            <a:spLocks/>
          </p:cNvSpPr>
          <p:nvPr/>
        </p:nvSpPr>
        <p:spPr bwMode="auto">
          <a:xfrm>
            <a:off x="1981200" y="1076326"/>
            <a:ext cx="8229600" cy="5248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n-lt"/>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3DC5C5"/>
              </a:buClr>
              <a:defRPr/>
            </a:pPr>
            <a:r>
              <a:rPr lang="en-US" kern="0">
                <a:solidFill>
                  <a:srgbClr val="2045AE"/>
                </a:solidFill>
                <a:latin typeface="Cambria" panose="02040503050406030204" pitchFamily="18" charset="0"/>
              </a:rPr>
              <a:t>Ví dụ</a:t>
            </a:r>
          </a:p>
          <a:p>
            <a:pPr>
              <a:buClr>
                <a:srgbClr val="3DC5C5"/>
              </a:buClr>
              <a:defRPr/>
            </a:pPr>
            <a:endParaRPr lang="en-US" kern="0">
              <a:solidFill>
                <a:srgbClr val="2045AE"/>
              </a:solidFill>
              <a:latin typeface="Cambria" panose="02040503050406030204" pitchFamily="18" charset="0"/>
            </a:endParaRPr>
          </a:p>
          <a:p>
            <a:pPr marL="0">
              <a:spcBef>
                <a:spcPts val="0"/>
              </a:spcBef>
              <a:spcAft>
                <a:spcPts val="0"/>
              </a:spcAft>
              <a:buClr>
                <a:srgbClr val="3DC5C5"/>
              </a:buClr>
              <a:buNone/>
              <a:defRPr/>
            </a:pPr>
            <a:r>
              <a:rPr lang="en-US" b="1" kern="0">
                <a:solidFill>
                  <a:srgbClr val="0000FF"/>
                </a:solidFill>
                <a:latin typeface="Cambria" panose="02040503050406030204" pitchFamily="18" charset="0"/>
                <a:ea typeface="Times New Roman"/>
              </a:rPr>
              <a:t>int</a:t>
            </a:r>
            <a:r>
              <a:rPr lang="en-US" b="1" kern="0">
                <a:solidFill>
                  <a:srgbClr val="2045AE"/>
                </a:solidFill>
                <a:latin typeface="Cambria" panose="02040503050406030204" pitchFamily="18" charset="0"/>
                <a:ea typeface="Times New Roman"/>
              </a:rPr>
              <a:t> i;</a:t>
            </a:r>
          </a:p>
          <a:p>
            <a:pPr marL="0">
              <a:spcBef>
                <a:spcPts val="0"/>
              </a:spcBef>
              <a:spcAft>
                <a:spcPts val="0"/>
              </a:spcAft>
              <a:buClr>
                <a:srgbClr val="3DC5C5"/>
              </a:buClr>
              <a:buNone/>
              <a:defRPr/>
            </a:pPr>
            <a:r>
              <a:rPr lang="en-US" b="1" kern="0">
                <a:solidFill>
                  <a:srgbClr val="0000FF"/>
                </a:solidFill>
                <a:latin typeface="Cambria" panose="02040503050406030204" pitchFamily="18" charset="0"/>
                <a:ea typeface="Times New Roman"/>
              </a:rPr>
              <a:t>int</a:t>
            </a:r>
            <a:r>
              <a:rPr lang="en-US" b="1" kern="0">
                <a:solidFill>
                  <a:srgbClr val="2045AE"/>
                </a:solidFill>
                <a:latin typeface="Cambria" panose="02040503050406030204" pitchFamily="18" charset="0"/>
                <a:ea typeface="Times New Roman"/>
              </a:rPr>
              <a:t> n = 1;</a:t>
            </a:r>
          </a:p>
          <a:p>
            <a:pPr marL="0">
              <a:spcBef>
                <a:spcPts val="0"/>
              </a:spcBef>
              <a:spcAft>
                <a:spcPts val="0"/>
              </a:spcAft>
              <a:buClr>
                <a:srgbClr val="3DC5C5"/>
              </a:buClr>
              <a:buNone/>
              <a:defRPr/>
            </a:pPr>
            <a:r>
              <a:rPr lang="en-US" b="1" kern="0">
                <a:solidFill>
                  <a:srgbClr val="0000FF"/>
                </a:solidFill>
                <a:latin typeface="Cambria" panose="02040503050406030204" pitchFamily="18" charset="0"/>
                <a:ea typeface="Times New Roman"/>
              </a:rPr>
              <a:t>for</a:t>
            </a:r>
            <a:r>
              <a:rPr lang="en-US" b="1" kern="0">
                <a:solidFill>
                  <a:srgbClr val="2045AE"/>
                </a:solidFill>
                <a:latin typeface="Cambria" panose="02040503050406030204" pitchFamily="18" charset="0"/>
                <a:ea typeface="Times New Roman"/>
              </a:rPr>
              <a:t>(i=1; i&lt;=5; i++)</a:t>
            </a:r>
          </a:p>
          <a:p>
            <a:pPr marL="0">
              <a:spcBef>
                <a:spcPts val="0"/>
              </a:spcBef>
              <a:spcAft>
                <a:spcPts val="0"/>
              </a:spcAft>
              <a:buClr>
                <a:srgbClr val="3DC5C5"/>
              </a:buClr>
              <a:buNone/>
              <a:defRPr/>
            </a:pPr>
            <a:r>
              <a:rPr lang="it-IT" b="1" kern="0">
                <a:solidFill>
                  <a:srgbClr val="2045AE"/>
                </a:solidFill>
                <a:latin typeface="Cambria" panose="02040503050406030204" pitchFamily="18" charset="0"/>
                <a:ea typeface="Times New Roman"/>
              </a:rPr>
              <a:t>{</a:t>
            </a:r>
            <a:endParaRPr lang="en-US" b="1" kern="0">
              <a:solidFill>
                <a:srgbClr val="2045AE"/>
              </a:solidFill>
              <a:latin typeface="Cambria" panose="02040503050406030204" pitchFamily="18" charset="0"/>
              <a:ea typeface="Times New Roman"/>
            </a:endParaRPr>
          </a:p>
          <a:p>
            <a:pPr marL="0">
              <a:spcBef>
                <a:spcPts val="0"/>
              </a:spcBef>
              <a:spcAft>
                <a:spcPts val="0"/>
              </a:spcAft>
              <a:buClr>
                <a:srgbClr val="3DC5C5"/>
              </a:buClr>
              <a:buNone/>
              <a:defRPr/>
            </a:pPr>
            <a:r>
              <a:rPr lang="it-IT" b="1" kern="0">
                <a:solidFill>
                  <a:srgbClr val="2045AE"/>
                </a:solidFill>
                <a:latin typeface="Cambria" panose="02040503050406030204" pitchFamily="18" charset="0"/>
                <a:ea typeface="Times New Roman"/>
              </a:rPr>
              <a:t>	n *= i;</a:t>
            </a:r>
            <a:endParaRPr lang="en-US" b="1" kern="0">
              <a:solidFill>
                <a:srgbClr val="2045AE"/>
              </a:solidFill>
              <a:latin typeface="Cambria" panose="02040503050406030204" pitchFamily="18" charset="0"/>
              <a:ea typeface="Times New Roman"/>
            </a:endParaRPr>
          </a:p>
          <a:p>
            <a:pPr marL="0">
              <a:spcBef>
                <a:spcPts val="0"/>
              </a:spcBef>
              <a:spcAft>
                <a:spcPts val="0"/>
              </a:spcAft>
              <a:buClr>
                <a:srgbClr val="3DC5C5"/>
              </a:buClr>
              <a:buNone/>
              <a:defRPr/>
            </a:pPr>
            <a:r>
              <a:rPr lang="it-IT" b="1" kern="0">
                <a:solidFill>
                  <a:srgbClr val="2045AE"/>
                </a:solidFill>
                <a:latin typeface="Cambria" panose="02040503050406030204" pitchFamily="18" charset="0"/>
                <a:ea typeface="Times New Roman"/>
              </a:rPr>
              <a:t>}</a:t>
            </a:r>
            <a:endParaRPr lang="en-US" b="1" kern="0">
              <a:solidFill>
                <a:srgbClr val="2045AE"/>
              </a:solidFill>
              <a:latin typeface="Cambria" panose="02040503050406030204" pitchFamily="18" charset="0"/>
              <a:ea typeface="Times New Roman"/>
            </a:endParaRPr>
          </a:p>
          <a:p>
            <a:pPr lvl="0">
              <a:buClr>
                <a:srgbClr val="3DC5C5"/>
              </a:buClr>
              <a:buNone/>
              <a:defRPr/>
            </a:pPr>
            <a:r>
              <a:rPr lang="en-US">
                <a:solidFill>
                  <a:srgbClr val="002060"/>
                </a:solidFill>
              </a:rPr>
              <a:t>System.</a:t>
            </a:r>
            <a:r>
              <a:rPr lang="en-US" i="1">
                <a:solidFill>
                  <a:srgbClr val="002060"/>
                </a:solidFill>
              </a:rPr>
              <a:t>out.println</a:t>
            </a:r>
            <a:r>
              <a:rPr lang="it-IT" b="1" kern="0">
                <a:solidFill>
                  <a:srgbClr val="2045AE"/>
                </a:solidFill>
                <a:latin typeface="Cambria" panose="02040503050406030204" pitchFamily="18" charset="0"/>
                <a:ea typeface="Times New Roman"/>
              </a:rPr>
              <a:t>(</a:t>
            </a:r>
            <a:r>
              <a:rPr lang="it-IT" b="1" kern="0">
                <a:solidFill>
                  <a:srgbClr val="A31515"/>
                </a:solidFill>
                <a:latin typeface="Cambria" panose="02040503050406030204" pitchFamily="18" charset="0"/>
                <a:ea typeface="Times New Roman"/>
              </a:rPr>
              <a:t>"5 giai thừa ="</a:t>
            </a:r>
            <a:r>
              <a:rPr lang="it-IT" b="1" kern="0">
                <a:solidFill>
                  <a:srgbClr val="2045AE"/>
                </a:solidFill>
                <a:latin typeface="Cambria" panose="02040503050406030204" pitchFamily="18" charset="0"/>
                <a:ea typeface="Times New Roman"/>
              </a:rPr>
              <a:t>+ n);</a:t>
            </a:r>
            <a:endParaRPr lang="en-US" b="1" kern="0">
              <a:solidFill>
                <a:srgbClr val="2045AE"/>
              </a:solidFill>
              <a:latin typeface="Cambria" panose="02040503050406030204" pitchFamily="18" charset="0"/>
            </a:endParaRPr>
          </a:p>
        </p:txBody>
      </p:sp>
      <p:sp>
        <p:nvSpPr>
          <p:cNvPr id="8" name="Slide Number Placeholder 7">
            <a:extLst>
              <a:ext uri="{FF2B5EF4-FFF2-40B4-BE49-F238E27FC236}">
                <a16:creationId xmlns:a16="http://schemas.microsoft.com/office/drawing/2014/main" id="{684BD5ED-5753-10B6-3B51-7BC8BE21CCA1}"/>
              </a:ext>
            </a:extLst>
          </p:cNvPr>
          <p:cNvSpPr>
            <a:spLocks noGrp="1"/>
          </p:cNvSpPr>
          <p:nvPr>
            <p:ph type="sldNum" sz="quarter" idx="12"/>
          </p:nvPr>
        </p:nvSpPr>
        <p:spPr/>
        <p:txBody>
          <a:bodyPr/>
          <a:lstStyle/>
          <a:p>
            <a:fld id="{48FE5571-560F-4DFC-BA97-61ACA5F7ADE1}" type="slidenum">
              <a:rPr lang="en-US" smtClean="0"/>
              <a:pPr/>
              <a:t>66</a:t>
            </a:fld>
            <a:endParaRPr lang="en-US"/>
          </a:p>
        </p:txBody>
      </p:sp>
    </p:spTree>
    <p:extLst>
      <p:ext uri="{BB962C8B-B14F-4D97-AF65-F5344CB8AC3E}">
        <p14:creationId xmlns:p14="http://schemas.microsoft.com/office/powerpoint/2010/main" val="11577824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24000" y="1212827"/>
            <a:ext cx="3934234" cy="1943302"/>
          </a:xfrm>
          <a:prstGeom prst="rect">
            <a:avLst/>
          </a:prstGeom>
        </p:spPr>
      </p:pic>
      <p:cxnSp>
        <p:nvCxnSpPr>
          <p:cNvPr id="6" name="Straight Connector 5"/>
          <p:cNvCxnSpPr/>
          <p:nvPr/>
        </p:nvCxnSpPr>
        <p:spPr>
          <a:xfrm>
            <a:off x="5522891" y="857250"/>
            <a:ext cx="0" cy="51435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522891" y="901202"/>
            <a:ext cx="4951484" cy="4801314"/>
          </a:xfrm>
          <a:prstGeom prst="rect">
            <a:avLst/>
          </a:prstGeom>
          <a:noFill/>
        </p:spPr>
        <p:txBody>
          <a:bodyPr wrap="none" rtlCol="0">
            <a:spAutoFit/>
          </a:bodyPr>
          <a:lstStyle/>
          <a:p>
            <a:r>
              <a:rPr lang="en-US"/>
              <a:t>n=5, gt=1</a:t>
            </a:r>
          </a:p>
          <a:p>
            <a:r>
              <a:rPr lang="en-US"/>
              <a:t>Lần 1) i=1, kiểm tra i&lt;=n</a:t>
            </a:r>
            <a:r>
              <a:rPr lang="en-US">
                <a:sym typeface="Wingdings" panose="05000000000000000000" pitchFamily="2" charset="2"/>
              </a:rPr>
              <a:t>i&lt;=5đúng, làm body:</a:t>
            </a:r>
          </a:p>
          <a:p>
            <a:r>
              <a:rPr lang="en-US">
                <a:sym typeface="Wingdings" panose="05000000000000000000" pitchFamily="2" charset="2"/>
              </a:rPr>
              <a:t>	gt=gt*i=1*1=1</a:t>
            </a:r>
          </a:p>
          <a:p>
            <a:r>
              <a:rPr lang="en-US">
                <a:sym typeface="Wingdings" panose="05000000000000000000" pitchFamily="2" charset="2"/>
              </a:rPr>
              <a:t>Lần 2) i++i=i+1=1+1=2, </a:t>
            </a:r>
          </a:p>
          <a:p>
            <a:r>
              <a:rPr lang="en-US">
                <a:sym typeface="Wingdings" panose="05000000000000000000" pitchFamily="2" charset="2"/>
              </a:rPr>
              <a:t>	kiểm tra i&lt;=n 2&lt;=5đúng, làm body:</a:t>
            </a:r>
          </a:p>
          <a:p>
            <a:r>
              <a:rPr lang="en-US">
                <a:sym typeface="Wingdings" panose="05000000000000000000" pitchFamily="2" charset="2"/>
              </a:rPr>
              <a:t>	gt=gt*i=1*2=2</a:t>
            </a:r>
          </a:p>
          <a:p>
            <a:r>
              <a:rPr lang="en-US">
                <a:sym typeface="Wingdings" panose="05000000000000000000" pitchFamily="2" charset="2"/>
              </a:rPr>
              <a:t>Lần 3) i++i=i+1=2+1=3</a:t>
            </a:r>
          </a:p>
          <a:p>
            <a:r>
              <a:rPr lang="en-US"/>
              <a:t>	kiểm tra i&lt;=n </a:t>
            </a:r>
            <a:r>
              <a:rPr lang="en-US">
                <a:sym typeface="Wingdings" panose="05000000000000000000" pitchFamily="2" charset="2"/>
              </a:rPr>
              <a:t>3&lt;=5đúng, làm body:</a:t>
            </a:r>
          </a:p>
          <a:p>
            <a:r>
              <a:rPr lang="en-US">
                <a:sym typeface="Wingdings" panose="05000000000000000000" pitchFamily="2" charset="2"/>
              </a:rPr>
              <a:t>	gt=gt*i=2*3=6</a:t>
            </a:r>
          </a:p>
          <a:p>
            <a:r>
              <a:rPr lang="en-US"/>
              <a:t>Lần 4) i++</a:t>
            </a:r>
            <a:r>
              <a:rPr lang="en-US">
                <a:sym typeface="Wingdings" panose="05000000000000000000" pitchFamily="2" charset="2"/>
              </a:rPr>
              <a:t>i=i+1=3+1=4</a:t>
            </a:r>
          </a:p>
          <a:p>
            <a:r>
              <a:rPr lang="en-US">
                <a:sym typeface="Wingdings" panose="05000000000000000000" pitchFamily="2" charset="2"/>
              </a:rPr>
              <a:t>	kiểm tra i&lt;=n 4 &lt;=5đúng, làm body:</a:t>
            </a:r>
          </a:p>
          <a:p>
            <a:r>
              <a:rPr lang="en-US">
                <a:sym typeface="Wingdings" panose="05000000000000000000" pitchFamily="2" charset="2"/>
              </a:rPr>
              <a:t>	gt=gt*i=6*4=24</a:t>
            </a:r>
          </a:p>
          <a:p>
            <a:r>
              <a:rPr lang="en-US"/>
              <a:t>Lần 5) i++</a:t>
            </a:r>
            <a:r>
              <a:rPr lang="en-US">
                <a:sym typeface="Wingdings" panose="05000000000000000000" pitchFamily="2" charset="2"/>
              </a:rPr>
              <a:t>i=i+1=4+1=5</a:t>
            </a:r>
          </a:p>
          <a:p>
            <a:r>
              <a:rPr lang="en-US">
                <a:sym typeface="Wingdings" panose="05000000000000000000" pitchFamily="2" charset="2"/>
              </a:rPr>
              <a:t>	kiểm tra i&lt;=n5&lt;=5đúng, làm body:</a:t>
            </a:r>
          </a:p>
          <a:p>
            <a:r>
              <a:rPr lang="en-US">
                <a:sym typeface="Wingdings" panose="05000000000000000000" pitchFamily="2" charset="2"/>
              </a:rPr>
              <a:t>	gt=gt*i=24*5=120</a:t>
            </a:r>
          </a:p>
          <a:p>
            <a:r>
              <a:rPr lang="en-US"/>
              <a:t>Lần 6) i++</a:t>
            </a:r>
            <a:r>
              <a:rPr lang="en-US">
                <a:sym typeface="Wingdings" panose="05000000000000000000" pitchFamily="2" charset="2"/>
              </a:rPr>
              <a:t>i=i+1=5+1=6</a:t>
            </a:r>
          </a:p>
          <a:p>
            <a:r>
              <a:rPr lang="en-US">
                <a:sym typeface="Wingdings" panose="05000000000000000000" pitchFamily="2" charset="2"/>
              </a:rPr>
              <a:t>	kiểm tra i&lt;=n 6&lt;=5vô lýngừng for</a:t>
            </a:r>
            <a:endParaRPr lang="en-US"/>
          </a:p>
        </p:txBody>
      </p:sp>
      <p:sp>
        <p:nvSpPr>
          <p:cNvPr id="8" name="Freeform 7"/>
          <p:cNvSpPr/>
          <p:nvPr/>
        </p:nvSpPr>
        <p:spPr>
          <a:xfrm>
            <a:off x="1572297" y="1697598"/>
            <a:ext cx="994893" cy="241479"/>
          </a:xfrm>
          <a:custGeom>
            <a:avLst/>
            <a:gdLst>
              <a:gd name="connsiteX0" fmla="*/ 0 w 1326524"/>
              <a:gd name="connsiteY0" fmla="*/ 77273 h 321972"/>
              <a:gd name="connsiteX1" fmla="*/ 64395 w 1326524"/>
              <a:gd name="connsiteY1" fmla="*/ 64394 h 321972"/>
              <a:gd name="connsiteX2" fmla="*/ 141668 w 1326524"/>
              <a:gd name="connsiteY2" fmla="*/ 38637 h 321972"/>
              <a:gd name="connsiteX3" fmla="*/ 180305 w 1326524"/>
              <a:gd name="connsiteY3" fmla="*/ 25758 h 321972"/>
              <a:gd name="connsiteX4" fmla="*/ 412124 w 1326524"/>
              <a:gd name="connsiteY4" fmla="*/ 0 h 321972"/>
              <a:gd name="connsiteX5" fmla="*/ 965916 w 1326524"/>
              <a:gd name="connsiteY5" fmla="*/ 12879 h 321972"/>
              <a:gd name="connsiteX6" fmla="*/ 1004552 w 1326524"/>
              <a:gd name="connsiteY6" fmla="*/ 38637 h 321972"/>
              <a:gd name="connsiteX7" fmla="*/ 1056068 w 1326524"/>
              <a:gd name="connsiteY7" fmla="*/ 77273 h 321972"/>
              <a:gd name="connsiteX8" fmla="*/ 1120462 w 1326524"/>
              <a:gd name="connsiteY8" fmla="*/ 90152 h 321972"/>
              <a:gd name="connsiteX9" fmla="*/ 1159099 w 1326524"/>
              <a:gd name="connsiteY9" fmla="*/ 103031 h 321972"/>
              <a:gd name="connsiteX10" fmla="*/ 1197736 w 1326524"/>
              <a:gd name="connsiteY10" fmla="*/ 141668 h 321972"/>
              <a:gd name="connsiteX11" fmla="*/ 1275009 w 1326524"/>
              <a:gd name="connsiteY11" fmla="*/ 206062 h 321972"/>
              <a:gd name="connsiteX12" fmla="*/ 1313645 w 1326524"/>
              <a:gd name="connsiteY12" fmla="*/ 283335 h 321972"/>
              <a:gd name="connsiteX13" fmla="*/ 1326524 w 1326524"/>
              <a:gd name="connsiteY13" fmla="*/ 321972 h 32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26524" h="321972">
                <a:moveTo>
                  <a:pt x="0" y="77273"/>
                </a:moveTo>
                <a:cubicBezTo>
                  <a:pt x="21465" y="72980"/>
                  <a:pt x="43276" y="70154"/>
                  <a:pt x="64395" y="64394"/>
                </a:cubicBezTo>
                <a:cubicBezTo>
                  <a:pt x="90589" y="57250"/>
                  <a:pt x="115910" y="47223"/>
                  <a:pt x="141668" y="38637"/>
                </a:cubicBezTo>
                <a:cubicBezTo>
                  <a:pt x="154547" y="34344"/>
                  <a:pt x="166797" y="27109"/>
                  <a:pt x="180305" y="25758"/>
                </a:cubicBezTo>
                <a:cubicBezTo>
                  <a:pt x="343532" y="9435"/>
                  <a:pt x="266283" y="18230"/>
                  <a:pt x="412124" y="0"/>
                </a:cubicBezTo>
                <a:cubicBezTo>
                  <a:pt x="596721" y="4293"/>
                  <a:pt x="781660" y="862"/>
                  <a:pt x="965916" y="12879"/>
                </a:cubicBezTo>
                <a:cubicBezTo>
                  <a:pt x="981362" y="13886"/>
                  <a:pt x="991957" y="29640"/>
                  <a:pt x="1004552" y="38637"/>
                </a:cubicBezTo>
                <a:cubicBezTo>
                  <a:pt x="1022019" y="51113"/>
                  <a:pt x="1036453" y="68555"/>
                  <a:pt x="1056068" y="77273"/>
                </a:cubicBezTo>
                <a:cubicBezTo>
                  <a:pt x="1076071" y="86163"/>
                  <a:pt x="1099226" y="84843"/>
                  <a:pt x="1120462" y="90152"/>
                </a:cubicBezTo>
                <a:cubicBezTo>
                  <a:pt x="1133632" y="93445"/>
                  <a:pt x="1146220" y="98738"/>
                  <a:pt x="1159099" y="103031"/>
                </a:cubicBezTo>
                <a:cubicBezTo>
                  <a:pt x="1171978" y="115910"/>
                  <a:pt x="1183744" y="130008"/>
                  <a:pt x="1197736" y="141668"/>
                </a:cubicBezTo>
                <a:cubicBezTo>
                  <a:pt x="1305319" y="231320"/>
                  <a:pt x="1162128" y="93181"/>
                  <a:pt x="1275009" y="206062"/>
                </a:cubicBezTo>
                <a:cubicBezTo>
                  <a:pt x="1307381" y="303178"/>
                  <a:pt x="1263713" y="183470"/>
                  <a:pt x="1313645" y="283335"/>
                </a:cubicBezTo>
                <a:cubicBezTo>
                  <a:pt x="1319716" y="295477"/>
                  <a:pt x="1326524" y="321972"/>
                  <a:pt x="1326524" y="321972"/>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9" name="Freeform 8"/>
          <p:cNvSpPr/>
          <p:nvPr/>
        </p:nvSpPr>
        <p:spPr>
          <a:xfrm>
            <a:off x="2741054" y="1533392"/>
            <a:ext cx="580860" cy="425003"/>
          </a:xfrm>
          <a:custGeom>
            <a:avLst/>
            <a:gdLst>
              <a:gd name="connsiteX0" fmla="*/ 0 w 774480"/>
              <a:gd name="connsiteY0" fmla="*/ 528034 h 566671"/>
              <a:gd name="connsiteX1" fmla="*/ 12879 w 774480"/>
              <a:gd name="connsiteY1" fmla="*/ 373487 h 566671"/>
              <a:gd name="connsiteX2" fmla="*/ 77273 w 774480"/>
              <a:gd name="connsiteY2" fmla="*/ 218941 h 566671"/>
              <a:gd name="connsiteX3" fmla="*/ 90152 w 774480"/>
              <a:gd name="connsiteY3" fmla="*/ 180304 h 566671"/>
              <a:gd name="connsiteX4" fmla="*/ 141668 w 774480"/>
              <a:gd name="connsiteY4" fmla="*/ 128789 h 566671"/>
              <a:gd name="connsiteX5" fmla="*/ 180304 w 774480"/>
              <a:gd name="connsiteY5" fmla="*/ 77273 h 566671"/>
              <a:gd name="connsiteX6" fmla="*/ 270456 w 774480"/>
              <a:gd name="connsiteY6" fmla="*/ 25758 h 566671"/>
              <a:gd name="connsiteX7" fmla="*/ 309093 w 774480"/>
              <a:gd name="connsiteY7" fmla="*/ 0 h 566671"/>
              <a:gd name="connsiteX8" fmla="*/ 553792 w 774480"/>
              <a:gd name="connsiteY8" fmla="*/ 12879 h 566671"/>
              <a:gd name="connsiteX9" fmla="*/ 631065 w 774480"/>
              <a:gd name="connsiteY9" fmla="*/ 38637 h 566671"/>
              <a:gd name="connsiteX10" fmla="*/ 682580 w 774480"/>
              <a:gd name="connsiteY10" fmla="*/ 51516 h 566671"/>
              <a:gd name="connsiteX11" fmla="*/ 772732 w 774480"/>
              <a:gd name="connsiteY11" fmla="*/ 141668 h 566671"/>
              <a:gd name="connsiteX12" fmla="*/ 772732 w 774480"/>
              <a:gd name="connsiteY12" fmla="*/ 566671 h 566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4480" h="566671">
                <a:moveTo>
                  <a:pt x="0" y="528034"/>
                </a:moveTo>
                <a:cubicBezTo>
                  <a:pt x="4293" y="476518"/>
                  <a:pt x="3206" y="424268"/>
                  <a:pt x="12879" y="373487"/>
                </a:cubicBezTo>
                <a:cubicBezTo>
                  <a:pt x="45844" y="200425"/>
                  <a:pt x="32942" y="307606"/>
                  <a:pt x="77273" y="218941"/>
                </a:cubicBezTo>
                <a:cubicBezTo>
                  <a:pt x="83344" y="206798"/>
                  <a:pt x="82261" y="191351"/>
                  <a:pt x="90152" y="180304"/>
                </a:cubicBezTo>
                <a:cubicBezTo>
                  <a:pt x="104267" y="160543"/>
                  <a:pt x="125676" y="147065"/>
                  <a:pt x="141668" y="128789"/>
                </a:cubicBezTo>
                <a:cubicBezTo>
                  <a:pt x="155803" y="112635"/>
                  <a:pt x="165126" y="92451"/>
                  <a:pt x="180304" y="77273"/>
                </a:cubicBezTo>
                <a:cubicBezTo>
                  <a:pt x="201218" y="56359"/>
                  <a:pt x="246893" y="39223"/>
                  <a:pt x="270456" y="25758"/>
                </a:cubicBezTo>
                <a:cubicBezTo>
                  <a:pt x="283895" y="18078"/>
                  <a:pt x="296214" y="8586"/>
                  <a:pt x="309093" y="0"/>
                </a:cubicBezTo>
                <a:cubicBezTo>
                  <a:pt x="390659" y="4293"/>
                  <a:pt x="472695" y="3147"/>
                  <a:pt x="553792" y="12879"/>
                </a:cubicBezTo>
                <a:cubicBezTo>
                  <a:pt x="580750" y="16114"/>
                  <a:pt x="604725" y="32052"/>
                  <a:pt x="631065" y="38637"/>
                </a:cubicBezTo>
                <a:lnTo>
                  <a:pt x="682580" y="51516"/>
                </a:lnTo>
                <a:cubicBezTo>
                  <a:pt x="722875" y="78379"/>
                  <a:pt x="771235" y="87775"/>
                  <a:pt x="772732" y="141668"/>
                </a:cubicBezTo>
                <a:cubicBezTo>
                  <a:pt x="776665" y="283281"/>
                  <a:pt x="772732" y="425003"/>
                  <a:pt x="772732" y="566671"/>
                </a:cubicBezTo>
              </a:path>
            </a:pathLst>
          </a:custGeom>
          <a:noFill/>
          <a:ln w="38100">
            <a:solidFill>
              <a:srgbClr val="00206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cxnSp>
        <p:nvCxnSpPr>
          <p:cNvPr id="11" name="Straight Arrow Connector 10"/>
          <p:cNvCxnSpPr/>
          <p:nvPr/>
        </p:nvCxnSpPr>
        <p:spPr>
          <a:xfrm flipH="1">
            <a:off x="2567189" y="2093623"/>
            <a:ext cx="502277" cy="328411"/>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Freeform 11"/>
          <p:cNvSpPr/>
          <p:nvPr/>
        </p:nvSpPr>
        <p:spPr>
          <a:xfrm>
            <a:off x="2760373" y="2151577"/>
            <a:ext cx="1033665" cy="521594"/>
          </a:xfrm>
          <a:custGeom>
            <a:avLst/>
            <a:gdLst>
              <a:gd name="connsiteX0" fmla="*/ 0 w 1378220"/>
              <a:gd name="connsiteY0" fmla="*/ 566670 h 695459"/>
              <a:gd name="connsiteX1" fmla="*/ 206062 w 1378220"/>
              <a:gd name="connsiteY1" fmla="*/ 643944 h 695459"/>
              <a:gd name="connsiteX2" fmla="*/ 309093 w 1378220"/>
              <a:gd name="connsiteY2" fmla="*/ 669701 h 695459"/>
              <a:gd name="connsiteX3" fmla="*/ 360608 w 1378220"/>
              <a:gd name="connsiteY3" fmla="*/ 682580 h 695459"/>
              <a:gd name="connsiteX4" fmla="*/ 425003 w 1378220"/>
              <a:gd name="connsiteY4" fmla="*/ 695459 h 695459"/>
              <a:gd name="connsiteX5" fmla="*/ 811369 w 1378220"/>
              <a:gd name="connsiteY5" fmla="*/ 656823 h 695459"/>
              <a:gd name="connsiteX6" fmla="*/ 927279 w 1378220"/>
              <a:gd name="connsiteY6" fmla="*/ 605307 h 695459"/>
              <a:gd name="connsiteX7" fmla="*/ 1030310 w 1378220"/>
              <a:gd name="connsiteY7" fmla="*/ 553792 h 695459"/>
              <a:gd name="connsiteX8" fmla="*/ 1068946 w 1378220"/>
              <a:gd name="connsiteY8" fmla="*/ 515155 h 695459"/>
              <a:gd name="connsiteX9" fmla="*/ 1107583 w 1378220"/>
              <a:gd name="connsiteY9" fmla="*/ 502276 h 695459"/>
              <a:gd name="connsiteX10" fmla="*/ 1223493 w 1378220"/>
              <a:gd name="connsiteY10" fmla="*/ 412124 h 695459"/>
              <a:gd name="connsiteX11" fmla="*/ 1275008 w 1378220"/>
              <a:gd name="connsiteY11" fmla="*/ 347730 h 695459"/>
              <a:gd name="connsiteX12" fmla="*/ 1287887 w 1378220"/>
              <a:gd name="connsiteY12" fmla="*/ 309093 h 695459"/>
              <a:gd name="connsiteX13" fmla="*/ 1313645 w 1378220"/>
              <a:gd name="connsiteY13" fmla="*/ 270456 h 695459"/>
              <a:gd name="connsiteX14" fmla="*/ 1326524 w 1378220"/>
              <a:gd name="connsiteY14" fmla="*/ 218941 h 695459"/>
              <a:gd name="connsiteX15" fmla="*/ 1352281 w 1378220"/>
              <a:gd name="connsiteY15" fmla="*/ 141668 h 695459"/>
              <a:gd name="connsiteX16" fmla="*/ 1365160 w 1378220"/>
              <a:gd name="connsiteY16" fmla="*/ 64394 h 695459"/>
              <a:gd name="connsiteX17" fmla="*/ 1378039 w 1378220"/>
              <a:gd name="connsiteY17" fmla="*/ 0 h 695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8220" h="695459">
                <a:moveTo>
                  <a:pt x="0" y="566670"/>
                </a:moveTo>
                <a:cubicBezTo>
                  <a:pt x="39385" y="582424"/>
                  <a:pt x="152228" y="630486"/>
                  <a:pt x="206062" y="643944"/>
                </a:cubicBezTo>
                <a:lnTo>
                  <a:pt x="309093" y="669701"/>
                </a:lnTo>
                <a:cubicBezTo>
                  <a:pt x="326265" y="673994"/>
                  <a:pt x="343252" y="679109"/>
                  <a:pt x="360608" y="682580"/>
                </a:cubicBezTo>
                <a:lnTo>
                  <a:pt x="425003" y="695459"/>
                </a:lnTo>
                <a:cubicBezTo>
                  <a:pt x="703716" y="683341"/>
                  <a:pt x="641596" y="709060"/>
                  <a:pt x="811369" y="656823"/>
                </a:cubicBezTo>
                <a:cubicBezTo>
                  <a:pt x="948161" y="614733"/>
                  <a:pt x="840491" y="652646"/>
                  <a:pt x="927279" y="605307"/>
                </a:cubicBezTo>
                <a:cubicBezTo>
                  <a:pt x="960988" y="586920"/>
                  <a:pt x="1030310" y="553792"/>
                  <a:pt x="1030310" y="553792"/>
                </a:cubicBezTo>
                <a:cubicBezTo>
                  <a:pt x="1043189" y="540913"/>
                  <a:pt x="1053792" y="525258"/>
                  <a:pt x="1068946" y="515155"/>
                </a:cubicBezTo>
                <a:cubicBezTo>
                  <a:pt x="1080242" y="507625"/>
                  <a:pt x="1096867" y="510611"/>
                  <a:pt x="1107583" y="502276"/>
                </a:cubicBezTo>
                <a:cubicBezTo>
                  <a:pt x="1237892" y="400925"/>
                  <a:pt x="1134110" y="441918"/>
                  <a:pt x="1223493" y="412124"/>
                </a:cubicBezTo>
                <a:cubicBezTo>
                  <a:pt x="1255865" y="315008"/>
                  <a:pt x="1208432" y="430950"/>
                  <a:pt x="1275008" y="347730"/>
                </a:cubicBezTo>
                <a:cubicBezTo>
                  <a:pt x="1283489" y="337129"/>
                  <a:pt x="1281816" y="321235"/>
                  <a:pt x="1287887" y="309093"/>
                </a:cubicBezTo>
                <a:cubicBezTo>
                  <a:pt x="1294809" y="295248"/>
                  <a:pt x="1305059" y="283335"/>
                  <a:pt x="1313645" y="270456"/>
                </a:cubicBezTo>
                <a:cubicBezTo>
                  <a:pt x="1317938" y="253284"/>
                  <a:pt x="1321438" y="235895"/>
                  <a:pt x="1326524" y="218941"/>
                </a:cubicBezTo>
                <a:cubicBezTo>
                  <a:pt x="1334326" y="192935"/>
                  <a:pt x="1347817" y="168449"/>
                  <a:pt x="1352281" y="141668"/>
                </a:cubicBezTo>
                <a:cubicBezTo>
                  <a:pt x="1356574" y="115910"/>
                  <a:pt x="1359495" y="89885"/>
                  <a:pt x="1365160" y="64394"/>
                </a:cubicBezTo>
                <a:cubicBezTo>
                  <a:pt x="1380754" y="-5779"/>
                  <a:pt x="1378039" y="54128"/>
                  <a:pt x="1378039" y="0"/>
                </a:cubicBezTo>
              </a:path>
            </a:pathLst>
          </a:custGeom>
          <a:noFill/>
          <a:ln w="38100">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13" name="Freeform 12"/>
          <p:cNvSpPr/>
          <p:nvPr/>
        </p:nvSpPr>
        <p:spPr>
          <a:xfrm>
            <a:off x="3417194" y="1426902"/>
            <a:ext cx="1014212" cy="560470"/>
          </a:xfrm>
          <a:custGeom>
            <a:avLst/>
            <a:gdLst>
              <a:gd name="connsiteX0" fmla="*/ 682580 w 1352282"/>
              <a:gd name="connsiteY0" fmla="*/ 747293 h 747293"/>
              <a:gd name="connsiteX1" fmla="*/ 824248 w 1352282"/>
              <a:gd name="connsiteY1" fmla="*/ 695778 h 747293"/>
              <a:gd name="connsiteX2" fmla="*/ 914400 w 1352282"/>
              <a:gd name="connsiteY2" fmla="*/ 670020 h 747293"/>
              <a:gd name="connsiteX3" fmla="*/ 991673 w 1352282"/>
              <a:gd name="connsiteY3" fmla="*/ 618504 h 747293"/>
              <a:gd name="connsiteX4" fmla="*/ 1133341 w 1352282"/>
              <a:gd name="connsiteY4" fmla="*/ 566989 h 747293"/>
              <a:gd name="connsiteX5" fmla="*/ 1184856 w 1352282"/>
              <a:gd name="connsiteY5" fmla="*/ 528352 h 747293"/>
              <a:gd name="connsiteX6" fmla="*/ 1275009 w 1352282"/>
              <a:gd name="connsiteY6" fmla="*/ 463958 h 747293"/>
              <a:gd name="connsiteX7" fmla="*/ 1326524 w 1352282"/>
              <a:gd name="connsiteY7" fmla="*/ 386685 h 747293"/>
              <a:gd name="connsiteX8" fmla="*/ 1352282 w 1352282"/>
              <a:gd name="connsiteY8" fmla="*/ 296533 h 747293"/>
              <a:gd name="connsiteX9" fmla="*/ 1326524 w 1352282"/>
              <a:gd name="connsiteY9" fmla="*/ 129107 h 747293"/>
              <a:gd name="connsiteX10" fmla="*/ 1300766 w 1352282"/>
              <a:gd name="connsiteY10" fmla="*/ 90471 h 747293"/>
              <a:gd name="connsiteX11" fmla="*/ 1262130 w 1352282"/>
              <a:gd name="connsiteY11" fmla="*/ 77592 h 747293"/>
              <a:gd name="connsiteX12" fmla="*/ 1184856 w 1352282"/>
              <a:gd name="connsiteY12" fmla="*/ 38955 h 747293"/>
              <a:gd name="connsiteX13" fmla="*/ 1146220 w 1352282"/>
              <a:gd name="connsiteY13" fmla="*/ 13197 h 747293"/>
              <a:gd name="connsiteX14" fmla="*/ 798490 w 1352282"/>
              <a:gd name="connsiteY14" fmla="*/ 13197 h 747293"/>
              <a:gd name="connsiteX15" fmla="*/ 721217 w 1352282"/>
              <a:gd name="connsiteY15" fmla="*/ 51834 h 747293"/>
              <a:gd name="connsiteX16" fmla="*/ 631065 w 1352282"/>
              <a:gd name="connsiteY16" fmla="*/ 103350 h 747293"/>
              <a:gd name="connsiteX17" fmla="*/ 566671 w 1352282"/>
              <a:gd name="connsiteY17" fmla="*/ 167744 h 747293"/>
              <a:gd name="connsiteX18" fmla="*/ 489397 w 1352282"/>
              <a:gd name="connsiteY18" fmla="*/ 245017 h 747293"/>
              <a:gd name="connsiteX19" fmla="*/ 450761 w 1352282"/>
              <a:gd name="connsiteY19" fmla="*/ 283654 h 747293"/>
              <a:gd name="connsiteX20" fmla="*/ 386366 w 1352282"/>
              <a:gd name="connsiteY20" fmla="*/ 360927 h 747293"/>
              <a:gd name="connsiteX21" fmla="*/ 360609 w 1352282"/>
              <a:gd name="connsiteY21" fmla="*/ 399564 h 747293"/>
              <a:gd name="connsiteX22" fmla="*/ 231820 w 1352282"/>
              <a:gd name="connsiteY22" fmla="*/ 476837 h 747293"/>
              <a:gd name="connsiteX23" fmla="*/ 193183 w 1352282"/>
              <a:gd name="connsiteY23" fmla="*/ 515473 h 747293"/>
              <a:gd name="connsiteX24" fmla="*/ 115910 w 1352282"/>
              <a:gd name="connsiteY24" fmla="*/ 541231 h 747293"/>
              <a:gd name="connsiteX25" fmla="*/ 77273 w 1352282"/>
              <a:gd name="connsiteY25" fmla="*/ 566989 h 747293"/>
              <a:gd name="connsiteX26" fmla="*/ 51516 w 1352282"/>
              <a:gd name="connsiteY26" fmla="*/ 605626 h 747293"/>
              <a:gd name="connsiteX27" fmla="*/ 0 w 1352282"/>
              <a:gd name="connsiteY27" fmla="*/ 657141 h 747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52282" h="747293">
                <a:moveTo>
                  <a:pt x="682580" y="747293"/>
                </a:moveTo>
                <a:cubicBezTo>
                  <a:pt x="729803" y="730121"/>
                  <a:pt x="776579" y="711668"/>
                  <a:pt x="824248" y="695778"/>
                </a:cubicBezTo>
                <a:cubicBezTo>
                  <a:pt x="840922" y="690220"/>
                  <a:pt x="895795" y="680356"/>
                  <a:pt x="914400" y="670020"/>
                </a:cubicBezTo>
                <a:cubicBezTo>
                  <a:pt x="941461" y="654986"/>
                  <a:pt x="962305" y="628293"/>
                  <a:pt x="991673" y="618504"/>
                </a:cubicBezTo>
                <a:cubicBezTo>
                  <a:pt x="1017221" y="609988"/>
                  <a:pt x="1106455" y="581926"/>
                  <a:pt x="1133341" y="566989"/>
                </a:cubicBezTo>
                <a:cubicBezTo>
                  <a:pt x="1152104" y="556565"/>
                  <a:pt x="1167389" y="540828"/>
                  <a:pt x="1184856" y="528352"/>
                </a:cubicBezTo>
                <a:cubicBezTo>
                  <a:pt x="1316712" y="434170"/>
                  <a:pt x="1106605" y="590261"/>
                  <a:pt x="1275009" y="463958"/>
                </a:cubicBezTo>
                <a:cubicBezTo>
                  <a:pt x="1292181" y="438200"/>
                  <a:pt x="1319016" y="416718"/>
                  <a:pt x="1326524" y="386685"/>
                </a:cubicBezTo>
                <a:cubicBezTo>
                  <a:pt x="1342696" y="321999"/>
                  <a:pt x="1333805" y="351961"/>
                  <a:pt x="1352282" y="296533"/>
                </a:cubicBezTo>
                <a:cubicBezTo>
                  <a:pt x="1348589" y="259599"/>
                  <a:pt x="1349731" y="175520"/>
                  <a:pt x="1326524" y="129107"/>
                </a:cubicBezTo>
                <a:cubicBezTo>
                  <a:pt x="1319602" y="115263"/>
                  <a:pt x="1312853" y="100140"/>
                  <a:pt x="1300766" y="90471"/>
                </a:cubicBezTo>
                <a:cubicBezTo>
                  <a:pt x="1290165" y="81991"/>
                  <a:pt x="1274272" y="83663"/>
                  <a:pt x="1262130" y="77592"/>
                </a:cubicBezTo>
                <a:cubicBezTo>
                  <a:pt x="1162269" y="27661"/>
                  <a:pt x="1281968" y="71326"/>
                  <a:pt x="1184856" y="38955"/>
                </a:cubicBezTo>
                <a:cubicBezTo>
                  <a:pt x="1171977" y="30369"/>
                  <a:pt x="1161153" y="17270"/>
                  <a:pt x="1146220" y="13197"/>
                </a:cubicBezTo>
                <a:cubicBezTo>
                  <a:pt x="1045725" y="-14210"/>
                  <a:pt x="880498" y="8881"/>
                  <a:pt x="798490" y="13197"/>
                </a:cubicBezTo>
                <a:cubicBezTo>
                  <a:pt x="727654" y="36810"/>
                  <a:pt x="791121" y="11888"/>
                  <a:pt x="721217" y="51834"/>
                </a:cubicBezTo>
                <a:cubicBezTo>
                  <a:pt x="606837" y="117195"/>
                  <a:pt x="725198" y="40594"/>
                  <a:pt x="631065" y="103350"/>
                </a:cubicBezTo>
                <a:cubicBezTo>
                  <a:pt x="577989" y="182962"/>
                  <a:pt x="636918" y="105302"/>
                  <a:pt x="566671" y="167744"/>
                </a:cubicBezTo>
                <a:cubicBezTo>
                  <a:pt x="539445" y="191945"/>
                  <a:pt x="515155" y="219259"/>
                  <a:pt x="489397" y="245017"/>
                </a:cubicBezTo>
                <a:cubicBezTo>
                  <a:pt x="476518" y="257896"/>
                  <a:pt x="458906" y="267363"/>
                  <a:pt x="450761" y="283654"/>
                </a:cubicBezTo>
                <a:cubicBezTo>
                  <a:pt x="418081" y="349013"/>
                  <a:pt x="440977" y="324520"/>
                  <a:pt x="386366" y="360927"/>
                </a:cubicBezTo>
                <a:cubicBezTo>
                  <a:pt x="377780" y="373806"/>
                  <a:pt x="372258" y="389371"/>
                  <a:pt x="360609" y="399564"/>
                </a:cubicBezTo>
                <a:cubicBezTo>
                  <a:pt x="217971" y="524372"/>
                  <a:pt x="341654" y="398385"/>
                  <a:pt x="231820" y="476837"/>
                </a:cubicBezTo>
                <a:cubicBezTo>
                  <a:pt x="216999" y="487423"/>
                  <a:pt x="209104" y="506628"/>
                  <a:pt x="193183" y="515473"/>
                </a:cubicBezTo>
                <a:cubicBezTo>
                  <a:pt x="169449" y="528659"/>
                  <a:pt x="140721" y="530204"/>
                  <a:pt x="115910" y="541231"/>
                </a:cubicBezTo>
                <a:cubicBezTo>
                  <a:pt x="101765" y="547518"/>
                  <a:pt x="90152" y="558403"/>
                  <a:pt x="77273" y="566989"/>
                </a:cubicBezTo>
                <a:cubicBezTo>
                  <a:pt x="68687" y="579868"/>
                  <a:pt x="62461" y="594681"/>
                  <a:pt x="51516" y="605626"/>
                </a:cubicBezTo>
                <a:cubicBezTo>
                  <a:pt x="-10651" y="667793"/>
                  <a:pt x="29440" y="598260"/>
                  <a:pt x="0" y="657141"/>
                </a:cubicBezTo>
              </a:path>
            </a:pathLst>
          </a:custGeom>
          <a:noFill/>
          <a:ln w="38100">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2" name="Slide Number Placeholder 1">
            <a:extLst>
              <a:ext uri="{FF2B5EF4-FFF2-40B4-BE49-F238E27FC236}">
                <a16:creationId xmlns:a16="http://schemas.microsoft.com/office/drawing/2014/main" id="{3255222E-3F0A-201A-98CE-791472C5CFC6}"/>
              </a:ext>
            </a:extLst>
          </p:cNvPr>
          <p:cNvSpPr>
            <a:spLocks noGrp="1"/>
          </p:cNvSpPr>
          <p:nvPr>
            <p:ph type="sldNum" sz="quarter" idx="12"/>
          </p:nvPr>
        </p:nvSpPr>
        <p:spPr/>
        <p:txBody>
          <a:bodyPr/>
          <a:lstStyle/>
          <a:p>
            <a:fld id="{5BED0315-10DD-40E3-998C-3B4D5D35B9DC}" type="slidenum">
              <a:rPr lang="vi-VN" smtClean="0"/>
              <a:t>67</a:t>
            </a:fld>
            <a:endParaRPr lang="vi-VN"/>
          </a:p>
        </p:txBody>
      </p:sp>
    </p:spTree>
    <p:extLst>
      <p:ext uri="{BB962C8B-B14F-4D97-AF65-F5344CB8AC3E}">
        <p14:creationId xmlns:p14="http://schemas.microsoft.com/office/powerpoint/2010/main" val="4269094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en-US" kern="0">
                <a:solidFill>
                  <a:srgbClr val="002060"/>
                </a:solidFill>
                <a:latin typeface="Cambria" panose="02040503050406030204" pitchFamily="18" charset="0"/>
              </a:rPr>
              <a:t>Ý nghĩa và cách sử dụng </a:t>
            </a:r>
            <a:r>
              <a:rPr lang="en-US" kern="0">
                <a:solidFill>
                  <a:srgbClr val="FF0000"/>
                </a:solidFill>
                <a:latin typeface="Cambria" panose="02040503050406030204" pitchFamily="18" charset="0"/>
              </a:rPr>
              <a:t>break</a:t>
            </a:r>
            <a:r>
              <a:rPr lang="en-US" kern="0">
                <a:solidFill>
                  <a:srgbClr val="002060"/>
                </a:solidFill>
                <a:latin typeface="Cambria" panose="02040503050406030204" pitchFamily="18" charset="0"/>
              </a:rPr>
              <a:t> và </a:t>
            </a:r>
            <a:r>
              <a:rPr lang="en-US" kern="0">
                <a:solidFill>
                  <a:srgbClr val="FF0000"/>
                </a:solidFill>
                <a:latin typeface="Cambria" panose="02040503050406030204" pitchFamily="18" charset="0"/>
              </a:rPr>
              <a:t>continue</a:t>
            </a:r>
            <a:r>
              <a:rPr lang="en-US" kern="0">
                <a:solidFill>
                  <a:srgbClr val="002060"/>
                </a:solidFill>
                <a:latin typeface="Cambria" panose="02040503050406030204" pitchFamily="18" charset="0"/>
              </a:rPr>
              <a:t> </a:t>
            </a:r>
          </a:p>
          <a:p>
            <a:pPr lvl="0">
              <a:defRPr/>
            </a:pPr>
            <a:r>
              <a:rPr lang="en-US" kern="0">
                <a:solidFill>
                  <a:srgbClr val="002060"/>
                </a:solidFill>
                <a:latin typeface="Cambria" panose="02040503050406030204" pitchFamily="18" charset="0"/>
              </a:rPr>
              <a:t>trong các vòng lặp</a:t>
            </a: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C45B45C2-6644-021E-D708-4A0F3CF0CDDF}"/>
              </a:ext>
            </a:extLst>
          </p:cNvPr>
          <p:cNvSpPr>
            <a:spLocks noGrp="1"/>
          </p:cNvSpPr>
          <p:nvPr>
            <p:ph type="sldNum" sz="quarter" idx="12"/>
          </p:nvPr>
        </p:nvSpPr>
        <p:spPr/>
        <p:txBody>
          <a:bodyPr/>
          <a:lstStyle/>
          <a:p>
            <a:fld id="{48FE5571-560F-4DFC-BA97-61ACA5F7ADE1}" type="slidenum">
              <a:rPr lang="en-US" smtClean="0"/>
              <a:pPr/>
              <a:t>68</a:t>
            </a:fld>
            <a:endParaRPr lang="en-US"/>
          </a:p>
        </p:txBody>
      </p:sp>
    </p:spTree>
    <p:extLst>
      <p:ext uri="{BB962C8B-B14F-4D97-AF65-F5344CB8AC3E}">
        <p14:creationId xmlns:p14="http://schemas.microsoft.com/office/powerpoint/2010/main" val="41610490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Cách dùng </a:t>
            </a:r>
            <a:r>
              <a:rPr lang="en-US" kern="0">
                <a:solidFill>
                  <a:srgbClr val="FF0000"/>
                </a:solidFill>
                <a:latin typeface="Cambria" panose="02040503050406030204" pitchFamily="18" charset="0"/>
              </a:rPr>
              <a:t>break</a:t>
            </a:r>
          </a:p>
          <a:p>
            <a:pPr lvl="0" algn="just">
              <a:buClr>
                <a:srgbClr val="3DC5C5"/>
              </a:buClr>
              <a:defRPr/>
            </a:pPr>
            <a:r>
              <a:rPr lang="en-US" kern="0">
                <a:solidFill>
                  <a:srgbClr val="002060"/>
                </a:solidFill>
                <a:latin typeface="Cambria" panose="02040503050406030204" pitchFamily="18" charset="0"/>
              </a:rPr>
              <a:t>Cách dùng </a:t>
            </a:r>
            <a:r>
              <a:rPr lang="en-US" kern="0">
                <a:solidFill>
                  <a:srgbClr val="FF0000"/>
                </a:solidFill>
                <a:latin typeface="Cambria" panose="02040503050406030204" pitchFamily="18" charset="0"/>
              </a:rPr>
              <a:t>continue</a:t>
            </a:r>
            <a:endParaRPr lang="en-US" kern="0" dirty="0">
              <a:solidFill>
                <a:srgbClr val="FF000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49F5B2AE-D810-341C-E0F4-B586A3824B87}"/>
              </a:ext>
            </a:extLst>
          </p:cNvPr>
          <p:cNvSpPr>
            <a:spLocks noGrp="1"/>
          </p:cNvSpPr>
          <p:nvPr>
            <p:ph type="sldNum" sz="quarter" idx="12"/>
          </p:nvPr>
        </p:nvSpPr>
        <p:spPr/>
        <p:txBody>
          <a:bodyPr/>
          <a:lstStyle/>
          <a:p>
            <a:fld id="{48FE5571-560F-4DFC-BA97-61ACA5F7ADE1}" type="slidenum">
              <a:rPr lang="en-US" smtClean="0"/>
              <a:pPr/>
              <a:t>69</a:t>
            </a:fld>
            <a:endParaRPr lang="en-US"/>
          </a:p>
        </p:txBody>
      </p:sp>
    </p:spTree>
    <p:extLst>
      <p:ext uri="{BB962C8B-B14F-4D97-AF65-F5344CB8AC3E}">
        <p14:creationId xmlns:p14="http://schemas.microsoft.com/office/powerpoint/2010/main" val="18602459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Cách dùng </a:t>
              </a:r>
              <a:r>
                <a:rPr lang="en-US" sz="2400" b="1" kern="0">
                  <a:solidFill>
                    <a:srgbClr val="FF0000"/>
                  </a:solidFill>
                  <a:latin typeface="Cambria" panose="02040503050406030204" pitchFamily="18" charset="0"/>
                </a:rPr>
                <a:t>break</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FF0000"/>
                </a:solidFill>
                <a:latin typeface="Cambria" panose="02040503050406030204" pitchFamily="18" charset="0"/>
              </a:rPr>
              <a:t>break</a:t>
            </a:r>
            <a:r>
              <a:rPr lang="en-US" kern="0">
                <a:solidFill>
                  <a:srgbClr val="002060"/>
                </a:solidFill>
                <a:latin typeface="Cambria" panose="02040503050406030204" pitchFamily="18" charset="0"/>
              </a:rPr>
              <a:t> Dùng để thoát khỏi vòng lặp chứa nó trực tiếp (không làm bất kỳ dòng lệnh nào bên dưới nữa). Thường khi ta đạt được giới hạn nào đó hoặc muốn thoát khỏi vòng lặp vĩnh cửu ta sẽ dung break</a:t>
            </a:r>
            <a:endParaRPr lang="en-US" kern="0">
              <a:solidFill>
                <a:srgbClr val="FF000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F4B4F9B6-3136-9EB7-2777-9814FC02F099}"/>
              </a:ext>
            </a:extLst>
          </p:cNvPr>
          <p:cNvSpPr>
            <a:spLocks noGrp="1"/>
          </p:cNvSpPr>
          <p:nvPr>
            <p:ph type="sldNum" sz="quarter" idx="12"/>
          </p:nvPr>
        </p:nvSpPr>
        <p:spPr/>
        <p:txBody>
          <a:bodyPr/>
          <a:lstStyle/>
          <a:p>
            <a:fld id="{48FE5571-560F-4DFC-BA97-61ACA5F7ADE1}" type="slidenum">
              <a:rPr lang="en-US" smtClean="0"/>
              <a:pPr/>
              <a:t>70</a:t>
            </a:fld>
            <a:endParaRPr lang="en-US"/>
          </a:p>
        </p:txBody>
      </p:sp>
    </p:spTree>
    <p:extLst>
      <p:ext uri="{BB962C8B-B14F-4D97-AF65-F5344CB8AC3E}">
        <p14:creationId xmlns:p14="http://schemas.microsoft.com/office/powerpoint/2010/main" val="22515769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Cách dùng </a:t>
              </a:r>
              <a:r>
                <a:rPr lang="en-US" sz="2400" b="1" kern="0">
                  <a:solidFill>
                    <a:srgbClr val="FF0000"/>
                  </a:solidFill>
                  <a:latin typeface="Cambria" panose="02040503050406030204" pitchFamily="18" charset="0"/>
                </a:rPr>
                <a:t>break</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Ví dụ thoát vòng lặp khi đạt được giới hạn:</a:t>
            </a:r>
          </a:p>
          <a:p>
            <a:pPr lvl="0" algn="just">
              <a:buClr>
                <a:srgbClr val="3DC5C5"/>
              </a:buClr>
              <a:defRPr/>
            </a:pPr>
            <a:endParaRPr lang="en-US" kern="0">
              <a:solidFill>
                <a:srgbClr val="FF0000"/>
              </a:solidFill>
              <a:latin typeface="Cambria" panose="02040503050406030204" pitchFamily="18" charset="0"/>
            </a:endParaRPr>
          </a:p>
        </p:txBody>
      </p:sp>
      <p:sp>
        <p:nvSpPr>
          <p:cNvPr id="9" name="Rectangle 8"/>
          <p:cNvSpPr/>
          <p:nvPr/>
        </p:nvSpPr>
        <p:spPr>
          <a:xfrm>
            <a:off x="2590800" y="1764775"/>
            <a:ext cx="7010400" cy="4524315"/>
          </a:xfrm>
          <a:prstGeom prst="rect">
            <a:avLst/>
          </a:prstGeom>
        </p:spPr>
        <p:txBody>
          <a:bodyPr wrap="square">
            <a:spAutoFit/>
          </a:bodyPr>
          <a:lstStyle/>
          <a:p>
            <a:r>
              <a:rPr lang="en-US" sz="2400" b="1">
                <a:solidFill>
                  <a:srgbClr val="7F0055"/>
                </a:solidFill>
                <a:latin typeface="Courier New" panose="02070309020205020404" pitchFamily="49" charset="0"/>
              </a:rPr>
              <a:t>int</a:t>
            </a:r>
            <a:r>
              <a:rPr lang="en-US" sz="2400" b="1">
                <a:solidFill>
                  <a:srgbClr val="000000"/>
                </a:solidFill>
                <a:latin typeface="Courier New" panose="02070309020205020404" pitchFamily="49" charset="0"/>
              </a:rPr>
              <a:t> n=10;</a:t>
            </a:r>
          </a:p>
          <a:p>
            <a:r>
              <a:rPr lang="en-US" sz="2400" b="1">
                <a:solidFill>
                  <a:srgbClr val="7F0055"/>
                </a:solidFill>
                <a:latin typeface="Courier New" panose="02070309020205020404" pitchFamily="49" charset="0"/>
              </a:rPr>
              <a:t>int</a:t>
            </a:r>
            <a:r>
              <a:rPr lang="en-US" sz="2400" b="1">
                <a:solidFill>
                  <a:srgbClr val="000000"/>
                </a:solidFill>
                <a:latin typeface="Courier New" panose="02070309020205020404" pitchFamily="49" charset="0"/>
              </a:rPr>
              <a:t> i=0;</a:t>
            </a:r>
          </a:p>
          <a:p>
            <a:r>
              <a:rPr lang="en-US" sz="2400" b="1">
                <a:solidFill>
                  <a:srgbClr val="7F0055"/>
                </a:solidFill>
                <a:latin typeface="Courier New" panose="02070309020205020404" pitchFamily="49" charset="0"/>
              </a:rPr>
              <a:t>int</a:t>
            </a:r>
            <a:r>
              <a:rPr lang="en-US" sz="2400" b="1">
                <a:solidFill>
                  <a:srgbClr val="000000"/>
                </a:solidFill>
                <a:latin typeface="Courier New" panose="02070309020205020404" pitchFamily="49" charset="0"/>
              </a:rPr>
              <a:t> t=0;</a:t>
            </a:r>
          </a:p>
          <a:p>
            <a:r>
              <a:rPr lang="en-US" sz="2400" b="1">
                <a:solidFill>
                  <a:srgbClr val="7F0055"/>
                </a:solidFill>
                <a:latin typeface="Courier New" panose="02070309020205020404" pitchFamily="49" charset="0"/>
              </a:rPr>
              <a:t>while</a:t>
            </a:r>
            <a:r>
              <a:rPr lang="en-US" sz="2400" b="1">
                <a:solidFill>
                  <a:srgbClr val="000000"/>
                </a:solidFill>
                <a:latin typeface="Courier New" panose="02070309020205020404" pitchFamily="49" charset="0"/>
              </a:rPr>
              <a:t>(i&lt;n)</a:t>
            </a:r>
          </a:p>
          <a:p>
            <a:r>
              <a:rPr lang="en-US" sz="2400">
                <a:solidFill>
                  <a:srgbClr val="000000"/>
                </a:solidFill>
                <a:latin typeface="Courier New" panose="02070309020205020404" pitchFamily="49" charset="0"/>
              </a:rPr>
              <a:t>{</a:t>
            </a:r>
          </a:p>
          <a:p>
            <a:pPr lvl="1"/>
            <a:r>
              <a:rPr lang="en-US" sz="2400">
                <a:solidFill>
                  <a:srgbClr val="000000"/>
                </a:solidFill>
                <a:latin typeface="Courier New" panose="02070309020205020404" pitchFamily="49" charset="0"/>
              </a:rPr>
              <a:t>t=t+i;</a:t>
            </a:r>
          </a:p>
          <a:p>
            <a:pPr lvl="1"/>
            <a:r>
              <a:rPr lang="en-US" sz="2400" b="1">
                <a:solidFill>
                  <a:srgbClr val="7F0055"/>
                </a:solidFill>
                <a:latin typeface="Courier New" panose="02070309020205020404" pitchFamily="49" charset="0"/>
              </a:rPr>
              <a:t>if</a:t>
            </a:r>
            <a:r>
              <a:rPr lang="en-US" sz="2400" b="1">
                <a:solidFill>
                  <a:srgbClr val="000000"/>
                </a:solidFill>
                <a:latin typeface="Courier New" panose="02070309020205020404" pitchFamily="49" charset="0"/>
              </a:rPr>
              <a:t>(t&gt;=5)</a:t>
            </a:r>
          </a:p>
          <a:p>
            <a:pPr lvl="1"/>
            <a:r>
              <a:rPr lang="en-US" sz="2400" b="1">
                <a:solidFill>
                  <a:srgbClr val="7F0055"/>
                </a:solidFill>
                <a:latin typeface="Courier New" panose="02070309020205020404" pitchFamily="49" charset="0"/>
              </a:rPr>
              <a:t>	break</a:t>
            </a:r>
            <a:r>
              <a:rPr lang="en-US" sz="2400" b="1">
                <a:solidFill>
                  <a:srgbClr val="000000"/>
                </a:solidFill>
                <a:latin typeface="Courier New" panose="02070309020205020404" pitchFamily="49" charset="0"/>
              </a:rPr>
              <a:t>;</a:t>
            </a:r>
          </a:p>
          <a:p>
            <a:pPr lvl="1"/>
            <a:r>
              <a:rPr lang="en-US" sz="2400">
                <a:solidFill>
                  <a:srgbClr val="000000"/>
                </a:solidFill>
                <a:latin typeface="Courier New" panose="02070309020205020404" pitchFamily="49" charset="0"/>
              </a:rPr>
              <a:t>i++;</a:t>
            </a:r>
          </a:p>
          <a:p>
            <a:r>
              <a:rPr lang="en-US" sz="2400">
                <a:solidFill>
                  <a:srgbClr val="000000"/>
                </a:solidFill>
                <a:latin typeface="Courier New" panose="02070309020205020404" pitchFamily="49" charset="0"/>
              </a:rPr>
              <a:t>}</a:t>
            </a:r>
          </a:p>
          <a:p>
            <a:r>
              <a:rPr lang="en-US" sz="2400">
                <a:solidFill>
                  <a:srgbClr val="000000"/>
                </a:solidFill>
                <a:latin typeface="Courier New" panose="02070309020205020404" pitchFamily="49" charset="0"/>
                <a:sym typeface="Wingdings" panose="05000000000000000000" pitchFamily="2" charset="2"/>
              </a:rPr>
              <a:t></a:t>
            </a:r>
            <a:r>
              <a:rPr lang="en-US" sz="2400">
                <a:solidFill>
                  <a:srgbClr val="000000"/>
                </a:solidFill>
                <a:latin typeface="Courier New" panose="02070309020205020404" pitchFamily="49" charset="0"/>
              </a:rPr>
              <a:t>i=?</a:t>
            </a:r>
          </a:p>
          <a:p>
            <a:r>
              <a:rPr lang="en-US" sz="2400">
                <a:solidFill>
                  <a:srgbClr val="000000"/>
                </a:solidFill>
                <a:latin typeface="Courier New" panose="02070309020205020404" pitchFamily="49" charset="0"/>
                <a:sym typeface="Wingdings" panose="05000000000000000000" pitchFamily="2" charset="2"/>
              </a:rPr>
              <a:t></a:t>
            </a:r>
            <a:r>
              <a:rPr lang="en-US" sz="2400">
                <a:solidFill>
                  <a:srgbClr val="000000"/>
                </a:solidFill>
                <a:latin typeface="Courier New" panose="02070309020205020404" pitchFamily="49" charset="0"/>
              </a:rPr>
              <a:t>t=?</a:t>
            </a:r>
            <a:endParaRPr lang="en-US" sz="2400"/>
          </a:p>
        </p:txBody>
      </p:sp>
      <p:sp>
        <p:nvSpPr>
          <p:cNvPr id="10" name="Content Placeholder 2"/>
          <p:cNvSpPr txBox="1">
            <a:spLocks/>
          </p:cNvSpPr>
          <p:nvPr/>
        </p:nvSpPr>
        <p:spPr bwMode="auto">
          <a:xfrm>
            <a:off x="5181601" y="1823856"/>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sz="2800" kern="0">
                <a:solidFill>
                  <a:srgbClr val="FF0000"/>
                </a:solidFill>
                <a:latin typeface="Cambria" panose="02040503050406030204" pitchFamily="18" charset="0"/>
              </a:rPr>
              <a:t>i=0, t=0</a:t>
            </a:r>
          </a:p>
          <a:p>
            <a:pPr marL="0" indent="0" algn="just">
              <a:buClr>
                <a:srgbClr val="3DC5C5"/>
              </a:buClr>
              <a:buNone/>
              <a:defRPr/>
            </a:pPr>
            <a:r>
              <a:rPr lang="en-US" sz="2800" kern="0">
                <a:solidFill>
                  <a:srgbClr val="FF0000"/>
                </a:solidFill>
                <a:latin typeface="Cambria" panose="02040503050406030204" pitchFamily="18" charset="0"/>
              </a:rPr>
              <a:t>1)t=t+i=0+0=0</a:t>
            </a:r>
          </a:p>
          <a:p>
            <a:pPr marL="0" indent="0" algn="just">
              <a:buClr>
                <a:srgbClr val="3DC5C5"/>
              </a:buClr>
              <a:buNone/>
              <a:defRPr/>
            </a:pPr>
            <a:r>
              <a:rPr lang="en-US" sz="2800" kern="0">
                <a:solidFill>
                  <a:srgbClr val="FF0000"/>
                </a:solidFill>
                <a:latin typeface="Cambria" panose="02040503050406030204" pitchFamily="18" charset="0"/>
              </a:rPr>
              <a:t>i++</a:t>
            </a:r>
            <a:r>
              <a:rPr lang="en-US" sz="2800" kern="0">
                <a:solidFill>
                  <a:srgbClr val="FF0000"/>
                </a:solidFill>
                <a:latin typeface="Cambria" panose="02040503050406030204" pitchFamily="18" charset="0"/>
                <a:sym typeface="Wingdings" panose="05000000000000000000" pitchFamily="2" charset="2"/>
              </a:rPr>
              <a:t>i=1</a:t>
            </a:r>
          </a:p>
          <a:p>
            <a:pPr marL="0" indent="0" algn="just">
              <a:buClr>
                <a:srgbClr val="3DC5C5"/>
              </a:buClr>
              <a:buNone/>
              <a:defRPr/>
            </a:pPr>
            <a:r>
              <a:rPr lang="en-US" sz="2800" kern="0">
                <a:solidFill>
                  <a:srgbClr val="FF0000"/>
                </a:solidFill>
                <a:latin typeface="Cambria" panose="02040503050406030204" pitchFamily="18" charset="0"/>
                <a:sym typeface="Wingdings" panose="05000000000000000000" pitchFamily="2" charset="2"/>
              </a:rPr>
              <a:t>2) t=t+i=0+1=1</a:t>
            </a:r>
          </a:p>
          <a:p>
            <a:pPr marL="0" indent="0" algn="just">
              <a:buClr>
                <a:srgbClr val="3DC5C5"/>
              </a:buClr>
              <a:buNone/>
              <a:defRPr/>
            </a:pPr>
            <a:r>
              <a:rPr lang="en-US" sz="2800" kern="0">
                <a:solidFill>
                  <a:srgbClr val="FF0000"/>
                </a:solidFill>
                <a:latin typeface="Cambria" panose="02040503050406030204" pitchFamily="18" charset="0"/>
                <a:sym typeface="Wingdings" panose="05000000000000000000" pitchFamily="2" charset="2"/>
              </a:rPr>
              <a:t>i++i=2</a:t>
            </a:r>
          </a:p>
          <a:p>
            <a:pPr marL="0" indent="0" algn="just">
              <a:buClr>
                <a:srgbClr val="3DC5C5"/>
              </a:buClr>
              <a:buNone/>
              <a:defRPr/>
            </a:pPr>
            <a:r>
              <a:rPr lang="en-US" sz="2800" kern="0">
                <a:solidFill>
                  <a:srgbClr val="FF0000"/>
                </a:solidFill>
                <a:latin typeface="Cambria" panose="02040503050406030204" pitchFamily="18" charset="0"/>
                <a:sym typeface="Wingdings" panose="05000000000000000000" pitchFamily="2" charset="2"/>
              </a:rPr>
              <a:t>3) t=t+i=1+2=3</a:t>
            </a:r>
          </a:p>
          <a:p>
            <a:pPr marL="0" indent="0" algn="just">
              <a:buClr>
                <a:srgbClr val="3DC5C5"/>
              </a:buClr>
              <a:buNone/>
              <a:defRPr/>
            </a:pPr>
            <a:r>
              <a:rPr lang="en-US" sz="2800" kern="0">
                <a:solidFill>
                  <a:srgbClr val="FF0000"/>
                </a:solidFill>
                <a:latin typeface="Cambria" panose="02040503050406030204" pitchFamily="18" charset="0"/>
                <a:sym typeface="Wingdings" panose="05000000000000000000" pitchFamily="2" charset="2"/>
              </a:rPr>
              <a:t>i++i=3</a:t>
            </a:r>
          </a:p>
          <a:p>
            <a:pPr marL="0" indent="0" algn="just">
              <a:buClr>
                <a:srgbClr val="3DC5C5"/>
              </a:buClr>
              <a:buNone/>
              <a:defRPr/>
            </a:pPr>
            <a:r>
              <a:rPr lang="en-US" sz="2800" kern="0">
                <a:solidFill>
                  <a:srgbClr val="FF0000"/>
                </a:solidFill>
                <a:latin typeface="Cambria" panose="02040503050406030204" pitchFamily="18" charset="0"/>
                <a:sym typeface="Wingdings" panose="05000000000000000000" pitchFamily="2" charset="2"/>
              </a:rPr>
              <a:t>4)t=t+i=3+3=6</a:t>
            </a:r>
          </a:p>
          <a:p>
            <a:pPr marL="0" indent="0" algn="just">
              <a:buClr>
                <a:srgbClr val="3DC5C5"/>
              </a:buClr>
              <a:buNone/>
              <a:defRPr/>
            </a:pPr>
            <a:r>
              <a:rPr lang="en-US" sz="2800" kern="0">
                <a:solidFill>
                  <a:srgbClr val="FF0000"/>
                </a:solidFill>
                <a:latin typeface="Cambria" panose="02040503050406030204" pitchFamily="18" charset="0"/>
                <a:sym typeface="Wingdings" panose="05000000000000000000" pitchFamily="2" charset="2"/>
              </a:rPr>
              <a:t>Dừng while vì 6&gt;=5break;</a:t>
            </a:r>
            <a:endParaRPr lang="en-US" sz="2800" kern="0">
              <a:solidFill>
                <a:srgbClr val="FF0000"/>
              </a:solidFill>
              <a:latin typeface="Cambria" panose="02040503050406030204" pitchFamily="18" charset="0"/>
            </a:endParaRPr>
          </a:p>
        </p:txBody>
      </p:sp>
      <p:sp>
        <p:nvSpPr>
          <p:cNvPr id="11" name="Slide Number Placeholder 10">
            <a:extLst>
              <a:ext uri="{FF2B5EF4-FFF2-40B4-BE49-F238E27FC236}">
                <a16:creationId xmlns:a16="http://schemas.microsoft.com/office/drawing/2014/main" id="{B1F03636-2D71-B304-33FA-006CD1E12CC5}"/>
              </a:ext>
            </a:extLst>
          </p:cNvPr>
          <p:cNvSpPr>
            <a:spLocks noGrp="1"/>
          </p:cNvSpPr>
          <p:nvPr>
            <p:ph type="sldNum" sz="quarter" idx="12"/>
          </p:nvPr>
        </p:nvSpPr>
        <p:spPr/>
        <p:txBody>
          <a:bodyPr/>
          <a:lstStyle/>
          <a:p>
            <a:fld id="{48FE5571-560F-4DFC-BA97-61ACA5F7ADE1}" type="slidenum">
              <a:rPr lang="en-US" smtClean="0"/>
              <a:pPr/>
              <a:t>71</a:t>
            </a:fld>
            <a:endParaRPr lang="en-US"/>
          </a:p>
        </p:txBody>
      </p:sp>
    </p:spTree>
    <p:extLst>
      <p:ext uri="{BB962C8B-B14F-4D97-AF65-F5344CB8AC3E}">
        <p14:creationId xmlns:p14="http://schemas.microsoft.com/office/powerpoint/2010/main" val="930712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Cách dùng </a:t>
              </a:r>
              <a:r>
                <a:rPr lang="en-US" sz="2400" b="1" kern="0">
                  <a:solidFill>
                    <a:srgbClr val="FF0000"/>
                  </a:solidFill>
                  <a:latin typeface="Cambria" panose="02040503050406030204" pitchFamily="18" charset="0"/>
                </a:rPr>
                <a:t>break</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Ví dụ thoát vòng lặp vĩnh cửu:</a:t>
            </a:r>
          </a:p>
          <a:p>
            <a:pPr lvl="0" algn="just">
              <a:buClr>
                <a:srgbClr val="3DC5C5"/>
              </a:buClr>
              <a:defRPr/>
            </a:pPr>
            <a:endParaRPr lang="en-US" kern="0">
              <a:solidFill>
                <a:srgbClr val="FF0000"/>
              </a:solidFill>
              <a:latin typeface="Cambria" panose="02040503050406030204" pitchFamily="18" charset="0"/>
            </a:endParaRPr>
          </a:p>
        </p:txBody>
      </p:sp>
      <p:sp>
        <p:nvSpPr>
          <p:cNvPr id="10" name="Rectangle 9"/>
          <p:cNvSpPr/>
          <p:nvPr/>
        </p:nvSpPr>
        <p:spPr>
          <a:xfrm>
            <a:off x="2362200" y="1549445"/>
            <a:ext cx="8153400" cy="4893647"/>
          </a:xfrm>
          <a:prstGeom prst="rect">
            <a:avLst/>
          </a:prstGeom>
        </p:spPr>
        <p:txBody>
          <a:bodyPr wrap="square">
            <a:spAutoFit/>
          </a:bodyPr>
          <a:lstStyle/>
          <a:p>
            <a:r>
              <a:rPr lang="en-US" sz="2400" b="1">
                <a:solidFill>
                  <a:srgbClr val="7F0055"/>
                </a:solidFill>
                <a:latin typeface="Courier New" panose="02070309020205020404" pitchFamily="49" charset="0"/>
              </a:rPr>
              <a:t>while</a:t>
            </a:r>
            <a:r>
              <a:rPr lang="en-US" sz="2400" b="1">
                <a:solidFill>
                  <a:srgbClr val="000000"/>
                </a:solidFill>
                <a:latin typeface="Courier New" panose="02070309020205020404" pitchFamily="49" charset="0"/>
              </a:rPr>
              <a:t>(</a:t>
            </a:r>
            <a:r>
              <a:rPr lang="en-US" sz="2400" b="1">
                <a:solidFill>
                  <a:srgbClr val="7F0055"/>
                </a:solidFill>
                <a:latin typeface="Courier New" panose="02070309020205020404" pitchFamily="49" charset="0"/>
              </a:rPr>
              <a:t>true</a:t>
            </a:r>
            <a:r>
              <a:rPr lang="en-US" sz="2400" b="1">
                <a:solidFill>
                  <a:srgbClr val="000000"/>
                </a:solidFill>
                <a:latin typeface="Courier New" panose="02070309020205020404" pitchFamily="49" charset="0"/>
              </a:rPr>
              <a:t>)</a:t>
            </a:r>
          </a:p>
          <a:p>
            <a:r>
              <a:rPr lang="en-US" sz="2400">
                <a:solidFill>
                  <a:srgbClr val="000000"/>
                </a:solidFill>
                <a:latin typeface="Courier New" panose="02070309020205020404" pitchFamily="49" charset="0"/>
              </a:rPr>
              <a:t>{</a:t>
            </a:r>
          </a:p>
          <a:p>
            <a:pPr lvl="1"/>
            <a:r>
              <a:rPr lang="en-US" sz="2400">
                <a:solidFill>
                  <a:srgbClr val="000000"/>
                </a:solidFill>
                <a:latin typeface="Courier New" panose="02070309020205020404" pitchFamily="49" charset="0"/>
              </a:rPr>
              <a:t>System.</a:t>
            </a:r>
            <a:r>
              <a:rPr lang="en-US" sz="2400" i="1">
                <a:solidFill>
                  <a:srgbClr val="0000C0"/>
                </a:solidFill>
                <a:latin typeface="Courier New" panose="02070309020205020404" pitchFamily="49" charset="0"/>
              </a:rPr>
              <a:t>out</a:t>
            </a:r>
            <a:r>
              <a:rPr lang="en-US" sz="2400" i="1">
                <a:solidFill>
                  <a:srgbClr val="000000"/>
                </a:solidFill>
                <a:latin typeface="Courier New" panose="02070309020205020404" pitchFamily="49" charset="0"/>
              </a:rPr>
              <a:t>.println(</a:t>
            </a:r>
            <a:r>
              <a:rPr lang="en-US" sz="2400" i="1">
                <a:solidFill>
                  <a:srgbClr val="2A00FF"/>
                </a:solidFill>
                <a:latin typeface="Courier New" panose="02070309020205020404" pitchFamily="49" charset="0"/>
              </a:rPr>
              <a:t>"Nhập a:"</a:t>
            </a:r>
            <a:r>
              <a:rPr lang="en-US" sz="2400" i="1">
                <a:solidFill>
                  <a:srgbClr val="000000"/>
                </a:solidFill>
                <a:latin typeface="Courier New" panose="02070309020205020404" pitchFamily="49" charset="0"/>
              </a:rPr>
              <a:t>);</a:t>
            </a:r>
          </a:p>
          <a:p>
            <a:pPr lvl="1"/>
            <a:r>
              <a:rPr lang="en-US" sz="2400" b="1">
                <a:solidFill>
                  <a:srgbClr val="7F0055"/>
                </a:solidFill>
                <a:latin typeface="Courier New" panose="02070309020205020404" pitchFamily="49" charset="0"/>
              </a:rPr>
              <a:t>int</a:t>
            </a:r>
            <a:r>
              <a:rPr lang="en-US" sz="2400" b="1">
                <a:solidFill>
                  <a:srgbClr val="000000"/>
                </a:solidFill>
                <a:latin typeface="Courier New" panose="02070309020205020404" pitchFamily="49" charset="0"/>
              </a:rPr>
              <a:t> a=</a:t>
            </a:r>
            <a:r>
              <a:rPr lang="en-US" sz="2400" b="1">
                <a:solidFill>
                  <a:srgbClr val="7F0055"/>
                </a:solidFill>
                <a:latin typeface="Courier New" panose="02070309020205020404" pitchFamily="49" charset="0"/>
              </a:rPr>
              <a:t>new</a:t>
            </a:r>
            <a:r>
              <a:rPr lang="en-US" sz="2400" b="1">
                <a:solidFill>
                  <a:srgbClr val="000000"/>
                </a:solidFill>
                <a:latin typeface="Courier New" panose="02070309020205020404" pitchFamily="49" charset="0"/>
              </a:rPr>
              <a:t> Scanner(System.</a:t>
            </a:r>
            <a:r>
              <a:rPr lang="en-US" sz="2400" b="1" i="1">
                <a:solidFill>
                  <a:srgbClr val="0000C0"/>
                </a:solidFill>
                <a:latin typeface="Courier New" panose="02070309020205020404" pitchFamily="49" charset="0"/>
              </a:rPr>
              <a:t>in</a:t>
            </a:r>
            <a:r>
              <a:rPr lang="en-US" sz="2400" b="1" i="1">
                <a:solidFill>
                  <a:srgbClr val="000000"/>
                </a:solidFill>
                <a:latin typeface="Courier New" panose="02070309020205020404" pitchFamily="49" charset="0"/>
              </a:rPr>
              <a:t>).nextInt();</a:t>
            </a:r>
          </a:p>
          <a:p>
            <a:pPr lvl="1"/>
            <a:r>
              <a:rPr lang="en-US" sz="2400">
                <a:solidFill>
                  <a:srgbClr val="000000"/>
                </a:solidFill>
                <a:latin typeface="Courier New" panose="02070309020205020404" pitchFamily="49" charset="0"/>
              </a:rPr>
              <a:t>System.</a:t>
            </a:r>
            <a:r>
              <a:rPr lang="en-US" sz="2400" i="1">
                <a:solidFill>
                  <a:srgbClr val="0000C0"/>
                </a:solidFill>
                <a:latin typeface="Courier New" panose="02070309020205020404" pitchFamily="49" charset="0"/>
              </a:rPr>
              <a:t>out</a:t>
            </a:r>
            <a:r>
              <a:rPr lang="en-US" sz="2400" i="1">
                <a:solidFill>
                  <a:srgbClr val="000000"/>
                </a:solidFill>
                <a:latin typeface="Courier New" panose="02070309020205020404" pitchFamily="49" charset="0"/>
              </a:rPr>
              <a:t>.println(</a:t>
            </a:r>
            <a:r>
              <a:rPr lang="en-US" sz="2400" i="1">
                <a:solidFill>
                  <a:srgbClr val="2A00FF"/>
                </a:solidFill>
                <a:latin typeface="Courier New" panose="02070309020205020404" pitchFamily="49" charset="0"/>
              </a:rPr>
              <a:t>"Nhập b:"</a:t>
            </a:r>
            <a:r>
              <a:rPr lang="en-US" sz="2400" i="1">
                <a:solidFill>
                  <a:srgbClr val="000000"/>
                </a:solidFill>
                <a:latin typeface="Courier New" panose="02070309020205020404" pitchFamily="49" charset="0"/>
              </a:rPr>
              <a:t>);</a:t>
            </a:r>
          </a:p>
          <a:p>
            <a:pPr lvl="1"/>
            <a:r>
              <a:rPr lang="en-US" sz="2400" b="1">
                <a:solidFill>
                  <a:srgbClr val="7F0055"/>
                </a:solidFill>
                <a:latin typeface="Courier New" panose="02070309020205020404" pitchFamily="49" charset="0"/>
              </a:rPr>
              <a:t>int</a:t>
            </a:r>
            <a:r>
              <a:rPr lang="en-US" sz="2400" b="1">
                <a:solidFill>
                  <a:srgbClr val="000000"/>
                </a:solidFill>
                <a:latin typeface="Courier New" panose="02070309020205020404" pitchFamily="49" charset="0"/>
              </a:rPr>
              <a:t> b=</a:t>
            </a:r>
            <a:r>
              <a:rPr lang="en-US" sz="2400" b="1">
                <a:solidFill>
                  <a:srgbClr val="7F0055"/>
                </a:solidFill>
                <a:latin typeface="Courier New" panose="02070309020205020404" pitchFamily="49" charset="0"/>
              </a:rPr>
              <a:t>new</a:t>
            </a:r>
            <a:r>
              <a:rPr lang="en-US" sz="2400" b="1">
                <a:solidFill>
                  <a:srgbClr val="000000"/>
                </a:solidFill>
                <a:latin typeface="Courier New" panose="02070309020205020404" pitchFamily="49" charset="0"/>
              </a:rPr>
              <a:t> Scanner(System.</a:t>
            </a:r>
            <a:r>
              <a:rPr lang="en-US" sz="2400" b="1" i="1">
                <a:solidFill>
                  <a:srgbClr val="0000C0"/>
                </a:solidFill>
                <a:latin typeface="Courier New" panose="02070309020205020404" pitchFamily="49" charset="0"/>
              </a:rPr>
              <a:t>in</a:t>
            </a:r>
            <a:r>
              <a:rPr lang="en-US" sz="2400" b="1" i="1">
                <a:solidFill>
                  <a:srgbClr val="000000"/>
                </a:solidFill>
                <a:latin typeface="Courier New" panose="02070309020205020404" pitchFamily="49" charset="0"/>
              </a:rPr>
              <a:t>).nextInt();</a:t>
            </a:r>
          </a:p>
          <a:p>
            <a:pPr lvl="1"/>
            <a:r>
              <a:rPr lang="en-US" sz="2400">
                <a:solidFill>
                  <a:srgbClr val="000000"/>
                </a:solidFill>
                <a:latin typeface="Courier New" panose="02070309020205020404" pitchFamily="49" charset="0"/>
              </a:rPr>
              <a:t>System.</a:t>
            </a:r>
            <a:r>
              <a:rPr lang="en-US" sz="2400" i="1">
                <a:solidFill>
                  <a:srgbClr val="0000C0"/>
                </a:solidFill>
                <a:latin typeface="Courier New" panose="02070309020205020404" pitchFamily="49" charset="0"/>
              </a:rPr>
              <a:t>out</a:t>
            </a:r>
            <a:r>
              <a:rPr lang="en-US" sz="2400" i="1">
                <a:solidFill>
                  <a:srgbClr val="000000"/>
                </a:solidFill>
                <a:latin typeface="Courier New" panose="02070309020205020404" pitchFamily="49" charset="0"/>
              </a:rPr>
              <a:t>.println(a+</a:t>
            </a:r>
            <a:r>
              <a:rPr lang="en-US" sz="2400" i="1">
                <a:solidFill>
                  <a:srgbClr val="2A00FF"/>
                </a:solidFill>
                <a:latin typeface="Courier New" panose="02070309020205020404" pitchFamily="49" charset="0"/>
              </a:rPr>
              <a:t>"+"</a:t>
            </a:r>
            <a:r>
              <a:rPr lang="en-US" sz="2400" i="1">
                <a:solidFill>
                  <a:srgbClr val="000000"/>
                </a:solidFill>
                <a:latin typeface="Courier New" panose="02070309020205020404" pitchFamily="49" charset="0"/>
              </a:rPr>
              <a:t>+b+</a:t>
            </a:r>
            <a:r>
              <a:rPr lang="en-US" sz="2400" i="1">
                <a:solidFill>
                  <a:srgbClr val="2A00FF"/>
                </a:solidFill>
                <a:latin typeface="Courier New" panose="02070309020205020404" pitchFamily="49" charset="0"/>
              </a:rPr>
              <a:t>"="</a:t>
            </a:r>
            <a:r>
              <a:rPr lang="en-US" sz="2400" i="1">
                <a:solidFill>
                  <a:srgbClr val="000000"/>
                </a:solidFill>
                <a:latin typeface="Courier New" panose="02070309020205020404" pitchFamily="49" charset="0"/>
              </a:rPr>
              <a:t>+(a+b));</a:t>
            </a:r>
          </a:p>
          <a:p>
            <a:pPr lvl="1"/>
            <a:r>
              <a:rPr lang="en-US" sz="2400">
                <a:solidFill>
                  <a:srgbClr val="000000"/>
                </a:solidFill>
                <a:latin typeface="Courier New" panose="02070309020205020404" pitchFamily="49" charset="0"/>
              </a:rPr>
              <a:t>System.</a:t>
            </a:r>
            <a:r>
              <a:rPr lang="en-US" sz="2400" i="1">
                <a:solidFill>
                  <a:srgbClr val="0000C0"/>
                </a:solidFill>
                <a:latin typeface="Courier New" panose="02070309020205020404" pitchFamily="49" charset="0"/>
              </a:rPr>
              <a:t>out</a:t>
            </a:r>
            <a:r>
              <a:rPr lang="en-US" sz="2400" i="1">
                <a:solidFill>
                  <a:srgbClr val="000000"/>
                </a:solidFill>
                <a:latin typeface="Courier New" panose="02070309020205020404" pitchFamily="49" charset="0"/>
              </a:rPr>
              <a:t>.println(</a:t>
            </a:r>
            <a:r>
              <a:rPr lang="en-US" sz="2400" i="1">
                <a:solidFill>
                  <a:srgbClr val="2A00FF"/>
                </a:solidFill>
                <a:latin typeface="Courier New" panose="02070309020205020404" pitchFamily="49" charset="0"/>
              </a:rPr>
              <a:t>"Tiếp ko?(c/k)"</a:t>
            </a:r>
            <a:r>
              <a:rPr lang="en-US" sz="2400" i="1">
                <a:solidFill>
                  <a:srgbClr val="000000"/>
                </a:solidFill>
                <a:latin typeface="Courier New" panose="02070309020205020404" pitchFamily="49" charset="0"/>
              </a:rPr>
              <a:t>);</a:t>
            </a:r>
          </a:p>
          <a:p>
            <a:pPr lvl="1"/>
            <a:r>
              <a:rPr lang="en-US" sz="2400">
                <a:solidFill>
                  <a:srgbClr val="000000"/>
                </a:solidFill>
                <a:latin typeface="Courier New" panose="02070309020205020404" pitchFamily="49" charset="0"/>
              </a:rPr>
              <a:t>String line=</a:t>
            </a:r>
            <a:r>
              <a:rPr lang="en-US" sz="2400" b="1">
                <a:solidFill>
                  <a:srgbClr val="7F0055"/>
                </a:solidFill>
                <a:latin typeface="Courier New" panose="02070309020205020404" pitchFamily="49" charset="0"/>
              </a:rPr>
              <a:t>new</a:t>
            </a:r>
            <a:r>
              <a:rPr lang="en-US" sz="2400" b="1">
                <a:solidFill>
                  <a:srgbClr val="000000"/>
                </a:solidFill>
                <a:latin typeface="Courier New" panose="02070309020205020404" pitchFamily="49" charset="0"/>
              </a:rPr>
              <a:t> Scanner(System.</a:t>
            </a:r>
            <a:r>
              <a:rPr lang="en-US" sz="2400" b="1" i="1">
                <a:solidFill>
                  <a:srgbClr val="0000C0"/>
                </a:solidFill>
                <a:latin typeface="Courier New" panose="02070309020205020404" pitchFamily="49" charset="0"/>
              </a:rPr>
              <a:t>in</a:t>
            </a:r>
            <a:r>
              <a:rPr lang="en-US" sz="2400" b="1" i="1">
                <a:solidFill>
                  <a:srgbClr val="000000"/>
                </a:solidFill>
                <a:latin typeface="Courier New" panose="02070309020205020404" pitchFamily="49" charset="0"/>
              </a:rPr>
              <a:t>).nextLine();</a:t>
            </a:r>
          </a:p>
          <a:p>
            <a:pPr lvl="1"/>
            <a:r>
              <a:rPr lang="en-US" sz="2400" b="1">
                <a:solidFill>
                  <a:srgbClr val="7F0055"/>
                </a:solidFill>
                <a:latin typeface="Courier New" panose="02070309020205020404" pitchFamily="49" charset="0"/>
              </a:rPr>
              <a:t>if</a:t>
            </a:r>
            <a:r>
              <a:rPr lang="en-US" sz="2400" b="1">
                <a:solidFill>
                  <a:srgbClr val="000000"/>
                </a:solidFill>
                <a:latin typeface="Courier New" panose="02070309020205020404" pitchFamily="49" charset="0"/>
              </a:rPr>
              <a:t>(line.equalsIgnoreCase(</a:t>
            </a:r>
            <a:r>
              <a:rPr lang="en-US" sz="2400" b="1">
                <a:solidFill>
                  <a:srgbClr val="2A00FF"/>
                </a:solidFill>
                <a:latin typeface="Courier New" panose="02070309020205020404" pitchFamily="49" charset="0"/>
              </a:rPr>
              <a:t>"k"</a:t>
            </a:r>
            <a:r>
              <a:rPr lang="en-US" sz="2400" b="1">
                <a:solidFill>
                  <a:srgbClr val="000000"/>
                </a:solidFill>
                <a:latin typeface="Courier New" panose="02070309020205020404" pitchFamily="49" charset="0"/>
              </a:rPr>
              <a:t>))</a:t>
            </a:r>
          </a:p>
          <a:p>
            <a:pPr lvl="1"/>
            <a:r>
              <a:rPr lang="en-US" sz="2400" b="1">
                <a:solidFill>
                  <a:srgbClr val="7F0055"/>
                </a:solidFill>
                <a:latin typeface="Courier New" panose="02070309020205020404" pitchFamily="49" charset="0"/>
              </a:rPr>
              <a:t>	break</a:t>
            </a:r>
            <a:r>
              <a:rPr lang="en-US" sz="2400" b="1">
                <a:solidFill>
                  <a:srgbClr val="000000"/>
                </a:solidFill>
                <a:latin typeface="Courier New" panose="02070309020205020404" pitchFamily="49" charset="0"/>
              </a:rPr>
              <a:t>;</a:t>
            </a:r>
          </a:p>
          <a:p>
            <a:r>
              <a:rPr lang="en-US" sz="2400">
                <a:solidFill>
                  <a:srgbClr val="000000"/>
                </a:solidFill>
                <a:latin typeface="Courier New" panose="02070309020205020404" pitchFamily="49" charset="0"/>
              </a:rPr>
              <a:t>}</a:t>
            </a:r>
            <a:endParaRPr lang="en-US" sz="2400"/>
          </a:p>
        </p:txBody>
      </p:sp>
      <p:sp>
        <p:nvSpPr>
          <p:cNvPr id="9" name="Slide Number Placeholder 8">
            <a:extLst>
              <a:ext uri="{FF2B5EF4-FFF2-40B4-BE49-F238E27FC236}">
                <a16:creationId xmlns:a16="http://schemas.microsoft.com/office/drawing/2014/main" id="{EC997B0A-A976-73D5-5117-94E33EE35765}"/>
              </a:ext>
            </a:extLst>
          </p:cNvPr>
          <p:cNvSpPr>
            <a:spLocks noGrp="1"/>
          </p:cNvSpPr>
          <p:nvPr>
            <p:ph type="sldNum" sz="quarter" idx="12"/>
          </p:nvPr>
        </p:nvSpPr>
        <p:spPr/>
        <p:txBody>
          <a:bodyPr/>
          <a:lstStyle/>
          <a:p>
            <a:fld id="{48FE5571-560F-4DFC-BA97-61ACA5F7ADE1}" type="slidenum">
              <a:rPr lang="en-US" smtClean="0"/>
              <a:pPr/>
              <a:t>72</a:t>
            </a:fld>
            <a:endParaRPr lang="en-US"/>
          </a:p>
        </p:txBody>
      </p:sp>
    </p:spTree>
    <p:extLst>
      <p:ext uri="{BB962C8B-B14F-4D97-AF65-F5344CB8AC3E}">
        <p14:creationId xmlns:p14="http://schemas.microsoft.com/office/powerpoint/2010/main" val="33868239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Cách dùng </a:t>
              </a:r>
              <a:r>
                <a:rPr lang="en-US" sz="2400" b="1" kern="0">
                  <a:solidFill>
                    <a:srgbClr val="FF0000"/>
                  </a:solidFill>
                  <a:latin typeface="Cambria" panose="02040503050406030204" pitchFamily="18" charset="0"/>
                </a:rPr>
                <a:t>continue</a:t>
              </a:r>
              <a:endParaRPr lang="en-US" sz="4000" b="1" kern="0" dirty="0">
                <a:solidFill>
                  <a:srgbClr val="FF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1849333" y="947265"/>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FF0000"/>
                </a:solidFill>
                <a:latin typeface="Cambria" panose="02040503050406030204" pitchFamily="18" charset="0"/>
              </a:rPr>
              <a:t>continue </a:t>
            </a:r>
            <a:r>
              <a:rPr lang="en-US" kern="0">
                <a:solidFill>
                  <a:srgbClr val="002060"/>
                </a:solidFill>
                <a:latin typeface="Cambria" panose="02040503050406030204" pitchFamily="18" charset="0"/>
              </a:rPr>
              <a:t>dùng để bỏ qua các lệnh bên dưới và chuyển qua lần lặp tiếp theo</a:t>
            </a:r>
            <a:endParaRPr lang="en-US" kern="0" dirty="0">
              <a:solidFill>
                <a:srgbClr val="FF0000"/>
              </a:solidFill>
              <a:latin typeface="Cambria" panose="02040503050406030204" pitchFamily="18" charset="0"/>
            </a:endParaRPr>
          </a:p>
        </p:txBody>
      </p:sp>
      <p:sp>
        <p:nvSpPr>
          <p:cNvPr id="9" name="Rectangle 8"/>
          <p:cNvSpPr/>
          <p:nvPr/>
        </p:nvSpPr>
        <p:spPr>
          <a:xfrm>
            <a:off x="2514600" y="2286000"/>
            <a:ext cx="7010400" cy="2677656"/>
          </a:xfrm>
          <a:prstGeom prst="rect">
            <a:avLst/>
          </a:prstGeom>
        </p:spPr>
        <p:txBody>
          <a:bodyPr wrap="square">
            <a:spAutoFit/>
          </a:bodyPr>
          <a:lstStyle/>
          <a:p>
            <a:r>
              <a:rPr lang="en-US" sz="2800" b="1">
                <a:solidFill>
                  <a:srgbClr val="7F0055"/>
                </a:solidFill>
                <a:highlight>
                  <a:srgbClr val="D4D4D4"/>
                </a:highlight>
                <a:latin typeface="Courier New" panose="02070309020205020404" pitchFamily="49" charset="0"/>
              </a:rPr>
              <a:t>for</a:t>
            </a:r>
            <a:r>
              <a:rPr lang="en-US" sz="2800" b="1">
                <a:solidFill>
                  <a:srgbClr val="000000"/>
                </a:solidFill>
                <a:highlight>
                  <a:srgbClr val="D4D4D4"/>
                </a:highlight>
                <a:latin typeface="Courier New" panose="02070309020205020404" pitchFamily="49" charset="0"/>
              </a:rPr>
              <a:t>(</a:t>
            </a:r>
            <a:r>
              <a:rPr lang="en-US" sz="2800" b="1">
                <a:solidFill>
                  <a:srgbClr val="7F0055"/>
                </a:solidFill>
                <a:highlight>
                  <a:srgbClr val="D4D4D4"/>
                </a:highlight>
                <a:latin typeface="Courier New" panose="02070309020205020404" pitchFamily="49" charset="0"/>
              </a:rPr>
              <a:t>int</a:t>
            </a:r>
            <a:r>
              <a:rPr lang="en-US" sz="2800" b="1">
                <a:solidFill>
                  <a:srgbClr val="000000"/>
                </a:solidFill>
                <a:highlight>
                  <a:srgbClr val="D4D4D4"/>
                </a:highlight>
                <a:latin typeface="Courier New" panose="02070309020205020404" pitchFamily="49" charset="0"/>
              </a:rPr>
              <a:t> i=0;i&lt;10;i++)</a:t>
            </a:r>
          </a:p>
          <a:p>
            <a:r>
              <a:rPr lang="en-US" sz="2800">
                <a:solidFill>
                  <a:srgbClr val="000000"/>
                </a:solidFill>
                <a:latin typeface="Courier New" panose="02070309020205020404" pitchFamily="49" charset="0"/>
              </a:rPr>
              <a:t>{</a:t>
            </a:r>
          </a:p>
          <a:p>
            <a:pPr lvl="1"/>
            <a:r>
              <a:rPr lang="en-US" sz="2800" b="1">
                <a:solidFill>
                  <a:srgbClr val="7F0055"/>
                </a:solidFill>
                <a:latin typeface="Courier New" panose="02070309020205020404" pitchFamily="49" charset="0"/>
              </a:rPr>
              <a:t>if</a:t>
            </a:r>
            <a:r>
              <a:rPr lang="en-US" sz="2800" b="1">
                <a:solidFill>
                  <a:srgbClr val="000000"/>
                </a:solidFill>
                <a:latin typeface="Courier New" panose="02070309020205020404" pitchFamily="49" charset="0"/>
              </a:rPr>
              <a:t>(i%3==0)</a:t>
            </a:r>
          </a:p>
          <a:p>
            <a:pPr lvl="1"/>
            <a:r>
              <a:rPr lang="en-US" sz="2800" b="1">
                <a:solidFill>
                  <a:srgbClr val="7F0055"/>
                </a:solidFill>
                <a:latin typeface="Courier New" panose="02070309020205020404" pitchFamily="49" charset="0"/>
              </a:rPr>
              <a:t>	continue</a:t>
            </a:r>
            <a:r>
              <a:rPr lang="en-US" sz="2800" b="1">
                <a:solidFill>
                  <a:srgbClr val="000000"/>
                </a:solidFill>
                <a:latin typeface="Courier New" panose="02070309020205020404" pitchFamily="49" charset="0"/>
              </a:rPr>
              <a:t>;</a:t>
            </a:r>
          </a:p>
          <a:p>
            <a:pPr lvl="1"/>
            <a:r>
              <a:rPr lang="en-US" sz="2800">
                <a:solidFill>
                  <a:srgbClr val="000000"/>
                </a:solidFill>
                <a:latin typeface="Courier New" panose="02070309020205020404" pitchFamily="49" charset="0"/>
              </a:rPr>
              <a:t>System.</a:t>
            </a:r>
            <a:r>
              <a:rPr lang="en-US" sz="2800" i="1">
                <a:solidFill>
                  <a:srgbClr val="0000C0"/>
                </a:solidFill>
                <a:latin typeface="Courier New" panose="02070309020205020404" pitchFamily="49" charset="0"/>
              </a:rPr>
              <a:t>out</a:t>
            </a:r>
            <a:r>
              <a:rPr lang="en-US" sz="2800" i="1">
                <a:solidFill>
                  <a:srgbClr val="000000"/>
                </a:solidFill>
                <a:latin typeface="Courier New" panose="02070309020205020404" pitchFamily="49" charset="0"/>
              </a:rPr>
              <a:t>.println(i);</a:t>
            </a:r>
          </a:p>
          <a:p>
            <a:r>
              <a:rPr lang="en-US" sz="2800">
                <a:solidFill>
                  <a:srgbClr val="000000"/>
                </a:solidFill>
                <a:latin typeface="Courier New" panose="02070309020205020404" pitchFamily="49" charset="0"/>
              </a:rPr>
              <a:t>}</a:t>
            </a:r>
            <a:endParaRPr lang="en-US" sz="2800"/>
          </a:p>
        </p:txBody>
      </p:sp>
      <p:pic>
        <p:nvPicPr>
          <p:cNvPr id="10" name="Picture 9"/>
          <p:cNvPicPr>
            <a:picLocks noChangeAspect="1"/>
          </p:cNvPicPr>
          <p:nvPr/>
        </p:nvPicPr>
        <p:blipFill>
          <a:blip r:embed="rId2"/>
          <a:stretch>
            <a:fillRect/>
          </a:stretch>
        </p:blipFill>
        <p:spPr>
          <a:xfrm>
            <a:off x="7028880" y="4515064"/>
            <a:ext cx="3007400" cy="1809537"/>
          </a:xfrm>
          <a:prstGeom prst="rect">
            <a:avLst/>
          </a:prstGeom>
        </p:spPr>
      </p:pic>
      <p:sp>
        <p:nvSpPr>
          <p:cNvPr id="11" name="Slide Number Placeholder 10">
            <a:extLst>
              <a:ext uri="{FF2B5EF4-FFF2-40B4-BE49-F238E27FC236}">
                <a16:creationId xmlns:a16="http://schemas.microsoft.com/office/drawing/2014/main" id="{2166A45D-D7B8-D1F8-4AD3-D200777B5742}"/>
              </a:ext>
            </a:extLst>
          </p:cNvPr>
          <p:cNvSpPr>
            <a:spLocks noGrp="1"/>
          </p:cNvSpPr>
          <p:nvPr>
            <p:ph type="sldNum" sz="quarter" idx="12"/>
          </p:nvPr>
        </p:nvSpPr>
        <p:spPr/>
        <p:txBody>
          <a:bodyPr/>
          <a:lstStyle/>
          <a:p>
            <a:fld id="{48FE5571-560F-4DFC-BA97-61ACA5F7ADE1}" type="slidenum">
              <a:rPr lang="en-US" smtClean="0"/>
              <a:pPr/>
              <a:t>73</a:t>
            </a:fld>
            <a:endParaRPr lang="en-US"/>
          </a:p>
        </p:txBody>
      </p:sp>
    </p:spTree>
    <p:extLst>
      <p:ext uri="{BB962C8B-B14F-4D97-AF65-F5344CB8AC3E}">
        <p14:creationId xmlns:p14="http://schemas.microsoft.com/office/powerpoint/2010/main" val="16664726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kern="0">
                <a:solidFill>
                  <a:srgbClr val="002060"/>
                </a:solidFill>
                <a:latin typeface="Cambria" panose="02040503050406030204" pitchFamily="18" charset="0"/>
              </a:rPr>
              <a:t>Bài tập rèn luyện</a:t>
            </a:r>
          </a:p>
          <a:p>
            <a:pPr lvl="0">
              <a:defRPr/>
            </a:pPr>
            <a:r>
              <a:rPr lang="en-US" kern="0">
                <a:solidFill>
                  <a:srgbClr val="002060"/>
                </a:solidFill>
                <a:latin typeface="Cambria" panose="02040503050406030204" pitchFamily="18" charset="0"/>
              </a:rPr>
              <a:t>Giải phương trình bậc 2</a:t>
            </a: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99007BDE-A015-2E6B-59E2-C247645EC6EC}"/>
              </a:ext>
            </a:extLst>
          </p:cNvPr>
          <p:cNvSpPr>
            <a:spLocks noGrp="1"/>
          </p:cNvSpPr>
          <p:nvPr>
            <p:ph type="sldNum" sz="quarter" idx="12"/>
          </p:nvPr>
        </p:nvSpPr>
        <p:spPr/>
        <p:txBody>
          <a:bodyPr/>
          <a:lstStyle/>
          <a:p>
            <a:fld id="{48FE5571-560F-4DFC-BA97-61ACA5F7ADE1}" type="slidenum">
              <a:rPr lang="en-US" smtClean="0"/>
              <a:pPr/>
              <a:t>74</a:t>
            </a:fld>
            <a:endParaRPr lang="en-US"/>
          </a:p>
        </p:txBody>
      </p:sp>
    </p:spTree>
    <p:extLst>
      <p:ext uri="{BB962C8B-B14F-4D97-AF65-F5344CB8AC3E}">
        <p14:creationId xmlns:p14="http://schemas.microsoft.com/office/powerpoint/2010/main" val="311918113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12605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000" kern="0">
                <a:solidFill>
                  <a:srgbClr val="002060"/>
                </a:solidFill>
                <a:latin typeface="Cambria" panose="02040503050406030204" pitchFamily="18" charset="0"/>
              </a:rPr>
              <a:t>Giải và biện luận phương trình bậc 2:</a:t>
            </a:r>
          </a:p>
          <a:p>
            <a:pPr marL="0" indent="0" algn="ctr">
              <a:buClr>
                <a:srgbClr val="3DC5C5"/>
              </a:buClr>
              <a:buNone/>
              <a:defRPr/>
            </a:pPr>
            <a:r>
              <a:rPr lang="en-US" sz="2800" kern="0">
                <a:solidFill>
                  <a:srgbClr val="002060"/>
                </a:solidFill>
                <a:latin typeface="Cambria" panose="02040503050406030204" pitchFamily="18" charset="0"/>
              </a:rPr>
              <a:t>ax</a:t>
            </a:r>
            <a:r>
              <a:rPr lang="en-US" sz="2800" kern="0" baseline="30000">
                <a:solidFill>
                  <a:srgbClr val="002060"/>
                </a:solidFill>
                <a:latin typeface="Cambria" panose="02040503050406030204" pitchFamily="18" charset="0"/>
              </a:rPr>
              <a:t>2</a:t>
            </a:r>
            <a:r>
              <a:rPr lang="en-US" sz="2800" kern="0">
                <a:solidFill>
                  <a:srgbClr val="002060"/>
                </a:solidFill>
                <a:latin typeface="Cambria" panose="02040503050406030204" pitchFamily="18" charset="0"/>
              </a:rPr>
              <a:t>+bx+c=0</a:t>
            </a:r>
            <a:endParaRPr lang="en-US" sz="2800" kern="0" dirty="0">
              <a:solidFill>
                <a:srgbClr val="FF000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21804CE9-D9D1-57EE-6D71-E9376757D837}"/>
              </a:ext>
            </a:extLst>
          </p:cNvPr>
          <p:cNvSpPr>
            <a:spLocks noGrp="1"/>
          </p:cNvSpPr>
          <p:nvPr>
            <p:ph type="sldNum" sz="quarter" idx="12"/>
          </p:nvPr>
        </p:nvSpPr>
        <p:spPr/>
        <p:txBody>
          <a:bodyPr/>
          <a:lstStyle/>
          <a:p>
            <a:fld id="{48FE5571-560F-4DFC-BA97-61ACA5F7ADE1}" type="slidenum">
              <a:rPr lang="en-US" smtClean="0"/>
              <a:pPr/>
              <a:t>75</a:t>
            </a:fld>
            <a:endParaRPr lang="en-US"/>
          </a:p>
        </p:txBody>
      </p:sp>
      <p:sp>
        <p:nvSpPr>
          <p:cNvPr id="10" name="AutoShape 10">
            <a:extLst>
              <a:ext uri="{FF2B5EF4-FFF2-40B4-BE49-F238E27FC236}">
                <a16:creationId xmlns:a16="http://schemas.microsoft.com/office/drawing/2014/main" id="{A8620804-30F3-AF23-AB1C-BF14859F091B}"/>
              </a:ext>
            </a:extLst>
          </p:cNvPr>
          <p:cNvSpPr>
            <a:spLocks noChangeArrowheads="1"/>
          </p:cNvSpPr>
          <p:nvPr/>
        </p:nvSpPr>
        <p:spPr bwMode="auto">
          <a:xfrm>
            <a:off x="3496619" y="2403537"/>
            <a:ext cx="822959" cy="320040"/>
          </a:xfrm>
          <a:prstGeom prst="roundRect">
            <a:avLst>
              <a:gd name="adj" fmla="val 50000"/>
            </a:avLst>
          </a:prstGeom>
          <a:solidFill>
            <a:srgbClr val="FFFFFF"/>
          </a:solidFill>
          <a:ln w="9525">
            <a:solidFill>
              <a:srgbClr val="000000"/>
            </a:solidFill>
            <a:round/>
            <a:headEnd/>
            <a:tailEnd/>
          </a:ln>
        </p:spPr>
        <p:txBody>
          <a:bodyPr lIns="0" tIns="0" rIns="0" bIns="0"/>
          <a:lstStyle/>
          <a:p>
            <a:pPr algn="ctr">
              <a:spcAft>
                <a:spcPts val="0"/>
              </a:spcAft>
            </a:pPr>
            <a:r>
              <a:rPr lang="en-US" sz="1600" b="1">
                <a:solidFill>
                  <a:srgbClr val="000000"/>
                </a:solidFill>
                <a:latin typeface="Courier New" panose="02070309020205020404" pitchFamily="49" charset="0"/>
                <a:cs typeface="Courier New" panose="02070309020205020404" pitchFamily="49" charset="0"/>
              </a:rPr>
              <a:t>BEGIN</a:t>
            </a:r>
            <a:endParaRPr lang="en-US" sz="1800" b="1">
              <a:solidFill>
                <a:srgbClr val="000000"/>
              </a:solidFill>
              <a:latin typeface="Courier New" panose="02070309020205020404" pitchFamily="49" charset="0"/>
              <a:cs typeface="Courier New" panose="02070309020205020404" pitchFamily="49" charset="0"/>
            </a:endParaRPr>
          </a:p>
        </p:txBody>
      </p:sp>
      <p:sp>
        <p:nvSpPr>
          <p:cNvPr id="11" name="AutoShape 11">
            <a:extLst>
              <a:ext uri="{FF2B5EF4-FFF2-40B4-BE49-F238E27FC236}">
                <a16:creationId xmlns:a16="http://schemas.microsoft.com/office/drawing/2014/main" id="{00C6DE4B-C8B6-5BAB-C896-A71DFB1C0771}"/>
              </a:ext>
            </a:extLst>
          </p:cNvPr>
          <p:cNvSpPr>
            <a:spLocks noChangeArrowheads="1"/>
          </p:cNvSpPr>
          <p:nvPr/>
        </p:nvSpPr>
        <p:spPr bwMode="auto">
          <a:xfrm>
            <a:off x="3239935" y="2900156"/>
            <a:ext cx="1188720" cy="320040"/>
          </a:xfrm>
          <a:prstGeom prst="parallelogram">
            <a:avLst>
              <a:gd name="adj" fmla="val 38144"/>
            </a:avLst>
          </a:prstGeom>
          <a:solidFill>
            <a:srgbClr val="FFFFFF"/>
          </a:solidFill>
          <a:ln w="9525">
            <a:solidFill>
              <a:srgbClr val="000000"/>
            </a:solidFill>
            <a:miter lim="800000"/>
            <a:headEnd/>
            <a:tailEnd/>
          </a:ln>
        </p:spPr>
        <p:txBody>
          <a:bodyPr lIns="0" tIns="0" rIns="0" bIns="0"/>
          <a:lstStyle/>
          <a:p>
            <a:pPr algn="ctr">
              <a:spcAft>
                <a:spcPts val="0"/>
              </a:spcAft>
            </a:pPr>
            <a:r>
              <a:rPr lang="en-US" sz="1600" b="1">
                <a:solidFill>
                  <a:srgbClr val="000000"/>
                </a:solidFill>
                <a:latin typeface="Courier New" panose="02070309020205020404" pitchFamily="49" charset="0"/>
                <a:cs typeface="Courier New" panose="02070309020205020404" pitchFamily="49" charset="0"/>
              </a:rPr>
              <a:t>a, b, c</a:t>
            </a:r>
          </a:p>
        </p:txBody>
      </p:sp>
      <p:sp>
        <p:nvSpPr>
          <p:cNvPr id="12" name="AutoShape 12">
            <a:extLst>
              <a:ext uri="{FF2B5EF4-FFF2-40B4-BE49-F238E27FC236}">
                <a16:creationId xmlns:a16="http://schemas.microsoft.com/office/drawing/2014/main" id="{4C8F5519-F14F-E48C-68CE-9B8AB043EC5E}"/>
              </a:ext>
            </a:extLst>
          </p:cNvPr>
          <p:cNvSpPr>
            <a:spLocks noChangeArrowheads="1"/>
          </p:cNvSpPr>
          <p:nvPr/>
        </p:nvSpPr>
        <p:spPr bwMode="auto">
          <a:xfrm>
            <a:off x="4435215" y="5800479"/>
            <a:ext cx="3384509" cy="548640"/>
          </a:xfrm>
          <a:prstGeom prst="foldedCorner">
            <a:avLst/>
          </a:prstGeom>
          <a:solidFill>
            <a:srgbClr val="FFFFFF"/>
          </a:solidFill>
          <a:ln w="9525">
            <a:solidFill>
              <a:srgbClr val="000000"/>
            </a:solidFill>
            <a:miter lim="800000"/>
            <a:headEnd/>
            <a:tailEnd/>
          </a:ln>
        </p:spPr>
        <p:txBody>
          <a:bodyPr lIns="0" tIns="0" rIns="0" bIns="0"/>
          <a:lstStyle/>
          <a:p>
            <a:pPr algn="ctr" fontAlgn="base">
              <a:spcAft>
                <a:spcPts val="0"/>
              </a:spcAft>
            </a:pPr>
            <a:r>
              <a:rPr lang="en-US" sz="1600">
                <a:solidFill>
                  <a:srgbClr val="000000"/>
                </a:solidFill>
                <a:latin typeface="Courier New" panose="02070309020205020404" pitchFamily="49" charset="0"/>
                <a:cs typeface="Courier New" panose="02070309020205020404" pitchFamily="49" charset="0"/>
              </a:rPr>
              <a:t>x</a:t>
            </a:r>
            <a:r>
              <a:rPr lang="en-US" sz="1600" baseline="-25000">
                <a:solidFill>
                  <a:srgbClr val="000000"/>
                </a:solidFill>
                <a:latin typeface="Courier New" panose="02070309020205020404" pitchFamily="49" charset="0"/>
                <a:cs typeface="Courier New" panose="02070309020205020404" pitchFamily="49" charset="0"/>
              </a:rPr>
              <a:t>1</a:t>
            </a:r>
            <a:r>
              <a:rPr lang="en-US" sz="1600">
                <a:solidFill>
                  <a:srgbClr val="000000"/>
                </a:solidFill>
                <a:latin typeface="Courier New" panose="02070309020205020404" pitchFamily="49" charset="0"/>
                <a:cs typeface="Courier New" panose="02070309020205020404" pitchFamily="49" charset="0"/>
              </a:rPr>
              <a:t> = -b + sqrt(delta)/2a</a:t>
            </a:r>
          </a:p>
          <a:p>
            <a:pPr algn="ctr" fontAlgn="base">
              <a:spcAft>
                <a:spcPts val="0"/>
              </a:spcAft>
            </a:pPr>
            <a:r>
              <a:rPr lang="en-US" sz="1600">
                <a:solidFill>
                  <a:srgbClr val="000000"/>
                </a:solidFill>
                <a:latin typeface="Courier New" panose="02070309020205020404" pitchFamily="49" charset="0"/>
                <a:cs typeface="Courier New" panose="02070309020205020404" pitchFamily="49" charset="0"/>
              </a:rPr>
              <a:t>x</a:t>
            </a:r>
            <a:r>
              <a:rPr lang="en-US" sz="1600" baseline="-25000">
                <a:solidFill>
                  <a:srgbClr val="000000"/>
                </a:solidFill>
                <a:latin typeface="Courier New" panose="02070309020205020404" pitchFamily="49" charset="0"/>
                <a:cs typeface="Courier New" panose="02070309020205020404" pitchFamily="49" charset="0"/>
              </a:rPr>
              <a:t>2</a:t>
            </a:r>
            <a:r>
              <a:rPr lang="en-US" sz="1600">
                <a:solidFill>
                  <a:srgbClr val="000000"/>
                </a:solidFill>
                <a:latin typeface="Courier New" panose="02070309020205020404" pitchFamily="49" charset="0"/>
                <a:cs typeface="Courier New" panose="02070309020205020404" pitchFamily="49" charset="0"/>
              </a:rPr>
              <a:t> = -b - sqrt(delta)/2a</a:t>
            </a:r>
          </a:p>
        </p:txBody>
      </p:sp>
      <p:sp>
        <p:nvSpPr>
          <p:cNvPr id="13" name="AutoShape 13">
            <a:extLst>
              <a:ext uri="{FF2B5EF4-FFF2-40B4-BE49-F238E27FC236}">
                <a16:creationId xmlns:a16="http://schemas.microsoft.com/office/drawing/2014/main" id="{CEA95E1B-747A-B13B-30DD-8AFC21178196}"/>
              </a:ext>
            </a:extLst>
          </p:cNvPr>
          <p:cNvSpPr>
            <a:spLocks noChangeArrowheads="1"/>
          </p:cNvSpPr>
          <p:nvPr/>
        </p:nvSpPr>
        <p:spPr bwMode="auto">
          <a:xfrm>
            <a:off x="7793986" y="4761703"/>
            <a:ext cx="548640" cy="320040"/>
          </a:xfrm>
          <a:prstGeom prst="roundRect">
            <a:avLst>
              <a:gd name="adj" fmla="val 50000"/>
            </a:avLst>
          </a:prstGeom>
          <a:solidFill>
            <a:srgbClr val="FFFFFF"/>
          </a:solidFill>
          <a:ln w="9525">
            <a:solidFill>
              <a:srgbClr val="000000"/>
            </a:solidFill>
            <a:round/>
            <a:headEnd/>
            <a:tailEnd/>
          </a:ln>
        </p:spPr>
        <p:txBody>
          <a:bodyPr lIns="0" tIns="0" rIns="0" bIns="0"/>
          <a:lstStyle/>
          <a:p>
            <a:pPr algn="ctr" fontAlgn="base">
              <a:spcAft>
                <a:spcPts val="0"/>
              </a:spcAft>
            </a:pPr>
            <a:r>
              <a:rPr lang="en-US" sz="1600" b="1">
                <a:solidFill>
                  <a:srgbClr val="000000"/>
                </a:solidFill>
                <a:latin typeface="Courier New" panose="02070309020205020404" pitchFamily="49" charset="0"/>
                <a:cs typeface="Courier New" panose="02070309020205020404" pitchFamily="49" charset="0"/>
              </a:rPr>
              <a:t>END</a:t>
            </a:r>
          </a:p>
        </p:txBody>
      </p:sp>
      <p:sp>
        <p:nvSpPr>
          <p:cNvPr id="14" name="AutoShape 16">
            <a:extLst>
              <a:ext uri="{FF2B5EF4-FFF2-40B4-BE49-F238E27FC236}">
                <a16:creationId xmlns:a16="http://schemas.microsoft.com/office/drawing/2014/main" id="{44C045B1-0394-ACE5-DCAE-9C65BDB262CA}"/>
              </a:ext>
            </a:extLst>
          </p:cNvPr>
          <p:cNvSpPr>
            <a:spLocks noChangeArrowheads="1"/>
          </p:cNvSpPr>
          <p:nvPr/>
        </p:nvSpPr>
        <p:spPr bwMode="auto">
          <a:xfrm>
            <a:off x="3294271" y="3412712"/>
            <a:ext cx="1101126" cy="379926"/>
          </a:xfrm>
          <a:prstGeom prst="diamond">
            <a:avLst/>
          </a:prstGeom>
          <a:solidFill>
            <a:srgbClr val="FFFFFF"/>
          </a:solidFill>
          <a:ln w="9525">
            <a:solidFill>
              <a:srgbClr val="000000"/>
            </a:solidFill>
            <a:miter lim="800000"/>
            <a:headEnd/>
            <a:tailEnd/>
          </a:ln>
        </p:spPr>
        <p:txBody>
          <a:bodyPr lIns="0" tIns="0" rIns="0" bIns="0"/>
          <a:lstStyle/>
          <a:p>
            <a:pPr algn="ctr">
              <a:spcAft>
                <a:spcPts val="0"/>
              </a:spcAft>
            </a:pPr>
            <a:r>
              <a:rPr lang="en-US" sz="1600" b="1">
                <a:solidFill>
                  <a:srgbClr val="000000"/>
                </a:solidFill>
                <a:latin typeface="Courier New" panose="02070309020205020404" pitchFamily="49" charset="0"/>
                <a:cs typeface="Courier New" panose="02070309020205020404" pitchFamily="49" charset="0"/>
              </a:rPr>
              <a:t>a=0</a:t>
            </a:r>
          </a:p>
        </p:txBody>
      </p:sp>
      <p:sp>
        <p:nvSpPr>
          <p:cNvPr id="15" name="AutoShape 20">
            <a:extLst>
              <a:ext uri="{FF2B5EF4-FFF2-40B4-BE49-F238E27FC236}">
                <a16:creationId xmlns:a16="http://schemas.microsoft.com/office/drawing/2014/main" id="{B5E070CD-4C79-0555-014F-B5CED3E2C9C6}"/>
              </a:ext>
            </a:extLst>
          </p:cNvPr>
          <p:cNvSpPr>
            <a:spLocks noChangeArrowheads="1"/>
          </p:cNvSpPr>
          <p:nvPr/>
        </p:nvSpPr>
        <p:spPr bwMode="auto">
          <a:xfrm>
            <a:off x="2938040" y="4716251"/>
            <a:ext cx="1828800" cy="379926"/>
          </a:xfrm>
          <a:prstGeom prst="diamond">
            <a:avLst/>
          </a:prstGeom>
          <a:solidFill>
            <a:srgbClr val="FFFFFF"/>
          </a:solidFill>
          <a:ln w="9525">
            <a:solidFill>
              <a:srgbClr val="000000"/>
            </a:solidFill>
            <a:miter lim="800000"/>
            <a:headEnd/>
            <a:tailEnd/>
          </a:ln>
        </p:spPr>
        <p:txBody>
          <a:bodyPr lIns="0" tIns="0" rIns="0" bIns="0"/>
          <a:lstStyle/>
          <a:p>
            <a:pPr algn="ctr">
              <a:spcAft>
                <a:spcPts val="0"/>
              </a:spcAft>
            </a:pPr>
            <a:r>
              <a:rPr lang="en-US" sz="1600" b="1">
                <a:solidFill>
                  <a:srgbClr val="000000"/>
                </a:solidFill>
                <a:latin typeface="Courier New" panose="02070309020205020404" pitchFamily="49" charset="0"/>
                <a:cs typeface="Courier New" panose="02070309020205020404" pitchFamily="49" charset="0"/>
              </a:rPr>
              <a:t>delta&lt;0</a:t>
            </a:r>
          </a:p>
        </p:txBody>
      </p:sp>
      <p:sp>
        <p:nvSpPr>
          <p:cNvPr id="16" name="Text Box 21">
            <a:extLst>
              <a:ext uri="{FF2B5EF4-FFF2-40B4-BE49-F238E27FC236}">
                <a16:creationId xmlns:a16="http://schemas.microsoft.com/office/drawing/2014/main" id="{0D5C1F96-317B-613C-66E1-E4C70BA7B3C1}"/>
              </a:ext>
            </a:extLst>
          </p:cNvPr>
          <p:cNvSpPr txBox="1">
            <a:spLocks noChangeArrowheads="1"/>
          </p:cNvSpPr>
          <p:nvPr/>
        </p:nvSpPr>
        <p:spPr bwMode="auto">
          <a:xfrm>
            <a:off x="3173416" y="3750596"/>
            <a:ext cx="476164" cy="27689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spcAft>
                <a:spcPts val="0"/>
              </a:spcAft>
            </a:pPr>
            <a:r>
              <a:rPr lang="en-US" sz="1800" i="1">
                <a:solidFill>
                  <a:srgbClr val="000000"/>
                </a:solidFill>
                <a:latin typeface="Courier New" panose="02070309020205020404" pitchFamily="49" charset="0"/>
                <a:cs typeface="Courier New" panose="02070309020205020404" pitchFamily="49" charset="0"/>
              </a:rPr>
              <a:t>N</a:t>
            </a:r>
          </a:p>
        </p:txBody>
      </p:sp>
      <p:sp>
        <p:nvSpPr>
          <p:cNvPr id="17" name="Text Box 22">
            <a:extLst>
              <a:ext uri="{FF2B5EF4-FFF2-40B4-BE49-F238E27FC236}">
                <a16:creationId xmlns:a16="http://schemas.microsoft.com/office/drawing/2014/main" id="{D1B9E6F0-7F12-F827-13E9-1A156872E457}"/>
              </a:ext>
            </a:extLst>
          </p:cNvPr>
          <p:cNvSpPr txBox="1">
            <a:spLocks noChangeArrowheads="1"/>
          </p:cNvSpPr>
          <p:nvPr/>
        </p:nvSpPr>
        <p:spPr bwMode="auto">
          <a:xfrm>
            <a:off x="3118168" y="5079131"/>
            <a:ext cx="693891" cy="27689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spcAft>
                <a:spcPts val="0"/>
              </a:spcAft>
            </a:pPr>
            <a:r>
              <a:rPr lang="en-US" sz="1800" i="1">
                <a:solidFill>
                  <a:srgbClr val="000000"/>
                </a:solidFill>
                <a:latin typeface="Courier New" panose="02070309020205020404" pitchFamily="49" charset="0"/>
                <a:cs typeface="Courier New" panose="02070309020205020404" pitchFamily="49" charset="0"/>
              </a:rPr>
              <a:t>N</a:t>
            </a:r>
          </a:p>
        </p:txBody>
      </p:sp>
      <p:sp>
        <p:nvSpPr>
          <p:cNvPr id="18" name="Text Box 23">
            <a:extLst>
              <a:ext uri="{FF2B5EF4-FFF2-40B4-BE49-F238E27FC236}">
                <a16:creationId xmlns:a16="http://schemas.microsoft.com/office/drawing/2014/main" id="{59B1DBF4-353E-A303-DAF1-98B6272A0673}"/>
              </a:ext>
            </a:extLst>
          </p:cNvPr>
          <p:cNvSpPr txBox="1">
            <a:spLocks noChangeArrowheads="1"/>
          </p:cNvSpPr>
          <p:nvPr/>
        </p:nvSpPr>
        <p:spPr bwMode="auto">
          <a:xfrm>
            <a:off x="4162212" y="3317937"/>
            <a:ext cx="693891" cy="276890"/>
          </a:xfrm>
          <a:prstGeom prst="rect">
            <a:avLst/>
          </a:prstGeom>
          <a:noFill/>
          <a:ln>
            <a:noFill/>
          </a:ln>
        </p:spPr>
        <p:txBody>
          <a:bodyPr lIns="0" tIns="0" rIns="0" bIns="0"/>
          <a:lstStyle/>
          <a:p>
            <a:pPr algn="ctr">
              <a:spcAft>
                <a:spcPts val="0"/>
              </a:spcAft>
            </a:pPr>
            <a:r>
              <a:rPr lang="en-US" sz="1800" i="1">
                <a:solidFill>
                  <a:srgbClr val="000000"/>
                </a:solidFill>
                <a:latin typeface="Courier New" panose="02070309020205020404" pitchFamily="49" charset="0"/>
                <a:cs typeface="Courier New" panose="02070309020205020404" pitchFamily="49" charset="0"/>
              </a:rPr>
              <a:t>Y</a:t>
            </a:r>
          </a:p>
        </p:txBody>
      </p:sp>
      <p:sp>
        <p:nvSpPr>
          <p:cNvPr id="19" name="AutoShape 26">
            <a:extLst>
              <a:ext uri="{FF2B5EF4-FFF2-40B4-BE49-F238E27FC236}">
                <a16:creationId xmlns:a16="http://schemas.microsoft.com/office/drawing/2014/main" id="{436EBE0D-EED2-D50C-3F7A-60393C0C7318}"/>
              </a:ext>
            </a:extLst>
          </p:cNvPr>
          <p:cNvSpPr>
            <a:spLocks noChangeArrowheads="1"/>
          </p:cNvSpPr>
          <p:nvPr/>
        </p:nvSpPr>
        <p:spPr bwMode="auto">
          <a:xfrm>
            <a:off x="5117362" y="4740337"/>
            <a:ext cx="1304900" cy="320040"/>
          </a:xfrm>
          <a:prstGeom prst="foldedCorner">
            <a:avLst>
              <a:gd name="adj" fmla="val 36795"/>
            </a:avLst>
          </a:prstGeom>
          <a:solidFill>
            <a:srgbClr val="FFFFFF"/>
          </a:solidFill>
          <a:ln w="9525">
            <a:solidFill>
              <a:srgbClr val="000000"/>
            </a:solidFill>
            <a:miter lim="800000"/>
            <a:headEnd/>
            <a:tailEnd/>
          </a:ln>
        </p:spPr>
        <p:txBody>
          <a:bodyPr wrap="square" lIns="0" tIns="0" rIns="0" bIns="0">
            <a:noAutofit/>
          </a:bodyPr>
          <a:lstStyle/>
          <a:p>
            <a:pPr algn="ctr">
              <a:spcAft>
                <a:spcPts val="0"/>
              </a:spcAft>
            </a:pPr>
            <a:r>
              <a:rPr lang="en-US" sz="1600" b="1">
                <a:solidFill>
                  <a:srgbClr val="000000"/>
                </a:solidFill>
                <a:latin typeface="Courier New" panose="02070309020205020404" pitchFamily="49" charset="0"/>
                <a:cs typeface="Courier New" panose="02070309020205020404" pitchFamily="49" charset="0"/>
              </a:rPr>
              <a:t>“PTVN”</a:t>
            </a:r>
          </a:p>
        </p:txBody>
      </p:sp>
      <p:sp>
        <p:nvSpPr>
          <p:cNvPr id="20" name="Rectangle 19">
            <a:extLst>
              <a:ext uri="{FF2B5EF4-FFF2-40B4-BE49-F238E27FC236}">
                <a16:creationId xmlns:a16="http://schemas.microsoft.com/office/drawing/2014/main" id="{813BA5FD-6A7E-5D12-0CAE-73F5834D75A1}"/>
              </a:ext>
            </a:extLst>
          </p:cNvPr>
          <p:cNvSpPr>
            <a:spLocks noChangeArrowheads="1"/>
          </p:cNvSpPr>
          <p:nvPr/>
        </p:nvSpPr>
        <p:spPr bwMode="auto">
          <a:xfrm>
            <a:off x="2896674" y="4064697"/>
            <a:ext cx="1920240" cy="320040"/>
          </a:xfrm>
          <a:prstGeom prst="rect">
            <a:avLst/>
          </a:prstGeom>
          <a:solidFill>
            <a:srgbClr val="FFFFFF"/>
          </a:solidFill>
          <a:ln w="9525">
            <a:solidFill>
              <a:srgbClr val="000000"/>
            </a:solidFill>
            <a:miter lim="800000"/>
            <a:headEnd/>
            <a:tailEnd/>
          </a:ln>
        </p:spPr>
        <p:txBody>
          <a:bodyPr lIns="0" tIns="0" rIns="0" bIns="0"/>
          <a:lstStyle/>
          <a:p>
            <a:pPr algn="ctr">
              <a:spcAft>
                <a:spcPts val="0"/>
              </a:spcAft>
            </a:pPr>
            <a:r>
              <a:rPr lang="en-US" sz="1600" b="1">
                <a:solidFill>
                  <a:srgbClr val="000000"/>
                </a:solidFill>
                <a:latin typeface="Courier New" panose="02070309020205020404" pitchFamily="49" charset="0"/>
                <a:cs typeface="Courier New" panose="02070309020205020404" pitchFamily="49" charset="0"/>
              </a:rPr>
              <a:t>delta=b*b -4ac</a:t>
            </a:r>
          </a:p>
        </p:txBody>
      </p:sp>
      <p:sp>
        <p:nvSpPr>
          <p:cNvPr id="21" name="AutoShape 30">
            <a:extLst>
              <a:ext uri="{FF2B5EF4-FFF2-40B4-BE49-F238E27FC236}">
                <a16:creationId xmlns:a16="http://schemas.microsoft.com/office/drawing/2014/main" id="{06AAF295-321C-9961-06E3-8BBBF79DFE1A}"/>
              </a:ext>
            </a:extLst>
          </p:cNvPr>
          <p:cNvSpPr>
            <a:spLocks noChangeArrowheads="1"/>
          </p:cNvSpPr>
          <p:nvPr/>
        </p:nvSpPr>
        <p:spPr bwMode="auto">
          <a:xfrm>
            <a:off x="2938040" y="5321097"/>
            <a:ext cx="1828800" cy="379926"/>
          </a:xfrm>
          <a:prstGeom prst="diamond">
            <a:avLst/>
          </a:prstGeom>
          <a:solidFill>
            <a:srgbClr val="FFFFFF"/>
          </a:solidFill>
          <a:ln w="9525">
            <a:solidFill>
              <a:srgbClr val="000000"/>
            </a:solidFill>
            <a:miter lim="800000"/>
            <a:headEnd/>
            <a:tailEnd/>
          </a:ln>
        </p:spPr>
        <p:txBody>
          <a:bodyPr lIns="0" tIns="0" rIns="0" bIns="0"/>
          <a:lstStyle/>
          <a:p>
            <a:pPr algn="ctr">
              <a:spcAft>
                <a:spcPts val="0"/>
              </a:spcAft>
            </a:pPr>
            <a:r>
              <a:rPr lang="en-US" sz="1600" b="1">
                <a:solidFill>
                  <a:srgbClr val="000000"/>
                </a:solidFill>
                <a:latin typeface="Courier New" panose="02070309020205020404" pitchFamily="49" charset="0"/>
                <a:cs typeface="Courier New" panose="02070309020205020404" pitchFamily="49" charset="0"/>
              </a:rPr>
              <a:t>delta=0</a:t>
            </a:r>
          </a:p>
        </p:txBody>
      </p:sp>
      <p:sp>
        <p:nvSpPr>
          <p:cNvPr id="22" name="Text Box 32">
            <a:extLst>
              <a:ext uri="{FF2B5EF4-FFF2-40B4-BE49-F238E27FC236}">
                <a16:creationId xmlns:a16="http://schemas.microsoft.com/office/drawing/2014/main" id="{5AA8A9B0-3905-C7E5-75E4-36DC9F4A26D4}"/>
              </a:ext>
            </a:extLst>
          </p:cNvPr>
          <p:cNvSpPr txBox="1">
            <a:spLocks noChangeArrowheads="1"/>
          </p:cNvSpPr>
          <p:nvPr/>
        </p:nvSpPr>
        <p:spPr bwMode="auto">
          <a:xfrm>
            <a:off x="3118168" y="5705213"/>
            <a:ext cx="693891" cy="27689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spcAft>
                <a:spcPts val="0"/>
              </a:spcAft>
            </a:pPr>
            <a:r>
              <a:rPr lang="en-US" sz="1800" i="1">
                <a:solidFill>
                  <a:srgbClr val="000000"/>
                </a:solidFill>
                <a:latin typeface="Courier New" panose="02070309020205020404" pitchFamily="49" charset="0"/>
                <a:cs typeface="Courier New" panose="02070309020205020404" pitchFamily="49" charset="0"/>
              </a:rPr>
              <a:t>N</a:t>
            </a:r>
          </a:p>
        </p:txBody>
      </p:sp>
      <p:sp>
        <p:nvSpPr>
          <p:cNvPr id="23" name="AutoShape 33">
            <a:extLst>
              <a:ext uri="{FF2B5EF4-FFF2-40B4-BE49-F238E27FC236}">
                <a16:creationId xmlns:a16="http://schemas.microsoft.com/office/drawing/2014/main" id="{ADD0ACF9-B2A1-B7C1-95A1-DDB3F857E4E4}"/>
              </a:ext>
            </a:extLst>
          </p:cNvPr>
          <p:cNvSpPr>
            <a:spLocks noChangeArrowheads="1"/>
          </p:cNvSpPr>
          <p:nvPr/>
        </p:nvSpPr>
        <p:spPr bwMode="auto">
          <a:xfrm>
            <a:off x="5327337" y="5349937"/>
            <a:ext cx="1304902" cy="320040"/>
          </a:xfrm>
          <a:prstGeom prst="foldedCorner">
            <a:avLst>
              <a:gd name="adj" fmla="val 41409"/>
            </a:avLst>
          </a:prstGeom>
          <a:solidFill>
            <a:srgbClr val="FFFFFF"/>
          </a:solidFill>
          <a:ln w="9525">
            <a:solidFill>
              <a:srgbClr val="000000"/>
            </a:solidFill>
            <a:miter lim="800000"/>
            <a:headEnd/>
            <a:tailEnd/>
          </a:ln>
        </p:spPr>
        <p:txBody>
          <a:bodyPr wrap="square" lIns="0" tIns="0" rIns="0" bIns="0">
            <a:noAutofit/>
          </a:bodyPr>
          <a:lstStyle/>
          <a:p>
            <a:pPr algn="ctr">
              <a:spcAft>
                <a:spcPts val="0"/>
              </a:spcAft>
            </a:pPr>
            <a:r>
              <a:rPr lang="en-US" sz="1600" b="1">
                <a:solidFill>
                  <a:srgbClr val="000000"/>
                </a:solidFill>
                <a:latin typeface="Courier New" panose="02070309020205020404" pitchFamily="49" charset="0"/>
                <a:cs typeface="Courier New" panose="02070309020205020404" pitchFamily="49" charset="0"/>
              </a:rPr>
              <a:t>x=–b/2a</a:t>
            </a:r>
          </a:p>
        </p:txBody>
      </p:sp>
      <p:sp>
        <p:nvSpPr>
          <p:cNvPr id="24" name="Text Box 36">
            <a:extLst>
              <a:ext uri="{FF2B5EF4-FFF2-40B4-BE49-F238E27FC236}">
                <a16:creationId xmlns:a16="http://schemas.microsoft.com/office/drawing/2014/main" id="{E2F0106F-2CDF-7CD2-B67C-4161FC1F253E}"/>
              </a:ext>
            </a:extLst>
          </p:cNvPr>
          <p:cNvSpPr txBox="1">
            <a:spLocks noChangeArrowheads="1"/>
          </p:cNvSpPr>
          <p:nvPr/>
        </p:nvSpPr>
        <p:spPr bwMode="auto">
          <a:xfrm>
            <a:off x="4389414" y="4623215"/>
            <a:ext cx="693893" cy="20949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spcAft>
                <a:spcPts val="0"/>
              </a:spcAft>
            </a:pPr>
            <a:r>
              <a:rPr lang="en-US" sz="1800" i="1">
                <a:solidFill>
                  <a:srgbClr val="000000"/>
                </a:solidFill>
                <a:latin typeface="Courier New" panose="02070309020205020404" pitchFamily="49" charset="0"/>
                <a:cs typeface="Courier New" panose="02070309020205020404" pitchFamily="49" charset="0"/>
              </a:rPr>
              <a:t>Y</a:t>
            </a:r>
          </a:p>
        </p:txBody>
      </p:sp>
      <p:sp>
        <p:nvSpPr>
          <p:cNvPr id="25" name="Text Box 37">
            <a:extLst>
              <a:ext uri="{FF2B5EF4-FFF2-40B4-BE49-F238E27FC236}">
                <a16:creationId xmlns:a16="http://schemas.microsoft.com/office/drawing/2014/main" id="{0BE29ECD-EAE8-E8BF-6B81-4EE48A63B195}"/>
              </a:ext>
            </a:extLst>
          </p:cNvPr>
          <p:cNvSpPr txBox="1">
            <a:spLocks noChangeArrowheads="1"/>
          </p:cNvSpPr>
          <p:nvPr/>
        </p:nvSpPr>
        <p:spPr bwMode="auto">
          <a:xfrm>
            <a:off x="4291126" y="5236355"/>
            <a:ext cx="693891" cy="27689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spcAft>
                <a:spcPts val="0"/>
              </a:spcAft>
            </a:pPr>
            <a:r>
              <a:rPr lang="en-US" sz="1800" i="1">
                <a:solidFill>
                  <a:srgbClr val="000000"/>
                </a:solidFill>
                <a:latin typeface="Courier New" panose="02070309020205020404" pitchFamily="49" charset="0"/>
                <a:cs typeface="Courier New" panose="02070309020205020404" pitchFamily="49" charset="0"/>
              </a:rPr>
              <a:t>Y</a:t>
            </a:r>
          </a:p>
        </p:txBody>
      </p:sp>
      <p:cxnSp>
        <p:nvCxnSpPr>
          <p:cNvPr id="26" name="Elbow Connector 61">
            <a:extLst>
              <a:ext uri="{FF2B5EF4-FFF2-40B4-BE49-F238E27FC236}">
                <a16:creationId xmlns:a16="http://schemas.microsoft.com/office/drawing/2014/main" id="{15FCD22C-47A3-90A8-58FA-1CF38D011613}"/>
              </a:ext>
            </a:extLst>
          </p:cNvPr>
          <p:cNvCxnSpPr>
            <a:stCxn id="41" idx="3"/>
            <a:endCxn id="39" idx="1"/>
          </p:cNvCxnSpPr>
          <p:nvPr/>
        </p:nvCxnSpPr>
        <p:spPr>
          <a:xfrm flipV="1">
            <a:off x="6329202" y="3576363"/>
            <a:ext cx="401802" cy="4201"/>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62">
            <a:extLst>
              <a:ext uri="{FF2B5EF4-FFF2-40B4-BE49-F238E27FC236}">
                <a16:creationId xmlns:a16="http://schemas.microsoft.com/office/drawing/2014/main" id="{08DC8AF2-2D33-7F83-D948-542828457D6F}"/>
              </a:ext>
            </a:extLst>
          </p:cNvPr>
          <p:cNvCxnSpPr>
            <a:cxnSpLocks/>
            <a:stCxn id="12" idx="3"/>
            <a:endCxn id="13" idx="2"/>
          </p:cNvCxnSpPr>
          <p:nvPr/>
        </p:nvCxnSpPr>
        <p:spPr>
          <a:xfrm flipV="1">
            <a:off x="7819724" y="5081743"/>
            <a:ext cx="248582" cy="993056"/>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63">
            <a:extLst>
              <a:ext uri="{FF2B5EF4-FFF2-40B4-BE49-F238E27FC236}">
                <a16:creationId xmlns:a16="http://schemas.microsoft.com/office/drawing/2014/main" id="{B4C9FFD3-FC57-5BF6-5BEF-0E94D645D811}"/>
              </a:ext>
            </a:extLst>
          </p:cNvPr>
          <p:cNvCxnSpPr>
            <a:cxnSpLocks/>
            <a:stCxn id="21" idx="2"/>
            <a:endCxn id="12" idx="1"/>
          </p:cNvCxnSpPr>
          <p:nvPr/>
        </p:nvCxnSpPr>
        <p:spPr>
          <a:xfrm rot="16200000" flipH="1">
            <a:off x="3956939" y="5596523"/>
            <a:ext cx="373776" cy="582775"/>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F68C822-8F58-198D-3161-AA32C6E3F257}"/>
              </a:ext>
            </a:extLst>
          </p:cNvPr>
          <p:cNvCxnSpPr>
            <a:cxnSpLocks/>
            <a:stCxn id="10" idx="2"/>
            <a:endCxn id="11" idx="1"/>
          </p:cNvCxnSpPr>
          <p:nvPr/>
        </p:nvCxnSpPr>
        <p:spPr>
          <a:xfrm flipH="1">
            <a:off x="3895333" y="2723577"/>
            <a:ext cx="12766" cy="17657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65">
            <a:extLst>
              <a:ext uri="{FF2B5EF4-FFF2-40B4-BE49-F238E27FC236}">
                <a16:creationId xmlns:a16="http://schemas.microsoft.com/office/drawing/2014/main" id="{72DFD661-743F-773A-EEA9-9CC805F6649A}"/>
              </a:ext>
            </a:extLst>
          </p:cNvPr>
          <p:cNvCxnSpPr>
            <a:stCxn id="11" idx="4"/>
            <a:endCxn id="14" idx="0"/>
          </p:cNvCxnSpPr>
          <p:nvPr/>
        </p:nvCxnSpPr>
        <p:spPr>
          <a:xfrm rot="16200000" flipH="1">
            <a:off x="3743306" y="3311184"/>
            <a:ext cx="192516" cy="10539"/>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53F83E7-E69A-0BDA-7453-30CB8066E33B}"/>
              </a:ext>
            </a:extLst>
          </p:cNvPr>
          <p:cNvCxnSpPr>
            <a:stCxn id="14" idx="2"/>
            <a:endCxn id="20" idx="0"/>
          </p:cNvCxnSpPr>
          <p:nvPr/>
        </p:nvCxnSpPr>
        <p:spPr>
          <a:xfrm>
            <a:off x="3844834" y="3792638"/>
            <a:ext cx="11960" cy="27205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ABCC8BD-2E06-5E3F-1063-AB761D1436CA}"/>
              </a:ext>
            </a:extLst>
          </p:cNvPr>
          <p:cNvCxnSpPr>
            <a:cxnSpLocks/>
            <a:stCxn id="20" idx="2"/>
            <a:endCxn id="15" idx="0"/>
          </p:cNvCxnSpPr>
          <p:nvPr/>
        </p:nvCxnSpPr>
        <p:spPr>
          <a:xfrm flipH="1">
            <a:off x="3852440" y="4384737"/>
            <a:ext cx="4354" cy="3315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854FA18-6941-7574-1DF4-18495923EB02}"/>
              </a:ext>
            </a:extLst>
          </p:cNvPr>
          <p:cNvCxnSpPr>
            <a:cxnSpLocks/>
            <a:stCxn id="15" idx="2"/>
            <a:endCxn id="21" idx="0"/>
          </p:cNvCxnSpPr>
          <p:nvPr/>
        </p:nvCxnSpPr>
        <p:spPr>
          <a:xfrm>
            <a:off x="3852440" y="5096177"/>
            <a:ext cx="0" cy="2249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D6C676E-AE21-BF76-DCBA-A8F1D76CDCED}"/>
              </a:ext>
            </a:extLst>
          </p:cNvPr>
          <p:cNvCxnSpPr>
            <a:cxnSpLocks/>
            <a:stCxn id="15" idx="3"/>
            <a:endCxn id="19" idx="1"/>
          </p:cNvCxnSpPr>
          <p:nvPr/>
        </p:nvCxnSpPr>
        <p:spPr>
          <a:xfrm flipV="1">
            <a:off x="4766840" y="4900357"/>
            <a:ext cx="350522" cy="585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9EF8593-1905-8D56-EC03-29C0B1BB4813}"/>
              </a:ext>
            </a:extLst>
          </p:cNvPr>
          <p:cNvCxnSpPr>
            <a:cxnSpLocks/>
            <a:stCxn id="21" idx="3"/>
            <a:endCxn id="23" idx="1"/>
          </p:cNvCxnSpPr>
          <p:nvPr/>
        </p:nvCxnSpPr>
        <p:spPr>
          <a:xfrm flipV="1">
            <a:off x="4766840" y="5509957"/>
            <a:ext cx="560497" cy="110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C3D293A-3C41-55B4-6983-0A13FDD31621}"/>
              </a:ext>
            </a:extLst>
          </p:cNvPr>
          <p:cNvCxnSpPr>
            <a:stCxn id="19" idx="3"/>
            <a:endCxn id="13" idx="1"/>
          </p:cNvCxnSpPr>
          <p:nvPr/>
        </p:nvCxnSpPr>
        <p:spPr>
          <a:xfrm>
            <a:off x="6422262" y="4900357"/>
            <a:ext cx="1371724" cy="2136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42914B6-F594-0E1D-DE7F-5E6F739D34CF}"/>
              </a:ext>
            </a:extLst>
          </p:cNvPr>
          <p:cNvCxnSpPr>
            <a:stCxn id="14" idx="3"/>
          </p:cNvCxnSpPr>
          <p:nvPr/>
        </p:nvCxnSpPr>
        <p:spPr>
          <a:xfrm>
            <a:off x="4395397" y="3602675"/>
            <a:ext cx="1021256" cy="1470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7B6904A-40F1-BCF9-E8BD-2FAFB83B1FFE}"/>
              </a:ext>
            </a:extLst>
          </p:cNvPr>
          <p:cNvCxnSpPr>
            <a:cxnSpLocks/>
            <a:stCxn id="23" idx="3"/>
          </p:cNvCxnSpPr>
          <p:nvPr/>
        </p:nvCxnSpPr>
        <p:spPr>
          <a:xfrm>
            <a:off x="6632239" y="5509957"/>
            <a:ext cx="1463040" cy="1830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9" name="AutoShape 26">
            <a:extLst>
              <a:ext uri="{FF2B5EF4-FFF2-40B4-BE49-F238E27FC236}">
                <a16:creationId xmlns:a16="http://schemas.microsoft.com/office/drawing/2014/main" id="{908E6DF2-AC0A-A8D5-54F5-AEA52BD0A486}"/>
              </a:ext>
            </a:extLst>
          </p:cNvPr>
          <p:cNvSpPr>
            <a:spLocks noChangeArrowheads="1"/>
          </p:cNvSpPr>
          <p:nvPr/>
        </p:nvSpPr>
        <p:spPr bwMode="auto">
          <a:xfrm>
            <a:off x="6731004" y="3416343"/>
            <a:ext cx="1062403" cy="320040"/>
          </a:xfrm>
          <a:prstGeom prst="foldedCorner">
            <a:avLst>
              <a:gd name="adj" fmla="val 41317"/>
            </a:avLst>
          </a:prstGeom>
          <a:solidFill>
            <a:srgbClr val="FFFFFF"/>
          </a:solidFill>
          <a:ln w="9525">
            <a:solidFill>
              <a:srgbClr val="000000"/>
            </a:solidFill>
            <a:miter lim="800000"/>
            <a:headEnd/>
            <a:tailEnd/>
          </a:ln>
        </p:spPr>
        <p:txBody>
          <a:bodyPr wrap="square" lIns="0" tIns="0" rIns="0" bIns="0">
            <a:noAutofit/>
          </a:bodyPr>
          <a:lstStyle/>
          <a:p>
            <a:pPr algn="ctr">
              <a:spcAft>
                <a:spcPts val="0"/>
              </a:spcAft>
            </a:pPr>
            <a:r>
              <a:rPr lang="en-US" sz="1600" b="1">
                <a:solidFill>
                  <a:srgbClr val="000000"/>
                </a:solidFill>
                <a:latin typeface="Courier New" panose="02070309020205020404" pitchFamily="49" charset="0"/>
                <a:cs typeface="Courier New" panose="02070309020205020404" pitchFamily="49" charset="0"/>
              </a:rPr>
              <a:t>x=-c/b</a:t>
            </a:r>
          </a:p>
        </p:txBody>
      </p:sp>
      <p:cxnSp>
        <p:nvCxnSpPr>
          <p:cNvPr id="40" name="Elbow Connector 75">
            <a:extLst>
              <a:ext uri="{FF2B5EF4-FFF2-40B4-BE49-F238E27FC236}">
                <a16:creationId xmlns:a16="http://schemas.microsoft.com/office/drawing/2014/main" id="{0D6F8BFF-FF42-9308-9D1B-C32F48B6D733}"/>
              </a:ext>
            </a:extLst>
          </p:cNvPr>
          <p:cNvCxnSpPr>
            <a:stCxn id="39" idx="3"/>
            <a:endCxn id="13" idx="0"/>
          </p:cNvCxnSpPr>
          <p:nvPr/>
        </p:nvCxnSpPr>
        <p:spPr>
          <a:xfrm>
            <a:off x="7793407" y="3576363"/>
            <a:ext cx="274899" cy="1185340"/>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1" name="AutoShape 16">
            <a:extLst>
              <a:ext uri="{FF2B5EF4-FFF2-40B4-BE49-F238E27FC236}">
                <a16:creationId xmlns:a16="http://schemas.microsoft.com/office/drawing/2014/main" id="{1E7EE2A9-99E0-CF26-14E6-9CE47A3AD8F8}"/>
              </a:ext>
            </a:extLst>
          </p:cNvPr>
          <p:cNvSpPr>
            <a:spLocks noChangeArrowheads="1"/>
          </p:cNvSpPr>
          <p:nvPr/>
        </p:nvSpPr>
        <p:spPr bwMode="auto">
          <a:xfrm>
            <a:off x="5228076" y="3390601"/>
            <a:ext cx="1101126" cy="379926"/>
          </a:xfrm>
          <a:prstGeom prst="diamond">
            <a:avLst/>
          </a:prstGeom>
          <a:solidFill>
            <a:srgbClr val="FFFFFF"/>
          </a:solidFill>
          <a:ln w="9525">
            <a:solidFill>
              <a:srgbClr val="000000"/>
            </a:solidFill>
            <a:miter lim="800000"/>
            <a:headEnd/>
            <a:tailEnd/>
          </a:ln>
        </p:spPr>
        <p:txBody>
          <a:bodyPr lIns="0" tIns="0" rIns="0" bIns="0"/>
          <a:lstStyle/>
          <a:p>
            <a:pPr algn="ctr">
              <a:spcAft>
                <a:spcPts val="0"/>
              </a:spcAft>
            </a:pPr>
            <a:r>
              <a:rPr lang="en-US" sz="1600" b="1">
                <a:solidFill>
                  <a:srgbClr val="000000"/>
                </a:solidFill>
                <a:latin typeface="Courier New" panose="02070309020205020404" pitchFamily="49" charset="0"/>
                <a:cs typeface="Courier New" panose="02070309020205020404" pitchFamily="49" charset="0"/>
              </a:rPr>
              <a:t>b=0</a:t>
            </a:r>
          </a:p>
        </p:txBody>
      </p:sp>
      <p:cxnSp>
        <p:nvCxnSpPr>
          <p:cNvPr id="42" name="Elbow Connector 77">
            <a:extLst>
              <a:ext uri="{FF2B5EF4-FFF2-40B4-BE49-F238E27FC236}">
                <a16:creationId xmlns:a16="http://schemas.microsoft.com/office/drawing/2014/main" id="{10A19270-B0D3-4F4B-3958-E9BFBC944E6A}"/>
              </a:ext>
            </a:extLst>
          </p:cNvPr>
          <p:cNvCxnSpPr>
            <a:stCxn id="41" idx="2"/>
            <a:endCxn id="45" idx="0"/>
          </p:cNvCxnSpPr>
          <p:nvPr/>
        </p:nvCxnSpPr>
        <p:spPr>
          <a:xfrm rot="5400000">
            <a:off x="5631108" y="3912404"/>
            <a:ext cx="289408" cy="5654"/>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3" name="Text Box 21">
            <a:extLst>
              <a:ext uri="{FF2B5EF4-FFF2-40B4-BE49-F238E27FC236}">
                <a16:creationId xmlns:a16="http://schemas.microsoft.com/office/drawing/2014/main" id="{152AAACB-5A3B-886D-A231-DD13870EA041}"/>
              </a:ext>
            </a:extLst>
          </p:cNvPr>
          <p:cNvSpPr txBox="1">
            <a:spLocks noChangeArrowheads="1"/>
          </p:cNvSpPr>
          <p:nvPr/>
        </p:nvSpPr>
        <p:spPr bwMode="auto">
          <a:xfrm>
            <a:off x="5938348" y="3317937"/>
            <a:ext cx="693891" cy="27689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spcAft>
                <a:spcPts val="0"/>
              </a:spcAft>
            </a:pPr>
            <a:r>
              <a:rPr lang="en-US" sz="1800" i="1">
                <a:solidFill>
                  <a:srgbClr val="000000"/>
                </a:solidFill>
                <a:latin typeface="Courier New" panose="02070309020205020404" pitchFamily="49" charset="0"/>
                <a:cs typeface="Courier New" panose="02070309020205020404" pitchFamily="49" charset="0"/>
              </a:rPr>
              <a:t>N</a:t>
            </a:r>
          </a:p>
        </p:txBody>
      </p:sp>
      <p:sp>
        <p:nvSpPr>
          <p:cNvPr id="44" name="Text Box 36">
            <a:extLst>
              <a:ext uri="{FF2B5EF4-FFF2-40B4-BE49-F238E27FC236}">
                <a16:creationId xmlns:a16="http://schemas.microsoft.com/office/drawing/2014/main" id="{74DE5097-2D71-B600-9BA8-F0EAB08CBE71}"/>
              </a:ext>
            </a:extLst>
          </p:cNvPr>
          <p:cNvSpPr txBox="1">
            <a:spLocks noChangeArrowheads="1"/>
          </p:cNvSpPr>
          <p:nvPr/>
        </p:nvSpPr>
        <p:spPr bwMode="auto">
          <a:xfrm>
            <a:off x="5236269" y="3726847"/>
            <a:ext cx="693893" cy="27689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spcAft>
                <a:spcPts val="0"/>
              </a:spcAft>
            </a:pPr>
            <a:r>
              <a:rPr lang="en-US" sz="1800" i="1">
                <a:solidFill>
                  <a:srgbClr val="000000"/>
                </a:solidFill>
                <a:latin typeface="Courier New" panose="02070309020205020404" pitchFamily="49" charset="0"/>
                <a:cs typeface="Courier New" panose="02070309020205020404" pitchFamily="49" charset="0"/>
              </a:rPr>
              <a:t>Y</a:t>
            </a:r>
          </a:p>
        </p:txBody>
      </p:sp>
      <p:sp>
        <p:nvSpPr>
          <p:cNvPr id="45" name="AutoShape 16">
            <a:extLst>
              <a:ext uri="{FF2B5EF4-FFF2-40B4-BE49-F238E27FC236}">
                <a16:creationId xmlns:a16="http://schemas.microsoft.com/office/drawing/2014/main" id="{3CA89554-F041-CB18-4A49-33237AC4912C}"/>
              </a:ext>
            </a:extLst>
          </p:cNvPr>
          <p:cNvSpPr>
            <a:spLocks noChangeArrowheads="1"/>
          </p:cNvSpPr>
          <p:nvPr/>
        </p:nvSpPr>
        <p:spPr bwMode="auto">
          <a:xfrm>
            <a:off x="5222422" y="4059935"/>
            <a:ext cx="1101126" cy="379926"/>
          </a:xfrm>
          <a:prstGeom prst="diamond">
            <a:avLst/>
          </a:prstGeom>
          <a:solidFill>
            <a:srgbClr val="FFFFFF"/>
          </a:solidFill>
          <a:ln w="9525">
            <a:solidFill>
              <a:srgbClr val="000000"/>
            </a:solidFill>
            <a:miter lim="800000"/>
            <a:headEnd/>
            <a:tailEnd/>
          </a:ln>
        </p:spPr>
        <p:txBody>
          <a:bodyPr lIns="0" tIns="0" rIns="0" bIns="0"/>
          <a:lstStyle/>
          <a:p>
            <a:pPr algn="ctr">
              <a:spcAft>
                <a:spcPts val="0"/>
              </a:spcAft>
            </a:pPr>
            <a:r>
              <a:rPr lang="en-US" sz="1600" b="1">
                <a:solidFill>
                  <a:srgbClr val="000000"/>
                </a:solidFill>
                <a:latin typeface="Courier New" panose="02070309020205020404" pitchFamily="49" charset="0"/>
                <a:cs typeface="Courier New" panose="02070309020205020404" pitchFamily="49" charset="0"/>
              </a:rPr>
              <a:t>c=0</a:t>
            </a:r>
          </a:p>
        </p:txBody>
      </p:sp>
      <p:cxnSp>
        <p:nvCxnSpPr>
          <p:cNvPr id="46" name="Elbow Connector 83">
            <a:extLst>
              <a:ext uri="{FF2B5EF4-FFF2-40B4-BE49-F238E27FC236}">
                <a16:creationId xmlns:a16="http://schemas.microsoft.com/office/drawing/2014/main" id="{1F7B7E0D-1EE4-566F-F944-E6F45CFA5869}"/>
              </a:ext>
            </a:extLst>
          </p:cNvPr>
          <p:cNvCxnSpPr>
            <a:stCxn id="45" idx="2"/>
            <a:endCxn id="19" idx="0"/>
          </p:cNvCxnSpPr>
          <p:nvPr/>
        </p:nvCxnSpPr>
        <p:spPr>
          <a:xfrm rot="5400000">
            <a:off x="5621161" y="4588513"/>
            <a:ext cx="300476" cy="3173"/>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7" name="Text Box 36">
            <a:extLst>
              <a:ext uri="{FF2B5EF4-FFF2-40B4-BE49-F238E27FC236}">
                <a16:creationId xmlns:a16="http://schemas.microsoft.com/office/drawing/2014/main" id="{4575CA72-53CF-E5C5-B77A-5B5EA3F8B135}"/>
              </a:ext>
            </a:extLst>
          </p:cNvPr>
          <p:cNvSpPr txBox="1">
            <a:spLocks noChangeArrowheads="1"/>
          </p:cNvSpPr>
          <p:nvPr/>
        </p:nvSpPr>
        <p:spPr bwMode="auto">
          <a:xfrm>
            <a:off x="5955089" y="3955447"/>
            <a:ext cx="693893" cy="27689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spcAft>
                <a:spcPts val="0"/>
              </a:spcAft>
            </a:pPr>
            <a:r>
              <a:rPr lang="en-US" sz="1800" i="1">
                <a:solidFill>
                  <a:srgbClr val="000000"/>
                </a:solidFill>
                <a:latin typeface="Courier New" panose="02070309020205020404" pitchFamily="49" charset="0"/>
                <a:cs typeface="Courier New" panose="02070309020205020404" pitchFamily="49" charset="0"/>
              </a:rPr>
              <a:t>Y</a:t>
            </a:r>
          </a:p>
        </p:txBody>
      </p:sp>
      <p:sp>
        <p:nvSpPr>
          <p:cNvPr id="48" name="AutoShape 26">
            <a:extLst>
              <a:ext uri="{FF2B5EF4-FFF2-40B4-BE49-F238E27FC236}">
                <a16:creationId xmlns:a16="http://schemas.microsoft.com/office/drawing/2014/main" id="{7776A332-09E7-D711-60E9-4D7FF02982C8}"/>
              </a:ext>
            </a:extLst>
          </p:cNvPr>
          <p:cNvSpPr>
            <a:spLocks noChangeArrowheads="1"/>
          </p:cNvSpPr>
          <p:nvPr/>
        </p:nvSpPr>
        <p:spPr bwMode="auto">
          <a:xfrm>
            <a:off x="6573682" y="4087095"/>
            <a:ext cx="1188720" cy="320040"/>
          </a:xfrm>
          <a:prstGeom prst="foldedCorner">
            <a:avLst>
              <a:gd name="adj" fmla="val 36795"/>
            </a:avLst>
          </a:prstGeom>
          <a:solidFill>
            <a:srgbClr val="FFFFFF"/>
          </a:solidFill>
          <a:ln w="9525">
            <a:solidFill>
              <a:srgbClr val="000000"/>
            </a:solidFill>
            <a:miter lim="800000"/>
            <a:headEnd/>
            <a:tailEnd/>
          </a:ln>
        </p:spPr>
        <p:txBody>
          <a:bodyPr wrap="square" lIns="0" tIns="0" rIns="0" bIns="0">
            <a:noAutofit/>
          </a:bodyPr>
          <a:lstStyle/>
          <a:p>
            <a:pPr algn="ctr" fontAlgn="base">
              <a:spcAft>
                <a:spcPts val="0"/>
              </a:spcAft>
            </a:pPr>
            <a:r>
              <a:rPr lang="en-US" sz="1600" b="1">
                <a:solidFill>
                  <a:srgbClr val="000000"/>
                </a:solidFill>
                <a:latin typeface="Courier New" panose="02070309020205020404" pitchFamily="49" charset="0"/>
                <a:cs typeface="Courier New" panose="02070309020205020404" pitchFamily="49" charset="0"/>
              </a:rPr>
              <a:t>“PTVSN”</a:t>
            </a:r>
          </a:p>
        </p:txBody>
      </p:sp>
      <p:cxnSp>
        <p:nvCxnSpPr>
          <p:cNvPr id="49" name="Straight Arrow Connector 48">
            <a:extLst>
              <a:ext uri="{FF2B5EF4-FFF2-40B4-BE49-F238E27FC236}">
                <a16:creationId xmlns:a16="http://schemas.microsoft.com/office/drawing/2014/main" id="{C848A63A-8451-4D1D-3734-AF22CBE382A9}"/>
              </a:ext>
            </a:extLst>
          </p:cNvPr>
          <p:cNvCxnSpPr>
            <a:stCxn id="45" idx="3"/>
            <a:endCxn id="48" idx="1"/>
          </p:cNvCxnSpPr>
          <p:nvPr/>
        </p:nvCxnSpPr>
        <p:spPr>
          <a:xfrm flipV="1">
            <a:off x="6323548" y="4247115"/>
            <a:ext cx="250134" cy="278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0" name="Elbow Connector 87">
            <a:extLst>
              <a:ext uri="{FF2B5EF4-FFF2-40B4-BE49-F238E27FC236}">
                <a16:creationId xmlns:a16="http://schemas.microsoft.com/office/drawing/2014/main" id="{E0F28995-26DE-29E3-94E7-1FA2E8FBAA1A}"/>
              </a:ext>
            </a:extLst>
          </p:cNvPr>
          <p:cNvCxnSpPr>
            <a:cxnSpLocks/>
            <a:stCxn id="48" idx="3"/>
          </p:cNvCxnSpPr>
          <p:nvPr/>
        </p:nvCxnSpPr>
        <p:spPr>
          <a:xfrm>
            <a:off x="7762402" y="4247115"/>
            <a:ext cx="274320" cy="2783"/>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1" name="Text Box 21">
            <a:extLst>
              <a:ext uri="{FF2B5EF4-FFF2-40B4-BE49-F238E27FC236}">
                <a16:creationId xmlns:a16="http://schemas.microsoft.com/office/drawing/2014/main" id="{B295DC75-A535-B20E-6099-ADEA6F8E4EE9}"/>
              </a:ext>
            </a:extLst>
          </p:cNvPr>
          <p:cNvSpPr txBox="1">
            <a:spLocks noChangeArrowheads="1"/>
          </p:cNvSpPr>
          <p:nvPr/>
        </p:nvSpPr>
        <p:spPr bwMode="auto">
          <a:xfrm>
            <a:off x="5244362" y="4399577"/>
            <a:ext cx="693891" cy="27689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spcAft>
                <a:spcPts val="0"/>
              </a:spcAft>
            </a:pPr>
            <a:r>
              <a:rPr lang="en-US" sz="1800" i="1">
                <a:solidFill>
                  <a:srgbClr val="000000"/>
                </a:solidFill>
                <a:latin typeface="Courier New" panose="02070309020205020404" pitchFamily="49" charset="0"/>
                <a:cs typeface="Courier New" panose="02070309020205020404" pitchFamily="49" charset="0"/>
              </a:rPr>
              <a:t>N</a:t>
            </a:r>
          </a:p>
        </p:txBody>
      </p:sp>
      <p:cxnSp>
        <p:nvCxnSpPr>
          <p:cNvPr id="53" name="Straight Arrow Connector 52">
            <a:extLst>
              <a:ext uri="{FF2B5EF4-FFF2-40B4-BE49-F238E27FC236}">
                <a16:creationId xmlns:a16="http://schemas.microsoft.com/office/drawing/2014/main" id="{A5901430-CB0C-311B-0D90-F5BD79820979}"/>
              </a:ext>
            </a:extLst>
          </p:cNvPr>
          <p:cNvCxnSpPr/>
          <p:nvPr/>
        </p:nvCxnSpPr>
        <p:spPr>
          <a:xfrm flipV="1">
            <a:off x="7822529" y="3573579"/>
            <a:ext cx="274320" cy="278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64533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en-US" kern="0">
                <a:solidFill>
                  <a:srgbClr val="002060"/>
                </a:solidFill>
                <a:latin typeface="Cambria" panose="02040503050406030204" pitchFamily="18" charset="0"/>
              </a:rPr>
              <a:t>Bài tập rèn luyện</a:t>
            </a:r>
          </a:p>
          <a:p>
            <a:pPr lvl="0">
              <a:defRPr/>
            </a:pPr>
            <a:r>
              <a:rPr lang="en-US" kern="0">
                <a:solidFill>
                  <a:srgbClr val="002060"/>
                </a:solidFill>
                <a:latin typeface="Cambria" panose="02040503050406030204" pitchFamily="18" charset="0"/>
              </a:rPr>
              <a:t>Giải toán học</a:t>
            </a: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94047B55-1690-7351-37D0-DFC6E2B6F92F}"/>
              </a:ext>
            </a:extLst>
          </p:cNvPr>
          <p:cNvSpPr>
            <a:spLocks noGrp="1"/>
          </p:cNvSpPr>
          <p:nvPr>
            <p:ph type="sldNum" sz="quarter" idx="12"/>
          </p:nvPr>
        </p:nvSpPr>
        <p:spPr/>
        <p:txBody>
          <a:bodyPr/>
          <a:lstStyle/>
          <a:p>
            <a:fld id="{48FE5571-560F-4DFC-BA97-61ACA5F7ADE1}" type="slidenum">
              <a:rPr lang="en-US" smtClean="0"/>
              <a:pPr/>
              <a:t>76</a:t>
            </a:fld>
            <a:endParaRPr lang="en-US"/>
          </a:p>
        </p:txBody>
      </p:sp>
    </p:spTree>
    <p:extLst>
      <p:ext uri="{BB962C8B-B14F-4D97-AF65-F5344CB8AC3E}">
        <p14:creationId xmlns:p14="http://schemas.microsoft.com/office/powerpoint/2010/main" val="26169906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vi-VN" kern="0">
                <a:solidFill>
                  <a:srgbClr val="002060"/>
                </a:solidFill>
                <a:latin typeface="Cambria" panose="02040503050406030204" pitchFamily="18" charset="0"/>
              </a:rPr>
              <a:t> Viết chương trình nhập từ bàn phím 2 số </a:t>
            </a:r>
            <a:r>
              <a:rPr lang="vi-VN" kern="0">
                <a:solidFill>
                  <a:srgbClr val="FF0000"/>
                </a:solidFill>
                <a:latin typeface="Cambria" panose="02040503050406030204" pitchFamily="18" charset="0"/>
              </a:rPr>
              <a:t>a</a:t>
            </a:r>
            <a:r>
              <a:rPr lang="vi-VN" kern="0">
                <a:solidFill>
                  <a:srgbClr val="002060"/>
                </a:solidFill>
                <a:latin typeface="Cambria" panose="02040503050406030204" pitchFamily="18" charset="0"/>
              </a:rPr>
              <a:t>, </a:t>
            </a:r>
            <a:r>
              <a:rPr lang="vi-VN" kern="0">
                <a:solidFill>
                  <a:srgbClr val="FF0000"/>
                </a:solidFill>
                <a:latin typeface="Cambria" panose="02040503050406030204" pitchFamily="18" charset="0"/>
              </a:rPr>
              <a:t>b</a:t>
            </a:r>
            <a:r>
              <a:rPr lang="vi-VN" kern="0">
                <a:solidFill>
                  <a:srgbClr val="002060"/>
                </a:solidFill>
                <a:latin typeface="Cambria" panose="02040503050406030204" pitchFamily="18" charset="0"/>
              </a:rPr>
              <a:t> và một</a:t>
            </a:r>
            <a:r>
              <a:rPr lang="en-US" kern="0">
                <a:solidFill>
                  <a:srgbClr val="002060"/>
                </a:solidFill>
                <a:latin typeface="Cambria" panose="02040503050406030204" pitchFamily="18" charset="0"/>
              </a:rPr>
              <a:t> </a:t>
            </a:r>
            <a:r>
              <a:rPr lang="vi-VN" kern="0">
                <a:solidFill>
                  <a:srgbClr val="002060"/>
                </a:solidFill>
                <a:latin typeface="Cambria" panose="02040503050406030204" pitchFamily="18" charset="0"/>
              </a:rPr>
              <a:t>ký tự </a:t>
            </a:r>
            <a:r>
              <a:rPr lang="vi-VN" kern="0">
                <a:solidFill>
                  <a:srgbClr val="FF0000"/>
                </a:solidFill>
                <a:latin typeface="Cambria" panose="02040503050406030204" pitchFamily="18" charset="0"/>
              </a:rPr>
              <a:t>ch</a:t>
            </a:r>
            <a:r>
              <a:rPr lang="vi-VN" kern="0">
                <a:solidFill>
                  <a:srgbClr val="002060"/>
                </a:solidFill>
                <a:latin typeface="Cambria" panose="02040503050406030204" pitchFamily="18" charset="0"/>
              </a:rPr>
              <a:t>. Nếu</a:t>
            </a:r>
            <a:r>
              <a:rPr lang="en-US" kern="0">
                <a:solidFill>
                  <a:srgbClr val="002060"/>
                </a:solidFill>
                <a:latin typeface="Cambria" panose="02040503050406030204" pitchFamily="18" charset="0"/>
              </a:rPr>
              <a:t> (dùng </a:t>
            </a:r>
            <a:r>
              <a:rPr lang="en-US" kern="0">
                <a:solidFill>
                  <a:srgbClr val="FF0000"/>
                </a:solidFill>
                <a:latin typeface="Cambria" panose="02040503050406030204" pitchFamily="18" charset="0"/>
              </a:rPr>
              <a:t>switch</a:t>
            </a:r>
            <a:r>
              <a:rPr lang="en-US" kern="0">
                <a:solidFill>
                  <a:srgbClr val="002060"/>
                </a:solidFill>
                <a:latin typeface="Cambria" panose="02040503050406030204" pitchFamily="18" charset="0"/>
              </a:rPr>
              <a:t>)</a:t>
            </a:r>
            <a:r>
              <a:rPr lang="vi-VN" kern="0">
                <a:solidFill>
                  <a:srgbClr val="002060"/>
                </a:solidFill>
                <a:latin typeface="Cambria" panose="02040503050406030204" pitchFamily="18" charset="0"/>
              </a:rPr>
              <a:t>: </a:t>
            </a:r>
            <a:endParaRPr lang="en-US" kern="0">
              <a:solidFill>
                <a:srgbClr val="002060"/>
              </a:solidFill>
              <a:latin typeface="Cambria" panose="02040503050406030204" pitchFamily="18" charset="0"/>
            </a:endParaRPr>
          </a:p>
          <a:p>
            <a:pPr marL="0" indent="0" algn="just">
              <a:buClr>
                <a:srgbClr val="3DC5C5"/>
              </a:buClr>
              <a:buNone/>
              <a:defRPr/>
            </a:pPr>
            <a:r>
              <a:rPr lang="en-US" kern="0">
                <a:solidFill>
                  <a:srgbClr val="002060"/>
                </a:solidFill>
                <a:latin typeface="Cambria" panose="02040503050406030204" pitchFamily="18" charset="0"/>
              </a:rPr>
              <a:t>−  ch là ‘+’ thì thực hiện phép tính a + b và in kết quả lên màn hình. </a:t>
            </a:r>
          </a:p>
          <a:p>
            <a:pPr marL="0" indent="0" algn="just">
              <a:buClr>
                <a:srgbClr val="3DC5C5"/>
              </a:buClr>
              <a:buNone/>
              <a:defRPr/>
            </a:pPr>
            <a:r>
              <a:rPr lang="en-US" kern="0">
                <a:solidFill>
                  <a:srgbClr val="002060"/>
                </a:solidFill>
                <a:latin typeface="Cambria" panose="02040503050406030204" pitchFamily="18" charset="0"/>
              </a:rPr>
              <a:t>−  ch là ‘–’ thì thực hiện phép tính a - b và in kết quả lên màn hình. </a:t>
            </a:r>
          </a:p>
          <a:p>
            <a:pPr marL="0" indent="0" algn="just">
              <a:buClr>
                <a:srgbClr val="3DC5C5"/>
              </a:buClr>
              <a:buNone/>
              <a:defRPr/>
            </a:pPr>
            <a:r>
              <a:rPr lang="en-US" kern="0">
                <a:solidFill>
                  <a:srgbClr val="002060"/>
                </a:solidFill>
                <a:latin typeface="Cambria" panose="02040503050406030204" pitchFamily="18" charset="0"/>
              </a:rPr>
              <a:t>−  ch là ‘*’ thì thực hiện phép tính a * b và in kết quả lên màn hình. </a:t>
            </a:r>
          </a:p>
          <a:p>
            <a:pPr marL="0" indent="0" algn="just">
              <a:buClr>
                <a:srgbClr val="3DC5C5"/>
              </a:buClr>
              <a:buNone/>
              <a:defRPr/>
            </a:pPr>
            <a:r>
              <a:rPr lang="en-US" kern="0">
                <a:solidFill>
                  <a:srgbClr val="002060"/>
                </a:solidFill>
                <a:latin typeface="Cambria" panose="02040503050406030204" pitchFamily="18" charset="0"/>
              </a:rPr>
              <a:t>−  ch là ‘/’ thì thực hiện phép tính a / b và in kết quả lên màn hình.  </a:t>
            </a:r>
            <a:endParaRPr lang="en-US" sz="4000" kern="0" dirty="0">
              <a:solidFill>
                <a:srgbClr val="FF000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B28553DD-98F4-0C98-3139-6605874CE3F4}"/>
              </a:ext>
            </a:extLst>
          </p:cNvPr>
          <p:cNvSpPr>
            <a:spLocks noGrp="1"/>
          </p:cNvSpPr>
          <p:nvPr>
            <p:ph type="sldNum" sz="quarter" idx="12"/>
          </p:nvPr>
        </p:nvSpPr>
        <p:spPr/>
        <p:txBody>
          <a:bodyPr/>
          <a:lstStyle/>
          <a:p>
            <a:fld id="{48FE5571-560F-4DFC-BA97-61ACA5F7ADE1}" type="slidenum">
              <a:rPr lang="en-US" smtClean="0"/>
              <a:pPr/>
              <a:t>77</a:t>
            </a:fld>
            <a:endParaRPr lang="en-US"/>
          </a:p>
        </p:txBody>
      </p:sp>
    </p:spTree>
    <p:extLst>
      <p:ext uri="{BB962C8B-B14F-4D97-AF65-F5344CB8AC3E}">
        <p14:creationId xmlns:p14="http://schemas.microsoft.com/office/powerpoint/2010/main" val="27924435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kern="0">
                <a:solidFill>
                  <a:srgbClr val="002060"/>
                </a:solidFill>
                <a:latin typeface="Cambria" panose="02040503050406030204" pitchFamily="18" charset="0"/>
              </a:rPr>
              <a:t>Bài tập rèn luyện</a:t>
            </a:r>
          </a:p>
          <a:p>
            <a:pPr lvl="0">
              <a:defRPr/>
            </a:pPr>
            <a:r>
              <a:rPr lang="en-US" kern="0">
                <a:solidFill>
                  <a:srgbClr val="002060"/>
                </a:solidFill>
                <a:latin typeface="Cambria" panose="02040503050406030204" pitchFamily="18" charset="0"/>
              </a:rPr>
              <a:t>Tính dãy toán học</a:t>
            </a: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6302E619-EBC1-630F-92F2-A15664936077}"/>
              </a:ext>
            </a:extLst>
          </p:cNvPr>
          <p:cNvSpPr>
            <a:spLocks noGrp="1"/>
          </p:cNvSpPr>
          <p:nvPr>
            <p:ph type="sldNum" sz="quarter" idx="12"/>
          </p:nvPr>
        </p:nvSpPr>
        <p:spPr/>
        <p:txBody>
          <a:bodyPr/>
          <a:lstStyle/>
          <a:p>
            <a:fld id="{48FE5571-560F-4DFC-BA97-61ACA5F7ADE1}" type="slidenum">
              <a:rPr lang="en-US" smtClean="0"/>
              <a:pPr/>
              <a:t>78</a:t>
            </a:fld>
            <a:endParaRPr lang="en-US"/>
          </a:p>
        </p:txBody>
      </p:sp>
    </p:spTree>
    <p:extLst>
      <p:ext uri="{BB962C8B-B14F-4D97-AF65-F5344CB8AC3E}">
        <p14:creationId xmlns:p14="http://schemas.microsoft.com/office/powerpoint/2010/main" val="4060660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9" name="Picture 8"/>
          <p:cNvPicPr>
            <a:picLocks noChangeAspect="1"/>
          </p:cNvPicPr>
          <p:nvPr/>
        </p:nvPicPr>
        <p:blipFill>
          <a:blip r:embed="rId2"/>
          <a:stretch>
            <a:fillRect/>
          </a:stretch>
        </p:blipFill>
        <p:spPr>
          <a:xfrm>
            <a:off x="2667001" y="1154456"/>
            <a:ext cx="6519333" cy="1219200"/>
          </a:xfrm>
          <a:prstGeom prst="rect">
            <a:avLst/>
          </a:prstGeom>
        </p:spPr>
      </p:pic>
      <p:pic>
        <p:nvPicPr>
          <p:cNvPr id="10" name="Picture 9"/>
          <p:cNvPicPr/>
          <p:nvPr/>
        </p:nvPicPr>
        <p:blipFill>
          <a:blip r:embed="rId3"/>
          <a:stretch>
            <a:fillRect/>
          </a:stretch>
        </p:blipFill>
        <p:spPr>
          <a:xfrm>
            <a:off x="2157310" y="3947668"/>
            <a:ext cx="5743315" cy="1905000"/>
          </a:xfrm>
          <a:prstGeom prst="rect">
            <a:avLst/>
          </a:prstGeom>
        </p:spPr>
      </p:pic>
      <p:pic>
        <p:nvPicPr>
          <p:cNvPr id="11" name="Picture 10"/>
          <p:cNvPicPr>
            <a:picLocks noChangeAspect="1"/>
          </p:cNvPicPr>
          <p:nvPr/>
        </p:nvPicPr>
        <p:blipFill>
          <a:blip r:embed="rId4"/>
          <a:stretch>
            <a:fillRect/>
          </a:stretch>
        </p:blipFill>
        <p:spPr>
          <a:xfrm>
            <a:off x="8382001" y="3962401"/>
            <a:ext cx="1895475" cy="1800225"/>
          </a:xfrm>
          <a:prstGeom prst="rect">
            <a:avLst/>
          </a:prstGeom>
        </p:spPr>
      </p:pic>
      <mc:AlternateContent xmlns:mc="http://schemas.openxmlformats.org/markup-compatibility/2006" xmlns:a14="http://schemas.microsoft.com/office/drawing/2010/main">
        <mc:Choice Requires="a14">
          <p:sp>
            <p:nvSpPr>
              <p:cNvPr id="8" name="TextBox 7"/>
              <p:cNvSpPr txBox="1"/>
              <p:nvPr/>
            </p:nvSpPr>
            <p:spPr>
              <a:xfrm>
                <a:off x="3048000" y="2537512"/>
                <a:ext cx="6928948" cy="5604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2,3</m:t>
                          </m:r>
                        </m:e>
                      </m:d>
                      <m:r>
                        <a:rPr lang="en-US" i="1">
                          <a:latin typeface="Cambria Math" panose="02040503050406030204" pitchFamily="18" charset="0"/>
                        </a:rPr>
                        <m:t>=2+</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2</m:t>
                              </m:r>
                            </m:sup>
                          </m:sSup>
                        </m:num>
                        <m:den>
                          <m:r>
                            <a:rPr lang="en-US" i="1">
                              <a:latin typeface="Cambria Math" panose="02040503050406030204" pitchFamily="18" charset="0"/>
                            </a:rPr>
                            <m:t>1+2</m:t>
                          </m:r>
                        </m:den>
                      </m:f>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3</m:t>
                              </m:r>
                            </m:sup>
                          </m:sSup>
                        </m:num>
                        <m:den>
                          <m:r>
                            <a:rPr lang="en-US" i="1">
                              <a:latin typeface="Cambria Math" panose="02040503050406030204" pitchFamily="18" charset="0"/>
                            </a:rPr>
                            <m:t>1+2+3</m:t>
                          </m:r>
                        </m:den>
                      </m:f>
                      <m:r>
                        <a:rPr lang="en-US" i="1">
                          <a:latin typeface="Cambria Math" panose="02040503050406030204" pitchFamily="18" charset="0"/>
                        </a:rPr>
                        <m:t>=2+</m:t>
                      </m:r>
                      <m:f>
                        <m:fPr>
                          <m:ctrlPr>
                            <a:rPr lang="en-US" i="1">
                              <a:latin typeface="Cambria Math" panose="02040503050406030204" pitchFamily="18" charset="0"/>
                            </a:rPr>
                          </m:ctrlPr>
                        </m:fPr>
                        <m:num>
                          <m:r>
                            <a:rPr lang="en-US" i="1">
                              <a:latin typeface="Cambria Math" panose="02040503050406030204" pitchFamily="18" charset="0"/>
                            </a:rPr>
                            <m:t>4</m:t>
                          </m:r>
                        </m:num>
                        <m:den>
                          <m:r>
                            <a:rPr lang="en-US" i="1">
                              <a:latin typeface="Cambria Math" panose="02040503050406030204" pitchFamily="18" charset="0"/>
                            </a:rPr>
                            <m:t>3</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8</m:t>
                          </m:r>
                        </m:num>
                        <m:den>
                          <m:r>
                            <a:rPr lang="en-US" i="1">
                              <a:latin typeface="Cambria Math" panose="02040503050406030204" pitchFamily="18" charset="0"/>
                            </a:rPr>
                            <m:t>6</m:t>
                          </m:r>
                        </m:den>
                      </m:f>
                      <m:r>
                        <a:rPr lang="en-US" i="1">
                          <a:latin typeface="Cambria Math" panose="02040503050406030204" pitchFamily="18" charset="0"/>
                        </a:rPr>
                        <m:t>=2+1.33+1.33=4.66</m:t>
                      </m:r>
                    </m:oMath>
                  </m:oMathPara>
                </a14:m>
                <a:endParaRPr lang="en-US"/>
              </a:p>
            </p:txBody>
          </p:sp>
        </mc:Choice>
        <mc:Fallback xmlns="">
          <p:sp>
            <p:nvSpPr>
              <p:cNvPr id="8" name="TextBox 7"/>
              <p:cNvSpPr txBox="1">
                <a:spLocks noRot="1" noChangeAspect="1" noMove="1" noResize="1" noEditPoints="1" noAdjustHandles="1" noChangeArrowheads="1" noChangeShapeType="1" noTextEdit="1"/>
              </p:cNvSpPr>
              <p:nvPr/>
            </p:nvSpPr>
            <p:spPr>
              <a:xfrm>
                <a:off x="3048000" y="2537512"/>
                <a:ext cx="6928948" cy="560410"/>
              </a:xfrm>
              <a:prstGeom prst="rect">
                <a:avLst/>
              </a:prstGeom>
              <a:blipFill>
                <a:blip r:embed="rId5"/>
                <a:stretch>
                  <a:fillRect/>
                </a:stretch>
              </a:blipFill>
            </p:spPr>
            <p:txBody>
              <a:bodyPr/>
              <a:lstStyle/>
              <a:p>
                <a:r>
                  <a:rPr lang="vi-VN">
                    <a:noFill/>
                  </a:rPr>
                  <a:t> </a:t>
                </a:r>
              </a:p>
            </p:txBody>
          </p:sp>
        </mc:Fallback>
      </mc:AlternateContent>
      <p:sp>
        <p:nvSpPr>
          <p:cNvPr id="12" name="Slide Number Placeholder 11">
            <a:extLst>
              <a:ext uri="{FF2B5EF4-FFF2-40B4-BE49-F238E27FC236}">
                <a16:creationId xmlns:a16="http://schemas.microsoft.com/office/drawing/2014/main" id="{7BFD3AC7-1C64-52B3-E4D5-8680942B3EB8}"/>
              </a:ext>
            </a:extLst>
          </p:cNvPr>
          <p:cNvSpPr>
            <a:spLocks noGrp="1"/>
          </p:cNvSpPr>
          <p:nvPr>
            <p:ph type="sldNum" sz="quarter" idx="12"/>
          </p:nvPr>
        </p:nvSpPr>
        <p:spPr/>
        <p:txBody>
          <a:bodyPr/>
          <a:lstStyle/>
          <a:p>
            <a:fld id="{48FE5571-560F-4DFC-BA97-61ACA5F7ADE1}" type="slidenum">
              <a:rPr lang="en-US" smtClean="0"/>
              <a:pPr/>
              <a:t>79</a:t>
            </a:fld>
            <a:endParaRPr lang="en-US"/>
          </a:p>
        </p:txBody>
      </p:sp>
    </p:spTree>
    <p:extLst>
      <p:ext uri="{BB962C8B-B14F-4D97-AF65-F5344CB8AC3E}">
        <p14:creationId xmlns:p14="http://schemas.microsoft.com/office/powerpoint/2010/main" val="359896375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581400" y="1524000"/>
          <a:ext cx="5334000" cy="4622800"/>
        </p:xfrm>
        <a:graphic>
          <a:graphicData uri="http://schemas.openxmlformats.org/drawingml/2006/table">
            <a:tbl>
              <a:tblPr firstRow="1" bandRow="1">
                <a:tableStyleId>{5940675A-B579-460E-94D1-54222C63F5DA}</a:tableStyleId>
              </a:tblPr>
              <a:tblGrid>
                <a:gridCol w="666750">
                  <a:extLst>
                    <a:ext uri="{9D8B030D-6E8A-4147-A177-3AD203B41FA5}">
                      <a16:colId xmlns:a16="http://schemas.microsoft.com/office/drawing/2014/main" val="20000"/>
                    </a:ext>
                  </a:extLst>
                </a:gridCol>
                <a:gridCol w="666750">
                  <a:extLst>
                    <a:ext uri="{9D8B030D-6E8A-4147-A177-3AD203B41FA5}">
                      <a16:colId xmlns:a16="http://schemas.microsoft.com/office/drawing/2014/main" val="20001"/>
                    </a:ext>
                  </a:extLst>
                </a:gridCol>
                <a:gridCol w="666750">
                  <a:extLst>
                    <a:ext uri="{9D8B030D-6E8A-4147-A177-3AD203B41FA5}">
                      <a16:colId xmlns:a16="http://schemas.microsoft.com/office/drawing/2014/main" val="20002"/>
                    </a:ext>
                  </a:extLst>
                </a:gridCol>
                <a:gridCol w="666750">
                  <a:extLst>
                    <a:ext uri="{9D8B030D-6E8A-4147-A177-3AD203B41FA5}">
                      <a16:colId xmlns:a16="http://schemas.microsoft.com/office/drawing/2014/main" val="20003"/>
                    </a:ext>
                  </a:extLst>
                </a:gridCol>
                <a:gridCol w="666750">
                  <a:extLst>
                    <a:ext uri="{9D8B030D-6E8A-4147-A177-3AD203B41FA5}">
                      <a16:colId xmlns:a16="http://schemas.microsoft.com/office/drawing/2014/main" val="20004"/>
                    </a:ext>
                  </a:extLst>
                </a:gridCol>
                <a:gridCol w="666750">
                  <a:extLst>
                    <a:ext uri="{9D8B030D-6E8A-4147-A177-3AD203B41FA5}">
                      <a16:colId xmlns:a16="http://schemas.microsoft.com/office/drawing/2014/main" val="20005"/>
                    </a:ext>
                  </a:extLst>
                </a:gridCol>
                <a:gridCol w="666750">
                  <a:extLst>
                    <a:ext uri="{9D8B030D-6E8A-4147-A177-3AD203B41FA5}">
                      <a16:colId xmlns:a16="http://schemas.microsoft.com/office/drawing/2014/main" val="20006"/>
                    </a:ext>
                  </a:extLst>
                </a:gridCol>
                <a:gridCol w="666750">
                  <a:extLst>
                    <a:ext uri="{9D8B030D-6E8A-4147-A177-3AD203B41FA5}">
                      <a16:colId xmlns:a16="http://schemas.microsoft.com/office/drawing/2014/main" val="20007"/>
                    </a:ext>
                  </a:extLst>
                </a:gridCol>
              </a:tblGrid>
              <a:tr h="577850">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extLst>
                  <a:ext uri="{0D108BD9-81ED-4DB2-BD59-A6C34878D82A}">
                    <a16:rowId xmlns:a16="http://schemas.microsoft.com/office/drawing/2014/main" val="10000"/>
                  </a:ext>
                </a:extLst>
              </a:tr>
              <a:tr h="577850">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endParaRPr lang="en-US">
                        <a:solidFill>
                          <a:srgbClr val="FF0000"/>
                        </a:solidFill>
                      </a:endParaRPr>
                    </a:p>
                  </a:txBody>
                  <a:tcPr/>
                </a:tc>
                <a:extLst>
                  <a:ext uri="{0D108BD9-81ED-4DB2-BD59-A6C34878D82A}">
                    <a16:rowId xmlns:a16="http://schemas.microsoft.com/office/drawing/2014/main" val="10001"/>
                  </a:ext>
                </a:extLst>
              </a:tr>
              <a:tr h="577850">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extLst>
                  <a:ext uri="{0D108BD9-81ED-4DB2-BD59-A6C34878D82A}">
                    <a16:rowId xmlns:a16="http://schemas.microsoft.com/office/drawing/2014/main" val="10002"/>
                  </a:ext>
                </a:extLst>
              </a:tr>
              <a:tr h="577850">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extLst>
                  <a:ext uri="{0D108BD9-81ED-4DB2-BD59-A6C34878D82A}">
                    <a16:rowId xmlns:a16="http://schemas.microsoft.com/office/drawing/2014/main" val="10003"/>
                  </a:ext>
                </a:extLst>
              </a:tr>
              <a:tr h="577850">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extLst>
                  <a:ext uri="{0D108BD9-81ED-4DB2-BD59-A6C34878D82A}">
                    <a16:rowId xmlns:a16="http://schemas.microsoft.com/office/drawing/2014/main" val="10004"/>
                  </a:ext>
                </a:extLst>
              </a:tr>
              <a:tr h="577850">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extLst>
                  <a:ext uri="{0D108BD9-81ED-4DB2-BD59-A6C34878D82A}">
                    <a16:rowId xmlns:a16="http://schemas.microsoft.com/office/drawing/2014/main" val="10005"/>
                  </a:ext>
                </a:extLst>
              </a:tr>
              <a:tr h="577850">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extLst>
                  <a:ext uri="{0D108BD9-81ED-4DB2-BD59-A6C34878D82A}">
                    <a16:rowId xmlns:a16="http://schemas.microsoft.com/office/drawing/2014/main" val="10006"/>
                  </a:ext>
                </a:extLst>
              </a:tr>
              <a:tr h="577850">
                <a:tc>
                  <a:txBody>
                    <a:bodyPr/>
                    <a:lstStyle/>
                    <a:p>
                      <a:r>
                        <a:rPr lang="en-US">
                          <a:solidFill>
                            <a:srgbClr val="FF0000"/>
                          </a:solidFill>
                        </a:rPr>
                        <a:t>*</a:t>
                      </a: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extLst>
                  <a:ext uri="{0D108BD9-81ED-4DB2-BD59-A6C34878D82A}">
                    <a16:rowId xmlns:a16="http://schemas.microsoft.com/office/drawing/2014/main" val="10007"/>
                  </a:ext>
                </a:extLst>
              </a:tr>
            </a:tbl>
          </a:graphicData>
        </a:graphic>
      </p:graphicFrame>
      <p:sp>
        <p:nvSpPr>
          <p:cNvPr id="3" name="Right Arrow 2"/>
          <p:cNvSpPr/>
          <p:nvPr/>
        </p:nvSpPr>
        <p:spPr>
          <a:xfrm>
            <a:off x="3505200" y="381000"/>
            <a:ext cx="5334000" cy="609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own Arrow 3"/>
          <p:cNvSpPr/>
          <p:nvPr/>
        </p:nvSpPr>
        <p:spPr>
          <a:xfrm>
            <a:off x="1676400" y="1447800"/>
            <a:ext cx="762000" cy="4800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a:off x="3750620" y="838201"/>
            <a:ext cx="0" cy="245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505200" y="990600"/>
            <a:ext cx="490840" cy="369332"/>
          </a:xfrm>
          <a:prstGeom prst="rect">
            <a:avLst/>
          </a:prstGeom>
          <a:noFill/>
        </p:spPr>
        <p:txBody>
          <a:bodyPr wrap="none" rtlCol="0">
            <a:spAutoFit/>
          </a:bodyPr>
          <a:lstStyle/>
          <a:p>
            <a:r>
              <a:rPr lang="en-US"/>
              <a:t>J=0</a:t>
            </a:r>
          </a:p>
        </p:txBody>
      </p:sp>
      <p:cxnSp>
        <p:nvCxnSpPr>
          <p:cNvPr id="10" name="Straight Arrow Connector 9"/>
          <p:cNvCxnSpPr/>
          <p:nvPr/>
        </p:nvCxnSpPr>
        <p:spPr>
          <a:xfrm>
            <a:off x="4529858" y="838201"/>
            <a:ext cx="0" cy="245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284438" y="990600"/>
            <a:ext cx="490840" cy="369332"/>
          </a:xfrm>
          <a:prstGeom prst="rect">
            <a:avLst/>
          </a:prstGeom>
          <a:noFill/>
        </p:spPr>
        <p:txBody>
          <a:bodyPr wrap="none" rtlCol="0">
            <a:spAutoFit/>
          </a:bodyPr>
          <a:lstStyle/>
          <a:p>
            <a:r>
              <a:rPr lang="en-US"/>
              <a:t>J=1</a:t>
            </a:r>
          </a:p>
        </p:txBody>
      </p:sp>
      <p:cxnSp>
        <p:nvCxnSpPr>
          <p:cNvPr id="12" name="Straight Arrow Connector 11"/>
          <p:cNvCxnSpPr/>
          <p:nvPr/>
        </p:nvCxnSpPr>
        <p:spPr>
          <a:xfrm>
            <a:off x="5296764" y="838201"/>
            <a:ext cx="0" cy="245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051344" y="990600"/>
            <a:ext cx="490840" cy="369332"/>
          </a:xfrm>
          <a:prstGeom prst="rect">
            <a:avLst/>
          </a:prstGeom>
          <a:noFill/>
        </p:spPr>
        <p:txBody>
          <a:bodyPr wrap="none" rtlCol="0">
            <a:spAutoFit/>
          </a:bodyPr>
          <a:lstStyle/>
          <a:p>
            <a:r>
              <a:rPr lang="en-US"/>
              <a:t>J=2</a:t>
            </a:r>
          </a:p>
        </p:txBody>
      </p:sp>
      <p:cxnSp>
        <p:nvCxnSpPr>
          <p:cNvPr id="14" name="Straight Arrow Connector 13"/>
          <p:cNvCxnSpPr/>
          <p:nvPr/>
        </p:nvCxnSpPr>
        <p:spPr>
          <a:xfrm>
            <a:off x="5932947" y="817024"/>
            <a:ext cx="0" cy="245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687527" y="969423"/>
            <a:ext cx="490840" cy="369332"/>
          </a:xfrm>
          <a:prstGeom prst="rect">
            <a:avLst/>
          </a:prstGeom>
          <a:noFill/>
        </p:spPr>
        <p:txBody>
          <a:bodyPr wrap="none" rtlCol="0">
            <a:spAutoFit/>
          </a:bodyPr>
          <a:lstStyle/>
          <a:p>
            <a:r>
              <a:rPr lang="en-US"/>
              <a:t>J=3</a:t>
            </a:r>
          </a:p>
        </p:txBody>
      </p:sp>
      <p:cxnSp>
        <p:nvCxnSpPr>
          <p:cNvPr id="16" name="Straight Arrow Connector 15"/>
          <p:cNvCxnSpPr/>
          <p:nvPr/>
        </p:nvCxnSpPr>
        <p:spPr>
          <a:xfrm>
            <a:off x="6569129" y="844320"/>
            <a:ext cx="0" cy="245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323709" y="996719"/>
            <a:ext cx="490840" cy="369332"/>
          </a:xfrm>
          <a:prstGeom prst="rect">
            <a:avLst/>
          </a:prstGeom>
          <a:noFill/>
        </p:spPr>
        <p:txBody>
          <a:bodyPr wrap="none" rtlCol="0">
            <a:spAutoFit/>
          </a:bodyPr>
          <a:lstStyle/>
          <a:p>
            <a:r>
              <a:rPr lang="en-US"/>
              <a:t>J=4</a:t>
            </a:r>
          </a:p>
        </p:txBody>
      </p:sp>
      <p:cxnSp>
        <p:nvCxnSpPr>
          <p:cNvPr id="18" name="Straight Arrow Connector 17"/>
          <p:cNvCxnSpPr/>
          <p:nvPr/>
        </p:nvCxnSpPr>
        <p:spPr>
          <a:xfrm>
            <a:off x="7215710" y="817024"/>
            <a:ext cx="0" cy="245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6970290" y="969423"/>
            <a:ext cx="490840" cy="369332"/>
          </a:xfrm>
          <a:prstGeom prst="rect">
            <a:avLst/>
          </a:prstGeom>
          <a:noFill/>
        </p:spPr>
        <p:txBody>
          <a:bodyPr wrap="none" rtlCol="0">
            <a:spAutoFit/>
          </a:bodyPr>
          <a:lstStyle/>
          <a:p>
            <a:r>
              <a:rPr lang="en-US"/>
              <a:t>J=5</a:t>
            </a:r>
          </a:p>
        </p:txBody>
      </p:sp>
      <p:cxnSp>
        <p:nvCxnSpPr>
          <p:cNvPr id="20" name="Straight Arrow Connector 19"/>
          <p:cNvCxnSpPr/>
          <p:nvPr/>
        </p:nvCxnSpPr>
        <p:spPr>
          <a:xfrm>
            <a:off x="7969931" y="745510"/>
            <a:ext cx="0" cy="245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7724511" y="897909"/>
            <a:ext cx="490840" cy="369332"/>
          </a:xfrm>
          <a:prstGeom prst="rect">
            <a:avLst/>
          </a:prstGeom>
          <a:noFill/>
        </p:spPr>
        <p:txBody>
          <a:bodyPr wrap="none" rtlCol="0">
            <a:spAutoFit/>
          </a:bodyPr>
          <a:lstStyle/>
          <a:p>
            <a:r>
              <a:rPr lang="en-US"/>
              <a:t>J=6</a:t>
            </a:r>
          </a:p>
        </p:txBody>
      </p:sp>
      <p:cxnSp>
        <p:nvCxnSpPr>
          <p:cNvPr id="22" name="Straight Arrow Connector 21"/>
          <p:cNvCxnSpPr/>
          <p:nvPr/>
        </p:nvCxnSpPr>
        <p:spPr>
          <a:xfrm>
            <a:off x="8566129" y="831389"/>
            <a:ext cx="0" cy="245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8320709" y="983788"/>
            <a:ext cx="490840" cy="369332"/>
          </a:xfrm>
          <a:prstGeom prst="rect">
            <a:avLst/>
          </a:prstGeom>
          <a:noFill/>
        </p:spPr>
        <p:txBody>
          <a:bodyPr wrap="none" rtlCol="0">
            <a:spAutoFit/>
          </a:bodyPr>
          <a:lstStyle/>
          <a:p>
            <a:r>
              <a:rPr lang="en-US"/>
              <a:t>J=7</a:t>
            </a:r>
          </a:p>
        </p:txBody>
      </p:sp>
      <p:cxnSp>
        <p:nvCxnSpPr>
          <p:cNvPr id="25" name="Straight Arrow Connector 24"/>
          <p:cNvCxnSpPr/>
          <p:nvPr/>
        </p:nvCxnSpPr>
        <p:spPr>
          <a:xfrm>
            <a:off x="2209800" y="1828800"/>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2819400" y="1644134"/>
            <a:ext cx="470000" cy="369332"/>
          </a:xfrm>
          <a:prstGeom prst="rect">
            <a:avLst/>
          </a:prstGeom>
          <a:noFill/>
        </p:spPr>
        <p:txBody>
          <a:bodyPr wrap="none" rtlCol="0">
            <a:spAutoFit/>
          </a:bodyPr>
          <a:lstStyle/>
          <a:p>
            <a:r>
              <a:rPr lang="en-US"/>
              <a:t>i=0</a:t>
            </a:r>
          </a:p>
        </p:txBody>
      </p:sp>
      <p:sp>
        <p:nvSpPr>
          <p:cNvPr id="27" name="TextBox 26"/>
          <p:cNvSpPr txBox="1"/>
          <p:nvPr/>
        </p:nvSpPr>
        <p:spPr>
          <a:xfrm>
            <a:off x="2819400" y="2181072"/>
            <a:ext cx="470000" cy="369332"/>
          </a:xfrm>
          <a:prstGeom prst="rect">
            <a:avLst/>
          </a:prstGeom>
          <a:noFill/>
        </p:spPr>
        <p:txBody>
          <a:bodyPr wrap="none" rtlCol="0">
            <a:spAutoFit/>
          </a:bodyPr>
          <a:lstStyle/>
          <a:p>
            <a:r>
              <a:rPr lang="en-US"/>
              <a:t>i=1</a:t>
            </a:r>
          </a:p>
        </p:txBody>
      </p:sp>
      <p:sp>
        <p:nvSpPr>
          <p:cNvPr id="28" name="TextBox 27"/>
          <p:cNvSpPr txBox="1"/>
          <p:nvPr/>
        </p:nvSpPr>
        <p:spPr>
          <a:xfrm>
            <a:off x="2819400" y="2718010"/>
            <a:ext cx="470000" cy="369332"/>
          </a:xfrm>
          <a:prstGeom prst="rect">
            <a:avLst/>
          </a:prstGeom>
          <a:noFill/>
        </p:spPr>
        <p:txBody>
          <a:bodyPr wrap="none" rtlCol="0">
            <a:spAutoFit/>
          </a:bodyPr>
          <a:lstStyle/>
          <a:p>
            <a:r>
              <a:rPr lang="en-US"/>
              <a:t>i=2</a:t>
            </a:r>
          </a:p>
        </p:txBody>
      </p:sp>
      <p:sp>
        <p:nvSpPr>
          <p:cNvPr id="29" name="TextBox 28"/>
          <p:cNvSpPr txBox="1"/>
          <p:nvPr/>
        </p:nvSpPr>
        <p:spPr>
          <a:xfrm>
            <a:off x="2819400" y="3257896"/>
            <a:ext cx="470000" cy="369332"/>
          </a:xfrm>
          <a:prstGeom prst="rect">
            <a:avLst/>
          </a:prstGeom>
          <a:noFill/>
        </p:spPr>
        <p:txBody>
          <a:bodyPr wrap="none" rtlCol="0">
            <a:spAutoFit/>
          </a:bodyPr>
          <a:lstStyle/>
          <a:p>
            <a:r>
              <a:rPr lang="en-US"/>
              <a:t>i=3</a:t>
            </a:r>
          </a:p>
        </p:txBody>
      </p:sp>
      <p:sp>
        <p:nvSpPr>
          <p:cNvPr id="31" name="TextBox 30"/>
          <p:cNvSpPr txBox="1"/>
          <p:nvPr/>
        </p:nvSpPr>
        <p:spPr>
          <a:xfrm>
            <a:off x="2819400" y="3899615"/>
            <a:ext cx="470000" cy="369332"/>
          </a:xfrm>
          <a:prstGeom prst="rect">
            <a:avLst/>
          </a:prstGeom>
          <a:noFill/>
        </p:spPr>
        <p:txBody>
          <a:bodyPr wrap="none" rtlCol="0">
            <a:spAutoFit/>
          </a:bodyPr>
          <a:lstStyle/>
          <a:p>
            <a:r>
              <a:rPr lang="en-US"/>
              <a:t>i=4</a:t>
            </a:r>
          </a:p>
        </p:txBody>
      </p:sp>
      <p:sp>
        <p:nvSpPr>
          <p:cNvPr id="32" name="TextBox 31"/>
          <p:cNvSpPr txBox="1"/>
          <p:nvPr/>
        </p:nvSpPr>
        <p:spPr>
          <a:xfrm>
            <a:off x="2819400" y="4538532"/>
            <a:ext cx="470000" cy="369332"/>
          </a:xfrm>
          <a:prstGeom prst="rect">
            <a:avLst/>
          </a:prstGeom>
          <a:noFill/>
        </p:spPr>
        <p:txBody>
          <a:bodyPr wrap="none" rtlCol="0">
            <a:spAutoFit/>
          </a:bodyPr>
          <a:lstStyle/>
          <a:p>
            <a:r>
              <a:rPr lang="en-US"/>
              <a:t>i=5</a:t>
            </a:r>
          </a:p>
        </p:txBody>
      </p:sp>
      <p:sp>
        <p:nvSpPr>
          <p:cNvPr id="33" name="TextBox 32"/>
          <p:cNvSpPr txBox="1"/>
          <p:nvPr/>
        </p:nvSpPr>
        <p:spPr>
          <a:xfrm>
            <a:off x="2819400" y="5177449"/>
            <a:ext cx="470000" cy="369332"/>
          </a:xfrm>
          <a:prstGeom prst="rect">
            <a:avLst/>
          </a:prstGeom>
          <a:noFill/>
        </p:spPr>
        <p:txBody>
          <a:bodyPr wrap="none" rtlCol="0">
            <a:spAutoFit/>
          </a:bodyPr>
          <a:lstStyle/>
          <a:p>
            <a:r>
              <a:rPr lang="en-US"/>
              <a:t>i=6</a:t>
            </a:r>
          </a:p>
        </p:txBody>
      </p:sp>
      <p:sp>
        <p:nvSpPr>
          <p:cNvPr id="34" name="TextBox 33"/>
          <p:cNvSpPr txBox="1"/>
          <p:nvPr/>
        </p:nvSpPr>
        <p:spPr>
          <a:xfrm>
            <a:off x="2819400" y="5816366"/>
            <a:ext cx="470000" cy="369332"/>
          </a:xfrm>
          <a:prstGeom prst="rect">
            <a:avLst/>
          </a:prstGeom>
          <a:noFill/>
        </p:spPr>
        <p:txBody>
          <a:bodyPr wrap="none" rtlCol="0">
            <a:spAutoFit/>
          </a:bodyPr>
          <a:lstStyle/>
          <a:p>
            <a:r>
              <a:rPr lang="en-US"/>
              <a:t>i=7</a:t>
            </a:r>
          </a:p>
        </p:txBody>
      </p:sp>
      <p:sp>
        <p:nvSpPr>
          <p:cNvPr id="5" name="Slide Number Placeholder 4">
            <a:extLst>
              <a:ext uri="{FF2B5EF4-FFF2-40B4-BE49-F238E27FC236}">
                <a16:creationId xmlns:a16="http://schemas.microsoft.com/office/drawing/2014/main" id="{9B3388B0-FFCD-E70F-9E2F-3EA1C46952D4}"/>
              </a:ext>
            </a:extLst>
          </p:cNvPr>
          <p:cNvSpPr>
            <a:spLocks noGrp="1"/>
          </p:cNvSpPr>
          <p:nvPr>
            <p:ph type="sldNum" sz="quarter" idx="12"/>
          </p:nvPr>
        </p:nvSpPr>
        <p:spPr/>
        <p:txBody>
          <a:bodyPr/>
          <a:lstStyle/>
          <a:p>
            <a:fld id="{48FE5571-560F-4DFC-BA97-61ACA5F7ADE1}" type="slidenum">
              <a:rPr lang="en-US" smtClean="0"/>
              <a:pPr/>
              <a:t>80</a:t>
            </a:fld>
            <a:endParaRPr lang="en-US"/>
          </a:p>
        </p:txBody>
      </p:sp>
    </p:spTree>
    <p:extLst>
      <p:ext uri="{BB962C8B-B14F-4D97-AF65-F5344CB8AC3E}">
        <p14:creationId xmlns:p14="http://schemas.microsoft.com/office/powerpoint/2010/main" val="41476118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581400" y="1524000"/>
          <a:ext cx="5334000" cy="4622800"/>
        </p:xfrm>
        <a:graphic>
          <a:graphicData uri="http://schemas.openxmlformats.org/drawingml/2006/table">
            <a:tbl>
              <a:tblPr firstRow="1" bandRow="1">
                <a:tableStyleId>{5940675A-B579-460E-94D1-54222C63F5DA}</a:tableStyleId>
              </a:tblPr>
              <a:tblGrid>
                <a:gridCol w="666750">
                  <a:extLst>
                    <a:ext uri="{9D8B030D-6E8A-4147-A177-3AD203B41FA5}">
                      <a16:colId xmlns:a16="http://schemas.microsoft.com/office/drawing/2014/main" val="20000"/>
                    </a:ext>
                  </a:extLst>
                </a:gridCol>
                <a:gridCol w="666750">
                  <a:extLst>
                    <a:ext uri="{9D8B030D-6E8A-4147-A177-3AD203B41FA5}">
                      <a16:colId xmlns:a16="http://schemas.microsoft.com/office/drawing/2014/main" val="20001"/>
                    </a:ext>
                  </a:extLst>
                </a:gridCol>
                <a:gridCol w="666750">
                  <a:extLst>
                    <a:ext uri="{9D8B030D-6E8A-4147-A177-3AD203B41FA5}">
                      <a16:colId xmlns:a16="http://schemas.microsoft.com/office/drawing/2014/main" val="20002"/>
                    </a:ext>
                  </a:extLst>
                </a:gridCol>
                <a:gridCol w="666750">
                  <a:extLst>
                    <a:ext uri="{9D8B030D-6E8A-4147-A177-3AD203B41FA5}">
                      <a16:colId xmlns:a16="http://schemas.microsoft.com/office/drawing/2014/main" val="20003"/>
                    </a:ext>
                  </a:extLst>
                </a:gridCol>
                <a:gridCol w="666750">
                  <a:extLst>
                    <a:ext uri="{9D8B030D-6E8A-4147-A177-3AD203B41FA5}">
                      <a16:colId xmlns:a16="http://schemas.microsoft.com/office/drawing/2014/main" val="20004"/>
                    </a:ext>
                  </a:extLst>
                </a:gridCol>
                <a:gridCol w="666750">
                  <a:extLst>
                    <a:ext uri="{9D8B030D-6E8A-4147-A177-3AD203B41FA5}">
                      <a16:colId xmlns:a16="http://schemas.microsoft.com/office/drawing/2014/main" val="20005"/>
                    </a:ext>
                  </a:extLst>
                </a:gridCol>
                <a:gridCol w="666750">
                  <a:extLst>
                    <a:ext uri="{9D8B030D-6E8A-4147-A177-3AD203B41FA5}">
                      <a16:colId xmlns:a16="http://schemas.microsoft.com/office/drawing/2014/main" val="20006"/>
                    </a:ext>
                  </a:extLst>
                </a:gridCol>
                <a:gridCol w="666750">
                  <a:extLst>
                    <a:ext uri="{9D8B030D-6E8A-4147-A177-3AD203B41FA5}">
                      <a16:colId xmlns:a16="http://schemas.microsoft.com/office/drawing/2014/main" val="20007"/>
                    </a:ext>
                  </a:extLst>
                </a:gridCol>
              </a:tblGrid>
              <a:tr h="577850">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extLst>
                  <a:ext uri="{0D108BD9-81ED-4DB2-BD59-A6C34878D82A}">
                    <a16:rowId xmlns:a16="http://schemas.microsoft.com/office/drawing/2014/main" val="10000"/>
                  </a:ext>
                </a:extLst>
              </a:tr>
              <a:tr h="577850">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solidFill>
                            <a:srgbClr val="FF0000"/>
                          </a:solidFill>
                        </a:rPr>
                        <a:t>*</a:t>
                      </a: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r>
                        <a:rPr lang="en-US">
                          <a:solidFill>
                            <a:srgbClr val="FF0000"/>
                          </a:solidFill>
                        </a:rPr>
                        <a:t>*</a:t>
                      </a:r>
                    </a:p>
                  </a:txBody>
                  <a:tcPr/>
                </a:tc>
                <a:tc>
                  <a:txBody>
                    <a:bodyPr/>
                    <a:lstStyle/>
                    <a:p>
                      <a:endParaRPr lang="en-US">
                        <a:solidFill>
                          <a:srgbClr val="FF0000"/>
                        </a:solidFill>
                      </a:endParaRPr>
                    </a:p>
                  </a:txBody>
                  <a:tcPr/>
                </a:tc>
                <a:extLst>
                  <a:ext uri="{0D108BD9-81ED-4DB2-BD59-A6C34878D82A}">
                    <a16:rowId xmlns:a16="http://schemas.microsoft.com/office/drawing/2014/main" val="10001"/>
                  </a:ext>
                </a:extLst>
              </a:tr>
              <a:tr h="577850">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r>
                        <a:rPr lang="en-US">
                          <a:solidFill>
                            <a:srgbClr val="FF0000"/>
                          </a:solidFill>
                        </a:rPr>
                        <a:t>*</a:t>
                      </a:r>
                    </a:p>
                  </a:txBody>
                  <a:tcPr/>
                </a:tc>
                <a:tc>
                  <a:txBody>
                    <a:bodyPr/>
                    <a:lstStyle/>
                    <a:p>
                      <a:endParaRPr lang="en-US">
                        <a:solidFill>
                          <a:srgbClr val="FF0000"/>
                        </a:solidFill>
                      </a:endParaRPr>
                    </a:p>
                  </a:txBody>
                  <a:tcPr/>
                </a:tc>
                <a:tc>
                  <a:txBody>
                    <a:bodyPr/>
                    <a:lstStyle/>
                    <a:p>
                      <a:r>
                        <a:rPr lang="en-US">
                          <a:solidFill>
                            <a:srgbClr val="FF0000"/>
                          </a:solidFill>
                        </a:rPr>
                        <a:t>*</a:t>
                      </a: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extLst>
                  <a:ext uri="{0D108BD9-81ED-4DB2-BD59-A6C34878D82A}">
                    <a16:rowId xmlns:a16="http://schemas.microsoft.com/office/drawing/2014/main" val="10002"/>
                  </a:ext>
                </a:extLst>
              </a:tr>
              <a:tr h="577850">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extLst>
                  <a:ext uri="{0D108BD9-81ED-4DB2-BD59-A6C34878D82A}">
                    <a16:rowId xmlns:a16="http://schemas.microsoft.com/office/drawing/2014/main" val="10003"/>
                  </a:ext>
                </a:extLst>
              </a:tr>
              <a:tr h="577850">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r>
                        <a:rPr lang="en-US">
                          <a:solidFill>
                            <a:srgbClr val="FF0000"/>
                          </a:solidFill>
                        </a:rPr>
                        <a:t>*</a:t>
                      </a: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extLst>
                  <a:ext uri="{0D108BD9-81ED-4DB2-BD59-A6C34878D82A}">
                    <a16:rowId xmlns:a16="http://schemas.microsoft.com/office/drawing/2014/main" val="10004"/>
                  </a:ext>
                </a:extLst>
              </a:tr>
              <a:tr h="577850">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extLst>
                  <a:ext uri="{0D108BD9-81ED-4DB2-BD59-A6C34878D82A}">
                    <a16:rowId xmlns:a16="http://schemas.microsoft.com/office/drawing/2014/main" val="10005"/>
                  </a:ext>
                </a:extLst>
              </a:tr>
              <a:tr h="577850">
                <a:tc>
                  <a:txBody>
                    <a:bodyPr/>
                    <a:lstStyle/>
                    <a:p>
                      <a:endParaRPr lang="en-US">
                        <a:solidFill>
                          <a:srgbClr val="FF0000"/>
                        </a:solidFill>
                      </a:endParaRPr>
                    </a:p>
                  </a:txBody>
                  <a:tcPr/>
                </a:tc>
                <a:tc>
                  <a:txBody>
                    <a:bodyPr/>
                    <a:lstStyle/>
                    <a:p>
                      <a:r>
                        <a:rPr lang="en-US">
                          <a:solidFill>
                            <a:srgbClr val="FF0000"/>
                          </a:solidFill>
                        </a:rPr>
                        <a:t>*</a:t>
                      </a:r>
                    </a:p>
                  </a:txBody>
                  <a:tcPr/>
                </a:tc>
                <a:tc>
                  <a:txBody>
                    <a:bodyPr/>
                    <a:lstStyle/>
                    <a:p>
                      <a:endParaRPr lang="en-US">
                        <a:solidFill>
                          <a:srgbClr val="FF0000"/>
                        </a:solidFill>
                      </a:endParaRPr>
                    </a:p>
                  </a:txBody>
                  <a:tcPr/>
                </a:tc>
                <a:tc>
                  <a:txBody>
                    <a:bodyPr/>
                    <a:lstStyle/>
                    <a:p>
                      <a:r>
                        <a:rPr lang="en-US">
                          <a:solidFill>
                            <a:srgbClr val="FF0000"/>
                          </a:solidFill>
                        </a:rPr>
                        <a:t>*</a:t>
                      </a: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extLst>
                  <a:ext uri="{0D108BD9-81ED-4DB2-BD59-A6C34878D82A}">
                    <a16:rowId xmlns:a16="http://schemas.microsoft.com/office/drawing/2014/main" val="10006"/>
                  </a:ext>
                </a:extLst>
              </a:tr>
              <a:tr h="577850">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r>
                        <a:rPr lang="en-US">
                          <a:solidFill>
                            <a:srgbClr val="FF0000"/>
                          </a:solidFill>
                        </a:rPr>
                        <a:t>*</a:t>
                      </a: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tc>
                  <a:txBody>
                    <a:bodyPr/>
                    <a:lstStyle/>
                    <a:p>
                      <a:endParaRPr lang="en-US">
                        <a:solidFill>
                          <a:srgbClr val="FF0000"/>
                        </a:solidFill>
                      </a:endParaRPr>
                    </a:p>
                  </a:txBody>
                  <a:tcPr/>
                </a:tc>
                <a:extLst>
                  <a:ext uri="{0D108BD9-81ED-4DB2-BD59-A6C34878D82A}">
                    <a16:rowId xmlns:a16="http://schemas.microsoft.com/office/drawing/2014/main" val="10007"/>
                  </a:ext>
                </a:extLst>
              </a:tr>
            </a:tbl>
          </a:graphicData>
        </a:graphic>
      </p:graphicFrame>
      <p:sp>
        <p:nvSpPr>
          <p:cNvPr id="3" name="Right Arrow 2"/>
          <p:cNvSpPr/>
          <p:nvPr/>
        </p:nvSpPr>
        <p:spPr>
          <a:xfrm>
            <a:off x="3505200" y="381000"/>
            <a:ext cx="5334000" cy="609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own Arrow 3"/>
          <p:cNvSpPr/>
          <p:nvPr/>
        </p:nvSpPr>
        <p:spPr>
          <a:xfrm>
            <a:off x="1676400" y="1447800"/>
            <a:ext cx="762000" cy="4800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a:off x="3750620" y="838201"/>
            <a:ext cx="0" cy="245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505200" y="990600"/>
            <a:ext cx="490840" cy="369332"/>
          </a:xfrm>
          <a:prstGeom prst="rect">
            <a:avLst/>
          </a:prstGeom>
          <a:noFill/>
        </p:spPr>
        <p:txBody>
          <a:bodyPr wrap="none" rtlCol="0">
            <a:spAutoFit/>
          </a:bodyPr>
          <a:lstStyle/>
          <a:p>
            <a:r>
              <a:rPr lang="en-US"/>
              <a:t>J=0</a:t>
            </a:r>
          </a:p>
        </p:txBody>
      </p:sp>
      <p:cxnSp>
        <p:nvCxnSpPr>
          <p:cNvPr id="10" name="Straight Arrow Connector 9"/>
          <p:cNvCxnSpPr/>
          <p:nvPr/>
        </p:nvCxnSpPr>
        <p:spPr>
          <a:xfrm>
            <a:off x="4529858" y="838201"/>
            <a:ext cx="0" cy="245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284438" y="990600"/>
            <a:ext cx="490840" cy="369332"/>
          </a:xfrm>
          <a:prstGeom prst="rect">
            <a:avLst/>
          </a:prstGeom>
          <a:noFill/>
        </p:spPr>
        <p:txBody>
          <a:bodyPr wrap="none" rtlCol="0">
            <a:spAutoFit/>
          </a:bodyPr>
          <a:lstStyle/>
          <a:p>
            <a:r>
              <a:rPr lang="en-US"/>
              <a:t>J=1</a:t>
            </a:r>
          </a:p>
        </p:txBody>
      </p:sp>
      <p:cxnSp>
        <p:nvCxnSpPr>
          <p:cNvPr id="12" name="Straight Arrow Connector 11"/>
          <p:cNvCxnSpPr/>
          <p:nvPr/>
        </p:nvCxnSpPr>
        <p:spPr>
          <a:xfrm>
            <a:off x="5296764" y="838201"/>
            <a:ext cx="0" cy="245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051344" y="990600"/>
            <a:ext cx="490840" cy="369332"/>
          </a:xfrm>
          <a:prstGeom prst="rect">
            <a:avLst/>
          </a:prstGeom>
          <a:noFill/>
        </p:spPr>
        <p:txBody>
          <a:bodyPr wrap="none" rtlCol="0">
            <a:spAutoFit/>
          </a:bodyPr>
          <a:lstStyle/>
          <a:p>
            <a:r>
              <a:rPr lang="en-US"/>
              <a:t>J=2</a:t>
            </a:r>
          </a:p>
        </p:txBody>
      </p:sp>
      <p:cxnSp>
        <p:nvCxnSpPr>
          <p:cNvPr id="14" name="Straight Arrow Connector 13"/>
          <p:cNvCxnSpPr/>
          <p:nvPr/>
        </p:nvCxnSpPr>
        <p:spPr>
          <a:xfrm>
            <a:off x="5932947" y="817024"/>
            <a:ext cx="0" cy="245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687527" y="969423"/>
            <a:ext cx="490840" cy="369332"/>
          </a:xfrm>
          <a:prstGeom prst="rect">
            <a:avLst/>
          </a:prstGeom>
          <a:noFill/>
        </p:spPr>
        <p:txBody>
          <a:bodyPr wrap="none" rtlCol="0">
            <a:spAutoFit/>
          </a:bodyPr>
          <a:lstStyle/>
          <a:p>
            <a:r>
              <a:rPr lang="en-US"/>
              <a:t>J=3</a:t>
            </a:r>
          </a:p>
        </p:txBody>
      </p:sp>
      <p:cxnSp>
        <p:nvCxnSpPr>
          <p:cNvPr id="16" name="Straight Arrow Connector 15"/>
          <p:cNvCxnSpPr/>
          <p:nvPr/>
        </p:nvCxnSpPr>
        <p:spPr>
          <a:xfrm>
            <a:off x="6569129" y="844320"/>
            <a:ext cx="0" cy="245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323709" y="996719"/>
            <a:ext cx="490840" cy="369332"/>
          </a:xfrm>
          <a:prstGeom prst="rect">
            <a:avLst/>
          </a:prstGeom>
          <a:noFill/>
        </p:spPr>
        <p:txBody>
          <a:bodyPr wrap="none" rtlCol="0">
            <a:spAutoFit/>
          </a:bodyPr>
          <a:lstStyle/>
          <a:p>
            <a:r>
              <a:rPr lang="en-US"/>
              <a:t>J=4</a:t>
            </a:r>
          </a:p>
        </p:txBody>
      </p:sp>
      <p:cxnSp>
        <p:nvCxnSpPr>
          <p:cNvPr id="18" name="Straight Arrow Connector 17"/>
          <p:cNvCxnSpPr/>
          <p:nvPr/>
        </p:nvCxnSpPr>
        <p:spPr>
          <a:xfrm>
            <a:off x="7215710" y="817024"/>
            <a:ext cx="0" cy="245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6970290" y="969423"/>
            <a:ext cx="490840" cy="369332"/>
          </a:xfrm>
          <a:prstGeom prst="rect">
            <a:avLst/>
          </a:prstGeom>
          <a:noFill/>
        </p:spPr>
        <p:txBody>
          <a:bodyPr wrap="none" rtlCol="0">
            <a:spAutoFit/>
          </a:bodyPr>
          <a:lstStyle/>
          <a:p>
            <a:r>
              <a:rPr lang="en-US"/>
              <a:t>J=5</a:t>
            </a:r>
          </a:p>
        </p:txBody>
      </p:sp>
      <p:cxnSp>
        <p:nvCxnSpPr>
          <p:cNvPr id="20" name="Straight Arrow Connector 19"/>
          <p:cNvCxnSpPr/>
          <p:nvPr/>
        </p:nvCxnSpPr>
        <p:spPr>
          <a:xfrm>
            <a:off x="7969931" y="745510"/>
            <a:ext cx="0" cy="245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7724511" y="897909"/>
            <a:ext cx="490840" cy="369332"/>
          </a:xfrm>
          <a:prstGeom prst="rect">
            <a:avLst/>
          </a:prstGeom>
          <a:noFill/>
        </p:spPr>
        <p:txBody>
          <a:bodyPr wrap="none" rtlCol="0">
            <a:spAutoFit/>
          </a:bodyPr>
          <a:lstStyle/>
          <a:p>
            <a:r>
              <a:rPr lang="en-US"/>
              <a:t>J=6</a:t>
            </a:r>
          </a:p>
        </p:txBody>
      </p:sp>
      <p:cxnSp>
        <p:nvCxnSpPr>
          <p:cNvPr id="22" name="Straight Arrow Connector 21"/>
          <p:cNvCxnSpPr/>
          <p:nvPr/>
        </p:nvCxnSpPr>
        <p:spPr>
          <a:xfrm>
            <a:off x="8566129" y="831389"/>
            <a:ext cx="0" cy="245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8320709" y="983788"/>
            <a:ext cx="490840" cy="369332"/>
          </a:xfrm>
          <a:prstGeom prst="rect">
            <a:avLst/>
          </a:prstGeom>
          <a:noFill/>
        </p:spPr>
        <p:txBody>
          <a:bodyPr wrap="none" rtlCol="0">
            <a:spAutoFit/>
          </a:bodyPr>
          <a:lstStyle/>
          <a:p>
            <a:r>
              <a:rPr lang="en-US"/>
              <a:t>J=7</a:t>
            </a:r>
          </a:p>
        </p:txBody>
      </p:sp>
      <p:cxnSp>
        <p:nvCxnSpPr>
          <p:cNvPr id="25" name="Straight Arrow Connector 24"/>
          <p:cNvCxnSpPr/>
          <p:nvPr/>
        </p:nvCxnSpPr>
        <p:spPr>
          <a:xfrm>
            <a:off x="2209800" y="1828800"/>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2819400" y="1644134"/>
            <a:ext cx="470000" cy="369332"/>
          </a:xfrm>
          <a:prstGeom prst="rect">
            <a:avLst/>
          </a:prstGeom>
          <a:noFill/>
        </p:spPr>
        <p:txBody>
          <a:bodyPr wrap="none" rtlCol="0">
            <a:spAutoFit/>
          </a:bodyPr>
          <a:lstStyle/>
          <a:p>
            <a:r>
              <a:rPr lang="en-US"/>
              <a:t>i=0</a:t>
            </a:r>
          </a:p>
        </p:txBody>
      </p:sp>
      <p:sp>
        <p:nvSpPr>
          <p:cNvPr id="27" name="TextBox 26"/>
          <p:cNvSpPr txBox="1"/>
          <p:nvPr/>
        </p:nvSpPr>
        <p:spPr>
          <a:xfrm>
            <a:off x="2819400" y="2181072"/>
            <a:ext cx="470000" cy="369332"/>
          </a:xfrm>
          <a:prstGeom prst="rect">
            <a:avLst/>
          </a:prstGeom>
          <a:noFill/>
        </p:spPr>
        <p:txBody>
          <a:bodyPr wrap="none" rtlCol="0">
            <a:spAutoFit/>
          </a:bodyPr>
          <a:lstStyle/>
          <a:p>
            <a:r>
              <a:rPr lang="en-US"/>
              <a:t>i=1</a:t>
            </a:r>
          </a:p>
        </p:txBody>
      </p:sp>
      <p:sp>
        <p:nvSpPr>
          <p:cNvPr id="28" name="TextBox 27"/>
          <p:cNvSpPr txBox="1"/>
          <p:nvPr/>
        </p:nvSpPr>
        <p:spPr>
          <a:xfrm>
            <a:off x="2819400" y="2718010"/>
            <a:ext cx="470000" cy="369332"/>
          </a:xfrm>
          <a:prstGeom prst="rect">
            <a:avLst/>
          </a:prstGeom>
          <a:noFill/>
        </p:spPr>
        <p:txBody>
          <a:bodyPr wrap="none" rtlCol="0">
            <a:spAutoFit/>
          </a:bodyPr>
          <a:lstStyle/>
          <a:p>
            <a:r>
              <a:rPr lang="en-US"/>
              <a:t>i=2</a:t>
            </a:r>
          </a:p>
        </p:txBody>
      </p:sp>
      <p:sp>
        <p:nvSpPr>
          <p:cNvPr id="29" name="TextBox 28"/>
          <p:cNvSpPr txBox="1"/>
          <p:nvPr/>
        </p:nvSpPr>
        <p:spPr>
          <a:xfrm>
            <a:off x="2819400" y="3257896"/>
            <a:ext cx="470000" cy="369332"/>
          </a:xfrm>
          <a:prstGeom prst="rect">
            <a:avLst/>
          </a:prstGeom>
          <a:noFill/>
        </p:spPr>
        <p:txBody>
          <a:bodyPr wrap="none" rtlCol="0">
            <a:spAutoFit/>
          </a:bodyPr>
          <a:lstStyle/>
          <a:p>
            <a:r>
              <a:rPr lang="en-US"/>
              <a:t>i=3</a:t>
            </a:r>
          </a:p>
        </p:txBody>
      </p:sp>
      <p:sp>
        <p:nvSpPr>
          <p:cNvPr id="31" name="TextBox 30"/>
          <p:cNvSpPr txBox="1"/>
          <p:nvPr/>
        </p:nvSpPr>
        <p:spPr>
          <a:xfrm>
            <a:off x="2819400" y="3899615"/>
            <a:ext cx="470000" cy="369332"/>
          </a:xfrm>
          <a:prstGeom prst="rect">
            <a:avLst/>
          </a:prstGeom>
          <a:noFill/>
        </p:spPr>
        <p:txBody>
          <a:bodyPr wrap="none" rtlCol="0">
            <a:spAutoFit/>
          </a:bodyPr>
          <a:lstStyle/>
          <a:p>
            <a:r>
              <a:rPr lang="en-US"/>
              <a:t>i=4</a:t>
            </a:r>
          </a:p>
        </p:txBody>
      </p:sp>
      <p:sp>
        <p:nvSpPr>
          <p:cNvPr id="32" name="TextBox 31"/>
          <p:cNvSpPr txBox="1"/>
          <p:nvPr/>
        </p:nvSpPr>
        <p:spPr>
          <a:xfrm>
            <a:off x="2819400" y="4538532"/>
            <a:ext cx="470000" cy="369332"/>
          </a:xfrm>
          <a:prstGeom prst="rect">
            <a:avLst/>
          </a:prstGeom>
          <a:noFill/>
        </p:spPr>
        <p:txBody>
          <a:bodyPr wrap="none" rtlCol="0">
            <a:spAutoFit/>
          </a:bodyPr>
          <a:lstStyle/>
          <a:p>
            <a:r>
              <a:rPr lang="en-US"/>
              <a:t>i=5</a:t>
            </a:r>
          </a:p>
        </p:txBody>
      </p:sp>
      <p:sp>
        <p:nvSpPr>
          <p:cNvPr id="33" name="TextBox 32"/>
          <p:cNvSpPr txBox="1"/>
          <p:nvPr/>
        </p:nvSpPr>
        <p:spPr>
          <a:xfrm>
            <a:off x="2819400" y="5177449"/>
            <a:ext cx="470000" cy="369332"/>
          </a:xfrm>
          <a:prstGeom prst="rect">
            <a:avLst/>
          </a:prstGeom>
          <a:noFill/>
        </p:spPr>
        <p:txBody>
          <a:bodyPr wrap="none" rtlCol="0">
            <a:spAutoFit/>
          </a:bodyPr>
          <a:lstStyle/>
          <a:p>
            <a:r>
              <a:rPr lang="en-US"/>
              <a:t>i=6</a:t>
            </a:r>
          </a:p>
        </p:txBody>
      </p:sp>
      <p:sp>
        <p:nvSpPr>
          <p:cNvPr id="34" name="TextBox 33"/>
          <p:cNvSpPr txBox="1"/>
          <p:nvPr/>
        </p:nvSpPr>
        <p:spPr>
          <a:xfrm>
            <a:off x="2819400" y="5816366"/>
            <a:ext cx="470000" cy="369332"/>
          </a:xfrm>
          <a:prstGeom prst="rect">
            <a:avLst/>
          </a:prstGeom>
          <a:noFill/>
        </p:spPr>
        <p:txBody>
          <a:bodyPr wrap="none" rtlCol="0">
            <a:spAutoFit/>
          </a:bodyPr>
          <a:lstStyle/>
          <a:p>
            <a:r>
              <a:rPr lang="en-US"/>
              <a:t>i=7</a:t>
            </a:r>
          </a:p>
        </p:txBody>
      </p:sp>
      <p:cxnSp>
        <p:nvCxnSpPr>
          <p:cNvPr id="8" name="Straight Arrow Connector 7"/>
          <p:cNvCxnSpPr/>
          <p:nvPr/>
        </p:nvCxnSpPr>
        <p:spPr>
          <a:xfrm flipH="1" flipV="1">
            <a:off x="8202606" y="2710934"/>
            <a:ext cx="1169994" cy="7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Freeform 8"/>
          <p:cNvSpPr/>
          <p:nvPr/>
        </p:nvSpPr>
        <p:spPr>
          <a:xfrm>
            <a:off x="3434687" y="1460311"/>
            <a:ext cx="5500174" cy="4653887"/>
          </a:xfrm>
          <a:custGeom>
            <a:avLst/>
            <a:gdLst>
              <a:gd name="connsiteX0" fmla="*/ 136477 w 5500174"/>
              <a:gd name="connsiteY0" fmla="*/ 4653887 h 4653887"/>
              <a:gd name="connsiteX1" fmla="*/ 150125 w 5500174"/>
              <a:gd name="connsiteY1" fmla="*/ 4572000 h 4653887"/>
              <a:gd name="connsiteX2" fmla="*/ 122829 w 5500174"/>
              <a:gd name="connsiteY2" fmla="*/ 4435523 h 4653887"/>
              <a:gd name="connsiteX3" fmla="*/ 191068 w 5500174"/>
              <a:gd name="connsiteY3" fmla="*/ 4094329 h 4653887"/>
              <a:gd name="connsiteX4" fmla="*/ 232012 w 5500174"/>
              <a:gd name="connsiteY4" fmla="*/ 4067033 h 4653887"/>
              <a:gd name="connsiteX5" fmla="*/ 313898 w 5500174"/>
              <a:gd name="connsiteY5" fmla="*/ 3971499 h 4653887"/>
              <a:gd name="connsiteX6" fmla="*/ 354841 w 5500174"/>
              <a:gd name="connsiteY6" fmla="*/ 3957851 h 4653887"/>
              <a:gd name="connsiteX7" fmla="*/ 395785 w 5500174"/>
              <a:gd name="connsiteY7" fmla="*/ 3930556 h 4653887"/>
              <a:gd name="connsiteX8" fmla="*/ 477671 w 5500174"/>
              <a:gd name="connsiteY8" fmla="*/ 3903260 h 4653887"/>
              <a:gd name="connsiteX9" fmla="*/ 627797 w 5500174"/>
              <a:gd name="connsiteY9" fmla="*/ 3794078 h 4653887"/>
              <a:gd name="connsiteX10" fmla="*/ 682388 w 5500174"/>
              <a:gd name="connsiteY10" fmla="*/ 3753135 h 4653887"/>
              <a:gd name="connsiteX11" fmla="*/ 777922 w 5500174"/>
              <a:gd name="connsiteY11" fmla="*/ 3657600 h 4653887"/>
              <a:gd name="connsiteX12" fmla="*/ 832513 w 5500174"/>
              <a:gd name="connsiteY12" fmla="*/ 3603009 h 4653887"/>
              <a:gd name="connsiteX13" fmla="*/ 887104 w 5500174"/>
              <a:gd name="connsiteY13" fmla="*/ 3521123 h 4653887"/>
              <a:gd name="connsiteX14" fmla="*/ 955343 w 5500174"/>
              <a:gd name="connsiteY14" fmla="*/ 3439236 h 4653887"/>
              <a:gd name="connsiteX15" fmla="*/ 968991 w 5500174"/>
              <a:gd name="connsiteY15" fmla="*/ 3398293 h 4653887"/>
              <a:gd name="connsiteX16" fmla="*/ 1009934 w 5500174"/>
              <a:gd name="connsiteY16" fmla="*/ 3343702 h 4653887"/>
              <a:gd name="connsiteX17" fmla="*/ 1146412 w 5500174"/>
              <a:gd name="connsiteY17" fmla="*/ 3166281 h 4653887"/>
              <a:gd name="connsiteX18" fmla="*/ 1214650 w 5500174"/>
              <a:gd name="connsiteY18" fmla="*/ 3084394 h 4653887"/>
              <a:gd name="connsiteX19" fmla="*/ 1296537 w 5500174"/>
              <a:gd name="connsiteY19" fmla="*/ 2975212 h 4653887"/>
              <a:gd name="connsiteX20" fmla="*/ 1337480 w 5500174"/>
              <a:gd name="connsiteY20" fmla="*/ 2947917 h 4653887"/>
              <a:gd name="connsiteX21" fmla="*/ 1392071 w 5500174"/>
              <a:gd name="connsiteY21" fmla="*/ 2893326 h 4653887"/>
              <a:gd name="connsiteX22" fmla="*/ 1433014 w 5500174"/>
              <a:gd name="connsiteY22" fmla="*/ 2838735 h 4653887"/>
              <a:gd name="connsiteX23" fmla="*/ 1624083 w 5500174"/>
              <a:gd name="connsiteY23" fmla="*/ 2702257 h 4653887"/>
              <a:gd name="connsiteX24" fmla="*/ 1719617 w 5500174"/>
              <a:gd name="connsiteY24" fmla="*/ 2647666 h 4653887"/>
              <a:gd name="connsiteX25" fmla="*/ 1897038 w 5500174"/>
              <a:gd name="connsiteY25" fmla="*/ 2497541 h 4653887"/>
              <a:gd name="connsiteX26" fmla="*/ 1965277 w 5500174"/>
              <a:gd name="connsiteY26" fmla="*/ 2442950 h 4653887"/>
              <a:gd name="connsiteX27" fmla="*/ 2060812 w 5500174"/>
              <a:gd name="connsiteY27" fmla="*/ 2374711 h 4653887"/>
              <a:gd name="connsiteX28" fmla="*/ 2101755 w 5500174"/>
              <a:gd name="connsiteY28" fmla="*/ 2347415 h 4653887"/>
              <a:gd name="connsiteX29" fmla="*/ 2169994 w 5500174"/>
              <a:gd name="connsiteY29" fmla="*/ 2292824 h 4653887"/>
              <a:gd name="connsiteX30" fmla="*/ 2210937 w 5500174"/>
              <a:gd name="connsiteY30" fmla="*/ 2251881 h 4653887"/>
              <a:gd name="connsiteX31" fmla="*/ 2265528 w 5500174"/>
              <a:gd name="connsiteY31" fmla="*/ 2224586 h 4653887"/>
              <a:gd name="connsiteX32" fmla="*/ 2347414 w 5500174"/>
              <a:gd name="connsiteY32" fmla="*/ 2183642 h 4653887"/>
              <a:gd name="connsiteX33" fmla="*/ 2429301 w 5500174"/>
              <a:gd name="connsiteY33" fmla="*/ 2101756 h 4653887"/>
              <a:gd name="connsiteX34" fmla="*/ 2511188 w 5500174"/>
              <a:gd name="connsiteY34" fmla="*/ 2074460 h 4653887"/>
              <a:gd name="connsiteX35" fmla="*/ 2647665 w 5500174"/>
              <a:gd name="connsiteY35" fmla="*/ 1951630 h 4653887"/>
              <a:gd name="connsiteX36" fmla="*/ 2674961 w 5500174"/>
              <a:gd name="connsiteY36" fmla="*/ 1910687 h 4653887"/>
              <a:gd name="connsiteX37" fmla="*/ 2715904 w 5500174"/>
              <a:gd name="connsiteY37" fmla="*/ 1883391 h 4653887"/>
              <a:gd name="connsiteX38" fmla="*/ 2729552 w 5500174"/>
              <a:gd name="connsiteY38" fmla="*/ 1842448 h 4653887"/>
              <a:gd name="connsiteX39" fmla="*/ 2770495 w 5500174"/>
              <a:gd name="connsiteY39" fmla="*/ 1801505 h 4653887"/>
              <a:gd name="connsiteX40" fmla="*/ 2784143 w 5500174"/>
              <a:gd name="connsiteY40" fmla="*/ 1760562 h 4653887"/>
              <a:gd name="connsiteX41" fmla="*/ 2947916 w 5500174"/>
              <a:gd name="connsiteY41" fmla="*/ 1637732 h 4653887"/>
              <a:gd name="connsiteX42" fmla="*/ 3029803 w 5500174"/>
              <a:gd name="connsiteY42" fmla="*/ 1569493 h 4653887"/>
              <a:gd name="connsiteX43" fmla="*/ 3070746 w 5500174"/>
              <a:gd name="connsiteY43" fmla="*/ 1528550 h 4653887"/>
              <a:gd name="connsiteX44" fmla="*/ 3111689 w 5500174"/>
              <a:gd name="connsiteY44" fmla="*/ 1501254 h 4653887"/>
              <a:gd name="connsiteX45" fmla="*/ 3166280 w 5500174"/>
              <a:gd name="connsiteY45" fmla="*/ 1460311 h 4653887"/>
              <a:gd name="connsiteX46" fmla="*/ 3248167 w 5500174"/>
              <a:gd name="connsiteY46" fmla="*/ 1405720 h 4653887"/>
              <a:gd name="connsiteX47" fmla="*/ 3289110 w 5500174"/>
              <a:gd name="connsiteY47" fmla="*/ 1364777 h 4653887"/>
              <a:gd name="connsiteX48" fmla="*/ 3343701 w 5500174"/>
              <a:gd name="connsiteY48" fmla="*/ 1323833 h 4653887"/>
              <a:gd name="connsiteX49" fmla="*/ 3384644 w 5500174"/>
              <a:gd name="connsiteY49" fmla="*/ 1269242 h 4653887"/>
              <a:gd name="connsiteX50" fmla="*/ 3425588 w 5500174"/>
              <a:gd name="connsiteY50" fmla="*/ 1241947 h 4653887"/>
              <a:gd name="connsiteX51" fmla="*/ 3480179 w 5500174"/>
              <a:gd name="connsiteY51" fmla="*/ 1187356 h 4653887"/>
              <a:gd name="connsiteX52" fmla="*/ 3521122 w 5500174"/>
              <a:gd name="connsiteY52" fmla="*/ 1132765 h 4653887"/>
              <a:gd name="connsiteX53" fmla="*/ 3575713 w 5500174"/>
              <a:gd name="connsiteY53" fmla="*/ 1078174 h 4653887"/>
              <a:gd name="connsiteX54" fmla="*/ 3603009 w 5500174"/>
              <a:gd name="connsiteY54" fmla="*/ 1023583 h 4653887"/>
              <a:gd name="connsiteX55" fmla="*/ 3698543 w 5500174"/>
              <a:gd name="connsiteY55" fmla="*/ 873457 h 4653887"/>
              <a:gd name="connsiteX56" fmla="*/ 3739486 w 5500174"/>
              <a:gd name="connsiteY56" fmla="*/ 832514 h 4653887"/>
              <a:gd name="connsiteX57" fmla="*/ 3780429 w 5500174"/>
              <a:gd name="connsiteY57" fmla="*/ 764275 h 4653887"/>
              <a:gd name="connsiteX58" fmla="*/ 3821373 w 5500174"/>
              <a:gd name="connsiteY58" fmla="*/ 723332 h 4653887"/>
              <a:gd name="connsiteX59" fmla="*/ 3889612 w 5500174"/>
              <a:gd name="connsiteY59" fmla="*/ 627797 h 4653887"/>
              <a:gd name="connsiteX60" fmla="*/ 3985146 w 5500174"/>
              <a:gd name="connsiteY60" fmla="*/ 559559 h 4653887"/>
              <a:gd name="connsiteX61" fmla="*/ 4107976 w 5500174"/>
              <a:gd name="connsiteY61" fmla="*/ 423081 h 4653887"/>
              <a:gd name="connsiteX62" fmla="*/ 4148919 w 5500174"/>
              <a:gd name="connsiteY62" fmla="*/ 382138 h 4653887"/>
              <a:gd name="connsiteX63" fmla="*/ 4189862 w 5500174"/>
              <a:gd name="connsiteY63" fmla="*/ 341194 h 4653887"/>
              <a:gd name="connsiteX64" fmla="*/ 4299044 w 5500174"/>
              <a:gd name="connsiteY64" fmla="*/ 272956 h 4653887"/>
              <a:gd name="connsiteX65" fmla="*/ 4353635 w 5500174"/>
              <a:gd name="connsiteY65" fmla="*/ 245660 h 4653887"/>
              <a:gd name="connsiteX66" fmla="*/ 4449170 w 5500174"/>
              <a:gd name="connsiteY66" fmla="*/ 232012 h 4653887"/>
              <a:gd name="connsiteX67" fmla="*/ 4626591 w 5500174"/>
              <a:gd name="connsiteY67" fmla="*/ 177421 h 4653887"/>
              <a:gd name="connsiteX68" fmla="*/ 4844955 w 5500174"/>
              <a:gd name="connsiteY68" fmla="*/ 136478 h 4653887"/>
              <a:gd name="connsiteX69" fmla="*/ 4967785 w 5500174"/>
              <a:gd name="connsiteY69" fmla="*/ 95535 h 4653887"/>
              <a:gd name="connsiteX70" fmla="*/ 5008728 w 5500174"/>
              <a:gd name="connsiteY70" fmla="*/ 81887 h 4653887"/>
              <a:gd name="connsiteX71" fmla="*/ 5049671 w 5500174"/>
              <a:gd name="connsiteY71" fmla="*/ 54591 h 4653887"/>
              <a:gd name="connsiteX72" fmla="*/ 5213444 w 5500174"/>
              <a:gd name="connsiteY72" fmla="*/ 27296 h 4653887"/>
              <a:gd name="connsiteX73" fmla="*/ 5336274 w 5500174"/>
              <a:gd name="connsiteY73" fmla="*/ 0 h 4653887"/>
              <a:gd name="connsiteX74" fmla="*/ 5486400 w 5500174"/>
              <a:gd name="connsiteY74" fmla="*/ 13648 h 4653887"/>
              <a:gd name="connsiteX75" fmla="*/ 5500047 w 5500174"/>
              <a:gd name="connsiteY75" fmla="*/ 54591 h 4653887"/>
              <a:gd name="connsiteX76" fmla="*/ 5472752 w 5500174"/>
              <a:gd name="connsiteY76" fmla="*/ 382138 h 4653887"/>
              <a:gd name="connsiteX77" fmla="*/ 5404513 w 5500174"/>
              <a:gd name="connsiteY77" fmla="*/ 545911 h 4653887"/>
              <a:gd name="connsiteX78" fmla="*/ 5308979 w 5500174"/>
              <a:gd name="connsiteY78" fmla="*/ 641445 h 4653887"/>
              <a:gd name="connsiteX79" fmla="*/ 5295331 w 5500174"/>
              <a:gd name="connsiteY79" fmla="*/ 682389 h 4653887"/>
              <a:gd name="connsiteX80" fmla="*/ 5254388 w 5500174"/>
              <a:gd name="connsiteY80" fmla="*/ 723332 h 4653887"/>
              <a:gd name="connsiteX81" fmla="*/ 5213444 w 5500174"/>
              <a:gd name="connsiteY81" fmla="*/ 777923 h 4653887"/>
              <a:gd name="connsiteX82" fmla="*/ 5145206 w 5500174"/>
              <a:gd name="connsiteY82" fmla="*/ 859809 h 4653887"/>
              <a:gd name="connsiteX83" fmla="*/ 5117910 w 5500174"/>
              <a:gd name="connsiteY83" fmla="*/ 900753 h 4653887"/>
              <a:gd name="connsiteX84" fmla="*/ 5049671 w 5500174"/>
              <a:gd name="connsiteY84" fmla="*/ 955344 h 4653887"/>
              <a:gd name="connsiteX85" fmla="*/ 5036023 w 5500174"/>
              <a:gd name="connsiteY85" fmla="*/ 1009935 h 4653887"/>
              <a:gd name="connsiteX86" fmla="*/ 4940489 w 5500174"/>
              <a:gd name="connsiteY86" fmla="*/ 1091821 h 4653887"/>
              <a:gd name="connsiteX87" fmla="*/ 4858603 w 5500174"/>
              <a:gd name="connsiteY87" fmla="*/ 1160060 h 4653887"/>
              <a:gd name="connsiteX88" fmla="*/ 4776716 w 5500174"/>
              <a:gd name="connsiteY88" fmla="*/ 1187356 h 4653887"/>
              <a:gd name="connsiteX89" fmla="*/ 4681182 w 5500174"/>
              <a:gd name="connsiteY89" fmla="*/ 1241947 h 4653887"/>
              <a:gd name="connsiteX90" fmla="*/ 4476465 w 5500174"/>
              <a:gd name="connsiteY90" fmla="*/ 1255594 h 4653887"/>
              <a:gd name="connsiteX91" fmla="*/ 4285397 w 5500174"/>
              <a:gd name="connsiteY91" fmla="*/ 1337481 h 4653887"/>
              <a:gd name="connsiteX92" fmla="*/ 4244453 w 5500174"/>
              <a:gd name="connsiteY92" fmla="*/ 1364777 h 4653887"/>
              <a:gd name="connsiteX93" fmla="*/ 4203510 w 5500174"/>
              <a:gd name="connsiteY93" fmla="*/ 1378424 h 4653887"/>
              <a:gd name="connsiteX94" fmla="*/ 4080680 w 5500174"/>
              <a:gd name="connsiteY94" fmla="*/ 1460311 h 4653887"/>
              <a:gd name="connsiteX95" fmla="*/ 4039737 w 5500174"/>
              <a:gd name="connsiteY95" fmla="*/ 1473959 h 4653887"/>
              <a:gd name="connsiteX96" fmla="*/ 3944203 w 5500174"/>
              <a:gd name="connsiteY96" fmla="*/ 1542197 h 4653887"/>
              <a:gd name="connsiteX97" fmla="*/ 3903259 w 5500174"/>
              <a:gd name="connsiteY97" fmla="*/ 1569493 h 4653887"/>
              <a:gd name="connsiteX98" fmla="*/ 3821373 w 5500174"/>
              <a:gd name="connsiteY98" fmla="*/ 1665027 h 4653887"/>
              <a:gd name="connsiteX99" fmla="*/ 3794077 w 5500174"/>
              <a:gd name="connsiteY99" fmla="*/ 1705971 h 4653887"/>
              <a:gd name="connsiteX100" fmla="*/ 3739486 w 5500174"/>
              <a:gd name="connsiteY100" fmla="*/ 1760562 h 4653887"/>
              <a:gd name="connsiteX101" fmla="*/ 3630304 w 5500174"/>
              <a:gd name="connsiteY101" fmla="*/ 1937983 h 4653887"/>
              <a:gd name="connsiteX102" fmla="*/ 3534770 w 5500174"/>
              <a:gd name="connsiteY102" fmla="*/ 2019869 h 4653887"/>
              <a:gd name="connsiteX103" fmla="*/ 3466531 w 5500174"/>
              <a:gd name="connsiteY103" fmla="*/ 2101756 h 4653887"/>
              <a:gd name="connsiteX104" fmla="*/ 3411940 w 5500174"/>
              <a:gd name="connsiteY104" fmla="*/ 2129051 h 4653887"/>
              <a:gd name="connsiteX105" fmla="*/ 3370997 w 5500174"/>
              <a:gd name="connsiteY105" fmla="*/ 2156347 h 4653887"/>
              <a:gd name="connsiteX106" fmla="*/ 3275462 w 5500174"/>
              <a:gd name="connsiteY106" fmla="*/ 2197290 h 4653887"/>
              <a:gd name="connsiteX107" fmla="*/ 3220871 w 5500174"/>
              <a:gd name="connsiteY107" fmla="*/ 2251881 h 4653887"/>
              <a:gd name="connsiteX108" fmla="*/ 3166280 w 5500174"/>
              <a:gd name="connsiteY108" fmla="*/ 2265529 h 4653887"/>
              <a:gd name="connsiteX109" fmla="*/ 3111689 w 5500174"/>
              <a:gd name="connsiteY109" fmla="*/ 2292824 h 4653887"/>
              <a:gd name="connsiteX110" fmla="*/ 3070746 w 5500174"/>
              <a:gd name="connsiteY110" fmla="*/ 2333768 h 4653887"/>
              <a:gd name="connsiteX111" fmla="*/ 2975212 w 5500174"/>
              <a:gd name="connsiteY111" fmla="*/ 2374711 h 4653887"/>
              <a:gd name="connsiteX112" fmla="*/ 2934268 w 5500174"/>
              <a:gd name="connsiteY112" fmla="*/ 2402006 h 4653887"/>
              <a:gd name="connsiteX113" fmla="*/ 2893325 w 5500174"/>
              <a:gd name="connsiteY113" fmla="*/ 2415654 h 4653887"/>
              <a:gd name="connsiteX114" fmla="*/ 2811438 w 5500174"/>
              <a:gd name="connsiteY114" fmla="*/ 2470245 h 4653887"/>
              <a:gd name="connsiteX115" fmla="*/ 2770495 w 5500174"/>
              <a:gd name="connsiteY115" fmla="*/ 2497541 h 4653887"/>
              <a:gd name="connsiteX116" fmla="*/ 2702256 w 5500174"/>
              <a:gd name="connsiteY116" fmla="*/ 2552132 h 4653887"/>
              <a:gd name="connsiteX117" fmla="*/ 2647665 w 5500174"/>
              <a:gd name="connsiteY117" fmla="*/ 2579427 h 4653887"/>
              <a:gd name="connsiteX118" fmla="*/ 2593074 w 5500174"/>
              <a:gd name="connsiteY118" fmla="*/ 2620371 h 4653887"/>
              <a:gd name="connsiteX119" fmla="*/ 2511188 w 5500174"/>
              <a:gd name="connsiteY119" fmla="*/ 2674962 h 4653887"/>
              <a:gd name="connsiteX120" fmla="*/ 2429301 w 5500174"/>
              <a:gd name="connsiteY120" fmla="*/ 2729553 h 4653887"/>
              <a:gd name="connsiteX121" fmla="*/ 2388358 w 5500174"/>
              <a:gd name="connsiteY121" fmla="*/ 2756848 h 4653887"/>
              <a:gd name="connsiteX122" fmla="*/ 2292823 w 5500174"/>
              <a:gd name="connsiteY122" fmla="*/ 2825087 h 4653887"/>
              <a:gd name="connsiteX123" fmla="*/ 2265528 w 5500174"/>
              <a:gd name="connsiteY123" fmla="*/ 2866030 h 4653887"/>
              <a:gd name="connsiteX124" fmla="*/ 2224585 w 5500174"/>
              <a:gd name="connsiteY124" fmla="*/ 2879678 h 4653887"/>
              <a:gd name="connsiteX125" fmla="*/ 2129050 w 5500174"/>
              <a:gd name="connsiteY125" fmla="*/ 2934269 h 4653887"/>
              <a:gd name="connsiteX126" fmla="*/ 2047164 w 5500174"/>
              <a:gd name="connsiteY126" fmla="*/ 2975212 h 4653887"/>
              <a:gd name="connsiteX127" fmla="*/ 1965277 w 5500174"/>
              <a:gd name="connsiteY127" fmla="*/ 3057099 h 4653887"/>
              <a:gd name="connsiteX128" fmla="*/ 1924334 w 5500174"/>
              <a:gd name="connsiteY128" fmla="*/ 3098042 h 4653887"/>
              <a:gd name="connsiteX129" fmla="*/ 1883391 w 5500174"/>
              <a:gd name="connsiteY129" fmla="*/ 3138986 h 4653887"/>
              <a:gd name="connsiteX130" fmla="*/ 1828800 w 5500174"/>
              <a:gd name="connsiteY130" fmla="*/ 3234520 h 4653887"/>
              <a:gd name="connsiteX131" fmla="*/ 1801504 w 5500174"/>
              <a:gd name="connsiteY131" fmla="*/ 3330054 h 4653887"/>
              <a:gd name="connsiteX132" fmla="*/ 1746913 w 5500174"/>
              <a:gd name="connsiteY132" fmla="*/ 3425589 h 4653887"/>
              <a:gd name="connsiteX133" fmla="*/ 1705970 w 5500174"/>
              <a:gd name="connsiteY133" fmla="*/ 3507475 h 4653887"/>
              <a:gd name="connsiteX134" fmla="*/ 1665026 w 5500174"/>
              <a:gd name="connsiteY134" fmla="*/ 3548418 h 4653887"/>
              <a:gd name="connsiteX135" fmla="*/ 1637731 w 5500174"/>
              <a:gd name="connsiteY135" fmla="*/ 3589362 h 4653887"/>
              <a:gd name="connsiteX136" fmla="*/ 1542197 w 5500174"/>
              <a:gd name="connsiteY136" fmla="*/ 3671248 h 4653887"/>
              <a:gd name="connsiteX137" fmla="*/ 1501253 w 5500174"/>
              <a:gd name="connsiteY137" fmla="*/ 3684896 h 4653887"/>
              <a:gd name="connsiteX138" fmla="*/ 1378423 w 5500174"/>
              <a:gd name="connsiteY138" fmla="*/ 3780430 h 4653887"/>
              <a:gd name="connsiteX139" fmla="*/ 1337480 w 5500174"/>
              <a:gd name="connsiteY139" fmla="*/ 3807726 h 4653887"/>
              <a:gd name="connsiteX140" fmla="*/ 1255594 w 5500174"/>
              <a:gd name="connsiteY140" fmla="*/ 3835021 h 4653887"/>
              <a:gd name="connsiteX141" fmla="*/ 1132764 w 5500174"/>
              <a:gd name="connsiteY141" fmla="*/ 3889612 h 4653887"/>
              <a:gd name="connsiteX142" fmla="*/ 1037229 w 5500174"/>
              <a:gd name="connsiteY142" fmla="*/ 3916908 h 4653887"/>
              <a:gd name="connsiteX143" fmla="*/ 900752 w 5500174"/>
              <a:gd name="connsiteY143" fmla="*/ 3985147 h 4653887"/>
              <a:gd name="connsiteX144" fmla="*/ 846161 w 5500174"/>
              <a:gd name="connsiteY144" fmla="*/ 4012442 h 4653887"/>
              <a:gd name="connsiteX145" fmla="*/ 696035 w 5500174"/>
              <a:gd name="connsiteY145" fmla="*/ 4135272 h 4653887"/>
              <a:gd name="connsiteX146" fmla="*/ 641444 w 5500174"/>
              <a:gd name="connsiteY146" fmla="*/ 4162568 h 4653887"/>
              <a:gd name="connsiteX147" fmla="*/ 586853 w 5500174"/>
              <a:gd name="connsiteY147" fmla="*/ 4217159 h 4653887"/>
              <a:gd name="connsiteX148" fmla="*/ 504967 w 5500174"/>
              <a:gd name="connsiteY148" fmla="*/ 4271750 h 4653887"/>
              <a:gd name="connsiteX149" fmla="*/ 477671 w 5500174"/>
              <a:gd name="connsiteY149" fmla="*/ 4326341 h 4653887"/>
              <a:gd name="connsiteX150" fmla="*/ 423080 w 5500174"/>
              <a:gd name="connsiteY150" fmla="*/ 4339989 h 4653887"/>
              <a:gd name="connsiteX151" fmla="*/ 368489 w 5500174"/>
              <a:gd name="connsiteY151" fmla="*/ 4380932 h 4653887"/>
              <a:gd name="connsiteX152" fmla="*/ 313898 w 5500174"/>
              <a:gd name="connsiteY152" fmla="*/ 4408227 h 4653887"/>
              <a:gd name="connsiteX153" fmla="*/ 232012 w 5500174"/>
              <a:gd name="connsiteY153" fmla="*/ 4449171 h 4653887"/>
              <a:gd name="connsiteX154" fmla="*/ 150125 w 5500174"/>
              <a:gd name="connsiteY154" fmla="*/ 4435523 h 4653887"/>
              <a:gd name="connsiteX155" fmla="*/ 54591 w 5500174"/>
              <a:gd name="connsiteY155" fmla="*/ 4394580 h 4653887"/>
              <a:gd name="connsiteX156" fmla="*/ 0 w 5500174"/>
              <a:gd name="connsiteY156" fmla="*/ 4353636 h 465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5500174" h="4653887">
                <a:moveTo>
                  <a:pt x="136477" y="4653887"/>
                </a:moveTo>
                <a:cubicBezTo>
                  <a:pt x="141026" y="4626591"/>
                  <a:pt x="151851" y="4599618"/>
                  <a:pt x="150125" y="4572000"/>
                </a:cubicBezTo>
                <a:cubicBezTo>
                  <a:pt x="147231" y="4525697"/>
                  <a:pt x="124428" y="4481889"/>
                  <a:pt x="122829" y="4435523"/>
                </a:cubicBezTo>
                <a:cubicBezTo>
                  <a:pt x="120934" y="4380564"/>
                  <a:pt x="95009" y="4158368"/>
                  <a:pt x="191068" y="4094329"/>
                </a:cubicBezTo>
                <a:lnTo>
                  <a:pt x="232012" y="4067033"/>
                </a:lnTo>
                <a:cubicBezTo>
                  <a:pt x="258242" y="4027688"/>
                  <a:pt x="271777" y="4001586"/>
                  <a:pt x="313898" y="3971499"/>
                </a:cubicBezTo>
                <a:cubicBezTo>
                  <a:pt x="325604" y="3963137"/>
                  <a:pt x="341974" y="3964285"/>
                  <a:pt x="354841" y="3957851"/>
                </a:cubicBezTo>
                <a:cubicBezTo>
                  <a:pt x="369512" y="3950516"/>
                  <a:pt x="380796" y="3937218"/>
                  <a:pt x="395785" y="3930556"/>
                </a:cubicBezTo>
                <a:cubicBezTo>
                  <a:pt x="422077" y="3918871"/>
                  <a:pt x="453731" y="3919220"/>
                  <a:pt x="477671" y="3903260"/>
                </a:cubicBezTo>
                <a:cubicBezTo>
                  <a:pt x="556467" y="3850730"/>
                  <a:pt x="505491" y="3885807"/>
                  <a:pt x="627797" y="3794078"/>
                </a:cubicBezTo>
                <a:cubicBezTo>
                  <a:pt x="645994" y="3780430"/>
                  <a:pt x="666304" y="3769219"/>
                  <a:pt x="682388" y="3753135"/>
                </a:cubicBezTo>
                <a:lnTo>
                  <a:pt x="777922" y="3657600"/>
                </a:lnTo>
                <a:cubicBezTo>
                  <a:pt x="796119" y="3639403"/>
                  <a:pt x="818238" y="3624421"/>
                  <a:pt x="832513" y="3603009"/>
                </a:cubicBezTo>
                <a:cubicBezTo>
                  <a:pt x="850710" y="3575714"/>
                  <a:pt x="866964" y="3547018"/>
                  <a:pt x="887104" y="3521123"/>
                </a:cubicBezTo>
                <a:cubicBezTo>
                  <a:pt x="929362" y="3466791"/>
                  <a:pt x="926080" y="3497760"/>
                  <a:pt x="955343" y="3439236"/>
                </a:cubicBezTo>
                <a:cubicBezTo>
                  <a:pt x="961777" y="3426369"/>
                  <a:pt x="961854" y="3410783"/>
                  <a:pt x="968991" y="3398293"/>
                </a:cubicBezTo>
                <a:cubicBezTo>
                  <a:pt x="980276" y="3378544"/>
                  <a:pt x="997634" y="3362836"/>
                  <a:pt x="1009934" y="3343702"/>
                </a:cubicBezTo>
                <a:cubicBezTo>
                  <a:pt x="1116431" y="3178038"/>
                  <a:pt x="1043843" y="3243206"/>
                  <a:pt x="1146412" y="3166281"/>
                </a:cubicBezTo>
                <a:cubicBezTo>
                  <a:pt x="1216930" y="3025243"/>
                  <a:pt x="1127846" y="3180843"/>
                  <a:pt x="1214650" y="3084394"/>
                </a:cubicBezTo>
                <a:cubicBezTo>
                  <a:pt x="1245083" y="3050580"/>
                  <a:pt x="1258685" y="3000447"/>
                  <a:pt x="1296537" y="2975212"/>
                </a:cubicBezTo>
                <a:cubicBezTo>
                  <a:pt x="1310185" y="2966114"/>
                  <a:pt x="1325026" y="2958592"/>
                  <a:pt x="1337480" y="2947917"/>
                </a:cubicBezTo>
                <a:cubicBezTo>
                  <a:pt x="1357019" y="2931169"/>
                  <a:pt x="1375125" y="2912693"/>
                  <a:pt x="1392071" y="2893326"/>
                </a:cubicBezTo>
                <a:cubicBezTo>
                  <a:pt x="1407049" y="2876208"/>
                  <a:pt x="1416247" y="2854105"/>
                  <a:pt x="1433014" y="2838735"/>
                </a:cubicBezTo>
                <a:cubicBezTo>
                  <a:pt x="1527214" y="2752384"/>
                  <a:pt x="1536716" y="2756861"/>
                  <a:pt x="1624083" y="2702257"/>
                </a:cubicBezTo>
                <a:cubicBezTo>
                  <a:pt x="1701246" y="2654030"/>
                  <a:pt x="1626426" y="2694262"/>
                  <a:pt x="1719617" y="2647666"/>
                </a:cubicBezTo>
                <a:cubicBezTo>
                  <a:pt x="1782549" y="2553270"/>
                  <a:pt x="1728696" y="2623797"/>
                  <a:pt x="1897038" y="2497541"/>
                </a:cubicBezTo>
                <a:cubicBezTo>
                  <a:pt x="1920342" y="2480063"/>
                  <a:pt x="1941040" y="2459108"/>
                  <a:pt x="1965277" y="2442950"/>
                </a:cubicBezTo>
                <a:cubicBezTo>
                  <a:pt x="2061767" y="2378622"/>
                  <a:pt x="1942313" y="2459352"/>
                  <a:pt x="2060812" y="2374711"/>
                </a:cubicBezTo>
                <a:cubicBezTo>
                  <a:pt x="2074159" y="2365177"/>
                  <a:pt x="2088107" y="2356514"/>
                  <a:pt x="2101755" y="2347415"/>
                </a:cubicBezTo>
                <a:cubicBezTo>
                  <a:pt x="2162798" y="2255849"/>
                  <a:pt x="2090888" y="2345561"/>
                  <a:pt x="2169994" y="2292824"/>
                </a:cubicBezTo>
                <a:cubicBezTo>
                  <a:pt x="2186053" y="2282118"/>
                  <a:pt x="2195231" y="2263099"/>
                  <a:pt x="2210937" y="2251881"/>
                </a:cubicBezTo>
                <a:cubicBezTo>
                  <a:pt x="2227492" y="2240056"/>
                  <a:pt x="2247864" y="2234680"/>
                  <a:pt x="2265528" y="2224586"/>
                </a:cubicBezTo>
                <a:cubicBezTo>
                  <a:pt x="2339610" y="2182253"/>
                  <a:pt x="2272344" y="2208666"/>
                  <a:pt x="2347414" y="2183642"/>
                </a:cubicBezTo>
                <a:cubicBezTo>
                  <a:pt x="2374710" y="2156347"/>
                  <a:pt x="2392680" y="2113963"/>
                  <a:pt x="2429301" y="2101756"/>
                </a:cubicBezTo>
                <a:lnTo>
                  <a:pt x="2511188" y="2074460"/>
                </a:lnTo>
                <a:cubicBezTo>
                  <a:pt x="2618320" y="1967328"/>
                  <a:pt x="2569251" y="2003907"/>
                  <a:pt x="2647665" y="1951630"/>
                </a:cubicBezTo>
                <a:cubicBezTo>
                  <a:pt x="2656764" y="1937982"/>
                  <a:pt x="2663363" y="1922285"/>
                  <a:pt x="2674961" y="1910687"/>
                </a:cubicBezTo>
                <a:cubicBezTo>
                  <a:pt x="2686559" y="1899089"/>
                  <a:pt x="2705657" y="1896199"/>
                  <a:pt x="2715904" y="1883391"/>
                </a:cubicBezTo>
                <a:cubicBezTo>
                  <a:pt x="2724891" y="1872157"/>
                  <a:pt x="2721572" y="1854418"/>
                  <a:pt x="2729552" y="1842448"/>
                </a:cubicBezTo>
                <a:cubicBezTo>
                  <a:pt x="2740258" y="1826389"/>
                  <a:pt x="2756847" y="1815153"/>
                  <a:pt x="2770495" y="1801505"/>
                </a:cubicBezTo>
                <a:cubicBezTo>
                  <a:pt x="2775044" y="1787857"/>
                  <a:pt x="2775156" y="1771796"/>
                  <a:pt x="2784143" y="1760562"/>
                </a:cubicBezTo>
                <a:cubicBezTo>
                  <a:pt x="2863808" y="1660980"/>
                  <a:pt x="2855918" y="1674530"/>
                  <a:pt x="2947916" y="1637732"/>
                </a:cubicBezTo>
                <a:cubicBezTo>
                  <a:pt x="3001727" y="1557017"/>
                  <a:pt x="2941651" y="1632459"/>
                  <a:pt x="3029803" y="1569493"/>
                </a:cubicBezTo>
                <a:cubicBezTo>
                  <a:pt x="3045509" y="1558275"/>
                  <a:pt x="3055919" y="1540906"/>
                  <a:pt x="3070746" y="1528550"/>
                </a:cubicBezTo>
                <a:cubicBezTo>
                  <a:pt x="3083347" y="1518049"/>
                  <a:pt x="3098342" y="1510788"/>
                  <a:pt x="3111689" y="1501254"/>
                </a:cubicBezTo>
                <a:cubicBezTo>
                  <a:pt x="3130198" y="1488033"/>
                  <a:pt x="3147646" y="1473355"/>
                  <a:pt x="3166280" y="1460311"/>
                </a:cubicBezTo>
                <a:cubicBezTo>
                  <a:pt x="3193155" y="1441499"/>
                  <a:pt x="3224970" y="1428917"/>
                  <a:pt x="3248167" y="1405720"/>
                </a:cubicBezTo>
                <a:cubicBezTo>
                  <a:pt x="3261815" y="1392072"/>
                  <a:pt x="3274456" y="1377338"/>
                  <a:pt x="3289110" y="1364777"/>
                </a:cubicBezTo>
                <a:cubicBezTo>
                  <a:pt x="3306380" y="1349974"/>
                  <a:pt x="3327617" y="1339917"/>
                  <a:pt x="3343701" y="1323833"/>
                </a:cubicBezTo>
                <a:cubicBezTo>
                  <a:pt x="3359785" y="1307749"/>
                  <a:pt x="3368560" y="1285326"/>
                  <a:pt x="3384644" y="1269242"/>
                </a:cubicBezTo>
                <a:cubicBezTo>
                  <a:pt x="3396243" y="1257644"/>
                  <a:pt x="3413134" y="1252622"/>
                  <a:pt x="3425588" y="1241947"/>
                </a:cubicBezTo>
                <a:cubicBezTo>
                  <a:pt x="3445127" y="1225199"/>
                  <a:pt x="3463233" y="1206723"/>
                  <a:pt x="3480179" y="1187356"/>
                </a:cubicBezTo>
                <a:cubicBezTo>
                  <a:pt x="3495157" y="1170238"/>
                  <a:pt x="3506144" y="1149883"/>
                  <a:pt x="3521122" y="1132765"/>
                </a:cubicBezTo>
                <a:cubicBezTo>
                  <a:pt x="3538068" y="1113398"/>
                  <a:pt x="3560272" y="1098762"/>
                  <a:pt x="3575713" y="1078174"/>
                </a:cubicBezTo>
                <a:cubicBezTo>
                  <a:pt x="3587920" y="1061898"/>
                  <a:pt x="3593129" y="1041368"/>
                  <a:pt x="3603009" y="1023583"/>
                </a:cubicBezTo>
                <a:cubicBezTo>
                  <a:pt x="3622490" y="988517"/>
                  <a:pt x="3676652" y="901602"/>
                  <a:pt x="3698543" y="873457"/>
                </a:cubicBezTo>
                <a:cubicBezTo>
                  <a:pt x="3710392" y="858222"/>
                  <a:pt x="3727906" y="847955"/>
                  <a:pt x="3739486" y="832514"/>
                </a:cubicBezTo>
                <a:cubicBezTo>
                  <a:pt x="3755402" y="811293"/>
                  <a:pt x="3764513" y="785496"/>
                  <a:pt x="3780429" y="764275"/>
                </a:cubicBezTo>
                <a:cubicBezTo>
                  <a:pt x="3792010" y="748834"/>
                  <a:pt x="3809017" y="738159"/>
                  <a:pt x="3821373" y="723332"/>
                </a:cubicBezTo>
                <a:cubicBezTo>
                  <a:pt x="3860125" y="676830"/>
                  <a:pt x="3840435" y="676974"/>
                  <a:pt x="3889612" y="627797"/>
                </a:cubicBezTo>
                <a:cubicBezTo>
                  <a:pt x="3906541" y="610868"/>
                  <a:pt x="3961898" y="575058"/>
                  <a:pt x="3985146" y="559559"/>
                </a:cubicBezTo>
                <a:cubicBezTo>
                  <a:pt x="4037422" y="481142"/>
                  <a:pt x="4000842" y="530214"/>
                  <a:pt x="4107976" y="423081"/>
                </a:cubicBezTo>
                <a:lnTo>
                  <a:pt x="4148919" y="382138"/>
                </a:lnTo>
                <a:cubicBezTo>
                  <a:pt x="4162567" y="368490"/>
                  <a:pt x="4173495" y="351423"/>
                  <a:pt x="4189862" y="341194"/>
                </a:cubicBezTo>
                <a:cubicBezTo>
                  <a:pt x="4226256" y="318448"/>
                  <a:pt x="4260658" y="292150"/>
                  <a:pt x="4299044" y="272956"/>
                </a:cubicBezTo>
                <a:cubicBezTo>
                  <a:pt x="4317241" y="263857"/>
                  <a:pt x="4334007" y="251013"/>
                  <a:pt x="4353635" y="245660"/>
                </a:cubicBezTo>
                <a:cubicBezTo>
                  <a:pt x="4384670" y="237196"/>
                  <a:pt x="4417325" y="236561"/>
                  <a:pt x="4449170" y="232012"/>
                </a:cubicBezTo>
                <a:cubicBezTo>
                  <a:pt x="4530532" y="199468"/>
                  <a:pt x="4526884" y="197362"/>
                  <a:pt x="4626591" y="177421"/>
                </a:cubicBezTo>
                <a:cubicBezTo>
                  <a:pt x="4709898" y="160760"/>
                  <a:pt x="4770214" y="158900"/>
                  <a:pt x="4844955" y="136478"/>
                </a:cubicBezTo>
                <a:cubicBezTo>
                  <a:pt x="4844962" y="136476"/>
                  <a:pt x="4947311" y="102360"/>
                  <a:pt x="4967785" y="95535"/>
                </a:cubicBezTo>
                <a:cubicBezTo>
                  <a:pt x="4981433" y="90986"/>
                  <a:pt x="4996758" y="89867"/>
                  <a:pt x="5008728" y="81887"/>
                </a:cubicBezTo>
                <a:cubicBezTo>
                  <a:pt x="5022376" y="72788"/>
                  <a:pt x="5033822" y="58817"/>
                  <a:pt x="5049671" y="54591"/>
                </a:cubicBezTo>
                <a:cubicBezTo>
                  <a:pt x="5103146" y="40331"/>
                  <a:pt x="5159077" y="37652"/>
                  <a:pt x="5213444" y="27296"/>
                </a:cubicBezTo>
                <a:cubicBezTo>
                  <a:pt x="5254645" y="19448"/>
                  <a:pt x="5295331" y="9099"/>
                  <a:pt x="5336274" y="0"/>
                </a:cubicBezTo>
                <a:cubicBezTo>
                  <a:pt x="5386316" y="4549"/>
                  <a:pt x="5438730" y="-2242"/>
                  <a:pt x="5486400" y="13648"/>
                </a:cubicBezTo>
                <a:cubicBezTo>
                  <a:pt x="5500048" y="18197"/>
                  <a:pt x="5500579" y="40215"/>
                  <a:pt x="5500047" y="54591"/>
                </a:cubicBezTo>
                <a:cubicBezTo>
                  <a:pt x="5495992" y="164077"/>
                  <a:pt x="5489665" y="273891"/>
                  <a:pt x="5472752" y="382138"/>
                </a:cubicBezTo>
                <a:cubicBezTo>
                  <a:pt x="5472159" y="385935"/>
                  <a:pt x="5424333" y="521687"/>
                  <a:pt x="5404513" y="545911"/>
                </a:cubicBezTo>
                <a:cubicBezTo>
                  <a:pt x="5375995" y="580766"/>
                  <a:pt x="5308979" y="641445"/>
                  <a:pt x="5308979" y="641445"/>
                </a:cubicBezTo>
                <a:cubicBezTo>
                  <a:pt x="5304430" y="655093"/>
                  <a:pt x="5303311" y="670419"/>
                  <a:pt x="5295331" y="682389"/>
                </a:cubicBezTo>
                <a:cubicBezTo>
                  <a:pt x="5284625" y="698448"/>
                  <a:pt x="5266949" y="708678"/>
                  <a:pt x="5254388" y="723332"/>
                </a:cubicBezTo>
                <a:cubicBezTo>
                  <a:pt x="5239585" y="740602"/>
                  <a:pt x="5227092" y="759726"/>
                  <a:pt x="5213444" y="777923"/>
                </a:cubicBezTo>
                <a:cubicBezTo>
                  <a:pt x="5187379" y="856122"/>
                  <a:pt x="5219568" y="785447"/>
                  <a:pt x="5145206" y="859809"/>
                </a:cubicBezTo>
                <a:cubicBezTo>
                  <a:pt x="5133607" y="871408"/>
                  <a:pt x="5129509" y="889154"/>
                  <a:pt x="5117910" y="900753"/>
                </a:cubicBezTo>
                <a:cubicBezTo>
                  <a:pt x="5097312" y="921351"/>
                  <a:pt x="5072417" y="937147"/>
                  <a:pt x="5049671" y="955344"/>
                </a:cubicBezTo>
                <a:cubicBezTo>
                  <a:pt x="5045122" y="973541"/>
                  <a:pt x="5045329" y="993649"/>
                  <a:pt x="5036023" y="1009935"/>
                </a:cubicBezTo>
                <a:cubicBezTo>
                  <a:pt x="5019767" y="1038382"/>
                  <a:pt x="4962471" y="1072979"/>
                  <a:pt x="4940489" y="1091821"/>
                </a:cubicBezTo>
                <a:cubicBezTo>
                  <a:pt x="4905875" y="1121491"/>
                  <a:pt x="4900371" y="1141497"/>
                  <a:pt x="4858603" y="1160060"/>
                </a:cubicBezTo>
                <a:cubicBezTo>
                  <a:pt x="4832311" y="1171745"/>
                  <a:pt x="4800656" y="1171396"/>
                  <a:pt x="4776716" y="1187356"/>
                </a:cubicBezTo>
                <a:cubicBezTo>
                  <a:pt x="4756394" y="1200904"/>
                  <a:pt x="4703869" y="1238365"/>
                  <a:pt x="4681182" y="1241947"/>
                </a:cubicBezTo>
                <a:cubicBezTo>
                  <a:pt x="4613628" y="1252613"/>
                  <a:pt x="4544704" y="1251045"/>
                  <a:pt x="4476465" y="1255594"/>
                </a:cubicBezTo>
                <a:cubicBezTo>
                  <a:pt x="4403679" y="1279857"/>
                  <a:pt x="4352854" y="1292510"/>
                  <a:pt x="4285397" y="1337481"/>
                </a:cubicBezTo>
                <a:cubicBezTo>
                  <a:pt x="4271749" y="1346580"/>
                  <a:pt x="4259124" y="1357441"/>
                  <a:pt x="4244453" y="1364777"/>
                </a:cubicBezTo>
                <a:cubicBezTo>
                  <a:pt x="4231586" y="1371210"/>
                  <a:pt x="4216377" y="1371990"/>
                  <a:pt x="4203510" y="1378424"/>
                </a:cubicBezTo>
                <a:cubicBezTo>
                  <a:pt x="4017597" y="1471381"/>
                  <a:pt x="4240672" y="1368887"/>
                  <a:pt x="4080680" y="1460311"/>
                </a:cubicBezTo>
                <a:cubicBezTo>
                  <a:pt x="4068190" y="1467448"/>
                  <a:pt x="4052604" y="1467525"/>
                  <a:pt x="4039737" y="1473959"/>
                </a:cubicBezTo>
                <a:cubicBezTo>
                  <a:pt x="4018293" y="1484681"/>
                  <a:pt x="3958629" y="1531893"/>
                  <a:pt x="3944203" y="1542197"/>
                </a:cubicBezTo>
                <a:cubicBezTo>
                  <a:pt x="3930855" y="1551731"/>
                  <a:pt x="3915860" y="1558992"/>
                  <a:pt x="3903259" y="1569493"/>
                </a:cubicBezTo>
                <a:cubicBezTo>
                  <a:pt x="3868248" y="1598669"/>
                  <a:pt x="3847951" y="1627818"/>
                  <a:pt x="3821373" y="1665027"/>
                </a:cubicBezTo>
                <a:cubicBezTo>
                  <a:pt x="3811839" y="1678375"/>
                  <a:pt x="3804752" y="1693517"/>
                  <a:pt x="3794077" y="1705971"/>
                </a:cubicBezTo>
                <a:cubicBezTo>
                  <a:pt x="3777329" y="1725510"/>
                  <a:pt x="3757683" y="1742365"/>
                  <a:pt x="3739486" y="1760562"/>
                </a:cubicBezTo>
                <a:cubicBezTo>
                  <a:pt x="3714260" y="1811014"/>
                  <a:pt x="3665245" y="1914689"/>
                  <a:pt x="3630304" y="1937983"/>
                </a:cubicBezTo>
                <a:cubicBezTo>
                  <a:pt x="3582010" y="1970179"/>
                  <a:pt x="3578897" y="1968387"/>
                  <a:pt x="3534770" y="2019869"/>
                </a:cubicBezTo>
                <a:cubicBezTo>
                  <a:pt x="3496971" y="2063968"/>
                  <a:pt x="3518833" y="2064397"/>
                  <a:pt x="3466531" y="2101756"/>
                </a:cubicBezTo>
                <a:cubicBezTo>
                  <a:pt x="3449976" y="2113581"/>
                  <a:pt x="3429604" y="2118957"/>
                  <a:pt x="3411940" y="2129051"/>
                </a:cubicBezTo>
                <a:cubicBezTo>
                  <a:pt x="3397699" y="2137189"/>
                  <a:pt x="3385668" y="2149012"/>
                  <a:pt x="3370997" y="2156347"/>
                </a:cubicBezTo>
                <a:cubicBezTo>
                  <a:pt x="3318284" y="2182703"/>
                  <a:pt x="3332269" y="2154684"/>
                  <a:pt x="3275462" y="2197290"/>
                </a:cubicBezTo>
                <a:cubicBezTo>
                  <a:pt x="3254874" y="2212731"/>
                  <a:pt x="3242694" y="2238242"/>
                  <a:pt x="3220871" y="2251881"/>
                </a:cubicBezTo>
                <a:cubicBezTo>
                  <a:pt x="3204965" y="2261822"/>
                  <a:pt x="3183843" y="2258943"/>
                  <a:pt x="3166280" y="2265529"/>
                </a:cubicBezTo>
                <a:cubicBezTo>
                  <a:pt x="3147231" y="2272672"/>
                  <a:pt x="3129886" y="2283726"/>
                  <a:pt x="3111689" y="2292824"/>
                </a:cubicBezTo>
                <a:cubicBezTo>
                  <a:pt x="3098041" y="2306472"/>
                  <a:pt x="3086452" y="2322550"/>
                  <a:pt x="3070746" y="2333768"/>
                </a:cubicBezTo>
                <a:cubicBezTo>
                  <a:pt x="3004491" y="2381093"/>
                  <a:pt x="3034605" y="2345015"/>
                  <a:pt x="2975212" y="2374711"/>
                </a:cubicBezTo>
                <a:cubicBezTo>
                  <a:pt x="2960541" y="2382046"/>
                  <a:pt x="2948939" y="2394671"/>
                  <a:pt x="2934268" y="2402006"/>
                </a:cubicBezTo>
                <a:cubicBezTo>
                  <a:pt x="2921401" y="2408440"/>
                  <a:pt x="2905901" y="2408668"/>
                  <a:pt x="2893325" y="2415654"/>
                </a:cubicBezTo>
                <a:cubicBezTo>
                  <a:pt x="2864648" y="2431586"/>
                  <a:pt x="2838734" y="2452048"/>
                  <a:pt x="2811438" y="2470245"/>
                </a:cubicBezTo>
                <a:cubicBezTo>
                  <a:pt x="2797790" y="2479344"/>
                  <a:pt x="2783303" y="2487294"/>
                  <a:pt x="2770495" y="2497541"/>
                </a:cubicBezTo>
                <a:cubicBezTo>
                  <a:pt x="2747749" y="2515738"/>
                  <a:pt x="2726493" y="2535974"/>
                  <a:pt x="2702256" y="2552132"/>
                </a:cubicBezTo>
                <a:cubicBezTo>
                  <a:pt x="2685328" y="2563417"/>
                  <a:pt x="2664917" y="2568644"/>
                  <a:pt x="2647665" y="2579427"/>
                </a:cubicBezTo>
                <a:cubicBezTo>
                  <a:pt x="2628376" y="2591483"/>
                  <a:pt x="2611709" y="2607327"/>
                  <a:pt x="2593074" y="2620371"/>
                </a:cubicBezTo>
                <a:cubicBezTo>
                  <a:pt x="2566199" y="2639184"/>
                  <a:pt x="2538483" y="2656765"/>
                  <a:pt x="2511188" y="2674962"/>
                </a:cubicBezTo>
                <a:lnTo>
                  <a:pt x="2429301" y="2729553"/>
                </a:lnTo>
                <a:cubicBezTo>
                  <a:pt x="2415653" y="2738651"/>
                  <a:pt x="2401480" y="2747007"/>
                  <a:pt x="2388358" y="2756848"/>
                </a:cubicBezTo>
                <a:cubicBezTo>
                  <a:pt x="2320645" y="2807633"/>
                  <a:pt x="2352693" y="2785174"/>
                  <a:pt x="2292823" y="2825087"/>
                </a:cubicBezTo>
                <a:cubicBezTo>
                  <a:pt x="2283725" y="2838735"/>
                  <a:pt x="2278336" y="2855783"/>
                  <a:pt x="2265528" y="2866030"/>
                </a:cubicBezTo>
                <a:cubicBezTo>
                  <a:pt x="2254295" y="2875017"/>
                  <a:pt x="2237452" y="2873244"/>
                  <a:pt x="2224585" y="2879678"/>
                </a:cubicBezTo>
                <a:cubicBezTo>
                  <a:pt x="2087528" y="2948207"/>
                  <a:pt x="2296527" y="2862494"/>
                  <a:pt x="2129050" y="2934269"/>
                </a:cubicBezTo>
                <a:cubicBezTo>
                  <a:pt x="2083262" y="2953893"/>
                  <a:pt x="2087860" y="2939038"/>
                  <a:pt x="2047164" y="2975212"/>
                </a:cubicBezTo>
                <a:cubicBezTo>
                  <a:pt x="2018313" y="3000858"/>
                  <a:pt x="1992573" y="3029803"/>
                  <a:pt x="1965277" y="3057099"/>
                </a:cubicBezTo>
                <a:lnTo>
                  <a:pt x="1924334" y="3098042"/>
                </a:lnTo>
                <a:cubicBezTo>
                  <a:pt x="1910686" y="3111690"/>
                  <a:pt x="1892023" y="3121723"/>
                  <a:pt x="1883391" y="3138986"/>
                </a:cubicBezTo>
                <a:cubicBezTo>
                  <a:pt x="1848760" y="3208248"/>
                  <a:pt x="1867380" y="3176649"/>
                  <a:pt x="1828800" y="3234520"/>
                </a:cubicBezTo>
                <a:cubicBezTo>
                  <a:pt x="1821874" y="3262225"/>
                  <a:pt x="1813252" y="3302641"/>
                  <a:pt x="1801504" y="3330054"/>
                </a:cubicBezTo>
                <a:cubicBezTo>
                  <a:pt x="1729729" y="3497531"/>
                  <a:pt x="1815442" y="3288532"/>
                  <a:pt x="1746913" y="3425589"/>
                </a:cubicBezTo>
                <a:cubicBezTo>
                  <a:pt x="1716138" y="3487138"/>
                  <a:pt x="1754858" y="3448810"/>
                  <a:pt x="1705970" y="3507475"/>
                </a:cubicBezTo>
                <a:cubicBezTo>
                  <a:pt x="1693614" y="3522302"/>
                  <a:pt x="1677382" y="3533591"/>
                  <a:pt x="1665026" y="3548418"/>
                </a:cubicBezTo>
                <a:cubicBezTo>
                  <a:pt x="1654525" y="3561019"/>
                  <a:pt x="1648232" y="3576761"/>
                  <a:pt x="1637731" y="3589362"/>
                </a:cubicBezTo>
                <a:cubicBezTo>
                  <a:pt x="1615731" y="3615762"/>
                  <a:pt x="1570949" y="3654819"/>
                  <a:pt x="1542197" y="3671248"/>
                </a:cubicBezTo>
                <a:cubicBezTo>
                  <a:pt x="1529706" y="3678386"/>
                  <a:pt x="1514901" y="3680347"/>
                  <a:pt x="1501253" y="3684896"/>
                </a:cubicBezTo>
                <a:cubicBezTo>
                  <a:pt x="1437112" y="3749037"/>
                  <a:pt x="1476371" y="3715131"/>
                  <a:pt x="1378423" y="3780430"/>
                </a:cubicBezTo>
                <a:cubicBezTo>
                  <a:pt x="1364775" y="3789529"/>
                  <a:pt x="1353041" y="3802539"/>
                  <a:pt x="1337480" y="3807726"/>
                </a:cubicBezTo>
                <a:cubicBezTo>
                  <a:pt x="1310185" y="3816824"/>
                  <a:pt x="1281328" y="3822154"/>
                  <a:pt x="1255594" y="3835021"/>
                </a:cubicBezTo>
                <a:cubicBezTo>
                  <a:pt x="1208029" y="3858804"/>
                  <a:pt x="1185047" y="3872184"/>
                  <a:pt x="1132764" y="3889612"/>
                </a:cubicBezTo>
                <a:cubicBezTo>
                  <a:pt x="1101344" y="3900085"/>
                  <a:pt x="1067854" y="3904298"/>
                  <a:pt x="1037229" y="3916908"/>
                </a:cubicBezTo>
                <a:cubicBezTo>
                  <a:pt x="990198" y="3936274"/>
                  <a:pt x="946244" y="3962401"/>
                  <a:pt x="900752" y="3985147"/>
                </a:cubicBezTo>
                <a:cubicBezTo>
                  <a:pt x="882555" y="3994245"/>
                  <a:pt x="861907" y="3999559"/>
                  <a:pt x="846161" y="4012442"/>
                </a:cubicBezTo>
                <a:cubicBezTo>
                  <a:pt x="796119" y="4053385"/>
                  <a:pt x="753866" y="4106356"/>
                  <a:pt x="696035" y="4135272"/>
                </a:cubicBezTo>
                <a:cubicBezTo>
                  <a:pt x="677838" y="4144371"/>
                  <a:pt x="657720" y="4150361"/>
                  <a:pt x="641444" y="4162568"/>
                </a:cubicBezTo>
                <a:cubicBezTo>
                  <a:pt x="620856" y="4178009"/>
                  <a:pt x="606948" y="4201083"/>
                  <a:pt x="586853" y="4217159"/>
                </a:cubicBezTo>
                <a:cubicBezTo>
                  <a:pt x="561237" y="4237652"/>
                  <a:pt x="532262" y="4253553"/>
                  <a:pt x="504967" y="4271750"/>
                </a:cubicBezTo>
                <a:cubicBezTo>
                  <a:pt x="495868" y="4289947"/>
                  <a:pt x="493300" y="4313317"/>
                  <a:pt x="477671" y="4326341"/>
                </a:cubicBezTo>
                <a:cubicBezTo>
                  <a:pt x="463261" y="4338349"/>
                  <a:pt x="439857" y="4331601"/>
                  <a:pt x="423080" y="4339989"/>
                </a:cubicBezTo>
                <a:cubicBezTo>
                  <a:pt x="402735" y="4350161"/>
                  <a:pt x="387778" y="4368877"/>
                  <a:pt x="368489" y="4380932"/>
                </a:cubicBezTo>
                <a:cubicBezTo>
                  <a:pt x="351237" y="4391715"/>
                  <a:pt x="331562" y="4398133"/>
                  <a:pt x="313898" y="4408227"/>
                </a:cubicBezTo>
                <a:cubicBezTo>
                  <a:pt x="239816" y="4450560"/>
                  <a:pt x="307082" y="4424147"/>
                  <a:pt x="232012" y="4449171"/>
                </a:cubicBezTo>
                <a:cubicBezTo>
                  <a:pt x="204716" y="4444622"/>
                  <a:pt x="177138" y="4441526"/>
                  <a:pt x="150125" y="4435523"/>
                </a:cubicBezTo>
                <a:cubicBezTo>
                  <a:pt x="118809" y="4428564"/>
                  <a:pt x="81140" y="4409751"/>
                  <a:pt x="54591" y="4394580"/>
                </a:cubicBezTo>
                <a:cubicBezTo>
                  <a:pt x="18581" y="4374003"/>
                  <a:pt x="21210" y="4374848"/>
                  <a:pt x="0" y="435363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9372601" y="2286000"/>
            <a:ext cx="832279" cy="369332"/>
          </a:xfrm>
          <a:prstGeom prst="rect">
            <a:avLst/>
          </a:prstGeom>
          <a:noFill/>
        </p:spPr>
        <p:txBody>
          <a:bodyPr wrap="none" rtlCol="0">
            <a:spAutoFit/>
          </a:bodyPr>
          <a:lstStyle/>
          <a:p>
            <a:r>
              <a:rPr lang="en-US"/>
              <a:t>i+j=h-1</a:t>
            </a:r>
          </a:p>
        </p:txBody>
      </p:sp>
      <p:sp>
        <p:nvSpPr>
          <p:cNvPr id="36" name="Freeform 35"/>
          <p:cNvSpPr/>
          <p:nvPr/>
        </p:nvSpPr>
        <p:spPr>
          <a:xfrm>
            <a:off x="5427261" y="1528549"/>
            <a:ext cx="627797" cy="4585648"/>
          </a:xfrm>
          <a:custGeom>
            <a:avLst/>
            <a:gdLst>
              <a:gd name="connsiteX0" fmla="*/ 54591 w 627797"/>
              <a:gd name="connsiteY0" fmla="*/ 136478 h 4585648"/>
              <a:gd name="connsiteX1" fmla="*/ 150125 w 627797"/>
              <a:gd name="connsiteY1" fmla="*/ 95535 h 4585648"/>
              <a:gd name="connsiteX2" fmla="*/ 191068 w 627797"/>
              <a:gd name="connsiteY2" fmla="*/ 81887 h 4585648"/>
              <a:gd name="connsiteX3" fmla="*/ 286603 w 627797"/>
              <a:gd name="connsiteY3" fmla="*/ 27296 h 4585648"/>
              <a:gd name="connsiteX4" fmla="*/ 341194 w 627797"/>
              <a:gd name="connsiteY4" fmla="*/ 13648 h 4585648"/>
              <a:gd name="connsiteX5" fmla="*/ 382137 w 627797"/>
              <a:gd name="connsiteY5" fmla="*/ 0 h 4585648"/>
              <a:gd name="connsiteX6" fmla="*/ 504967 w 627797"/>
              <a:gd name="connsiteY6" fmla="*/ 13648 h 4585648"/>
              <a:gd name="connsiteX7" fmla="*/ 518615 w 627797"/>
              <a:gd name="connsiteY7" fmla="*/ 54591 h 4585648"/>
              <a:gd name="connsiteX8" fmla="*/ 545910 w 627797"/>
              <a:gd name="connsiteY8" fmla="*/ 109182 h 4585648"/>
              <a:gd name="connsiteX9" fmla="*/ 586853 w 627797"/>
              <a:gd name="connsiteY9" fmla="*/ 204717 h 4585648"/>
              <a:gd name="connsiteX10" fmla="*/ 600501 w 627797"/>
              <a:gd name="connsiteY10" fmla="*/ 272955 h 4585648"/>
              <a:gd name="connsiteX11" fmla="*/ 614149 w 627797"/>
              <a:gd name="connsiteY11" fmla="*/ 327547 h 4585648"/>
              <a:gd name="connsiteX12" fmla="*/ 627797 w 627797"/>
              <a:gd name="connsiteY12" fmla="*/ 464024 h 4585648"/>
              <a:gd name="connsiteX13" fmla="*/ 614149 w 627797"/>
              <a:gd name="connsiteY13" fmla="*/ 2620370 h 4585648"/>
              <a:gd name="connsiteX14" fmla="*/ 573206 w 627797"/>
              <a:gd name="connsiteY14" fmla="*/ 2879678 h 4585648"/>
              <a:gd name="connsiteX15" fmla="*/ 545910 w 627797"/>
              <a:gd name="connsiteY15" fmla="*/ 3125338 h 4585648"/>
              <a:gd name="connsiteX16" fmla="*/ 504967 w 627797"/>
              <a:gd name="connsiteY16" fmla="*/ 3370997 h 4585648"/>
              <a:gd name="connsiteX17" fmla="*/ 477671 w 627797"/>
              <a:gd name="connsiteY17" fmla="*/ 3575714 h 4585648"/>
              <a:gd name="connsiteX18" fmla="*/ 464024 w 627797"/>
              <a:gd name="connsiteY18" fmla="*/ 3766782 h 4585648"/>
              <a:gd name="connsiteX19" fmla="*/ 450376 w 627797"/>
              <a:gd name="connsiteY19" fmla="*/ 3875964 h 4585648"/>
              <a:gd name="connsiteX20" fmla="*/ 423080 w 627797"/>
              <a:gd name="connsiteY20" fmla="*/ 4312693 h 4585648"/>
              <a:gd name="connsiteX21" fmla="*/ 409433 w 627797"/>
              <a:gd name="connsiteY21" fmla="*/ 4380932 h 4585648"/>
              <a:gd name="connsiteX22" fmla="*/ 395785 w 627797"/>
              <a:gd name="connsiteY22" fmla="*/ 4490114 h 4585648"/>
              <a:gd name="connsiteX23" fmla="*/ 327546 w 627797"/>
              <a:gd name="connsiteY23" fmla="*/ 4585648 h 4585648"/>
              <a:gd name="connsiteX24" fmla="*/ 272955 w 627797"/>
              <a:gd name="connsiteY24" fmla="*/ 4558352 h 4585648"/>
              <a:gd name="connsiteX25" fmla="*/ 245659 w 627797"/>
              <a:gd name="connsiteY25" fmla="*/ 4517409 h 4585648"/>
              <a:gd name="connsiteX26" fmla="*/ 163773 w 627797"/>
              <a:gd name="connsiteY26" fmla="*/ 4435523 h 4585648"/>
              <a:gd name="connsiteX27" fmla="*/ 136477 w 627797"/>
              <a:gd name="connsiteY27" fmla="*/ 4380932 h 4585648"/>
              <a:gd name="connsiteX28" fmla="*/ 109182 w 627797"/>
              <a:gd name="connsiteY28" fmla="*/ 4339988 h 4585648"/>
              <a:gd name="connsiteX29" fmla="*/ 95534 w 627797"/>
              <a:gd name="connsiteY29" fmla="*/ 4271750 h 4585648"/>
              <a:gd name="connsiteX30" fmla="*/ 81886 w 627797"/>
              <a:gd name="connsiteY30" fmla="*/ 4230806 h 4585648"/>
              <a:gd name="connsiteX31" fmla="*/ 54591 w 627797"/>
              <a:gd name="connsiteY31" fmla="*/ 4053385 h 4585648"/>
              <a:gd name="connsiteX32" fmla="*/ 40943 w 627797"/>
              <a:gd name="connsiteY32" fmla="*/ 3889612 h 4585648"/>
              <a:gd name="connsiteX33" fmla="*/ 27295 w 627797"/>
              <a:gd name="connsiteY33" fmla="*/ 3794078 h 4585648"/>
              <a:gd name="connsiteX34" fmla="*/ 13647 w 627797"/>
              <a:gd name="connsiteY34" fmla="*/ 3548418 h 4585648"/>
              <a:gd name="connsiteX35" fmla="*/ 0 w 627797"/>
              <a:gd name="connsiteY35" fmla="*/ 3411941 h 4585648"/>
              <a:gd name="connsiteX36" fmla="*/ 13647 w 627797"/>
              <a:gd name="connsiteY36" fmla="*/ 1910687 h 4585648"/>
              <a:gd name="connsiteX37" fmla="*/ 40943 w 627797"/>
              <a:gd name="connsiteY37" fmla="*/ 1569493 h 4585648"/>
              <a:gd name="connsiteX38" fmla="*/ 54591 w 627797"/>
              <a:gd name="connsiteY38" fmla="*/ 1146412 h 4585648"/>
              <a:gd name="connsiteX39" fmla="*/ 68239 w 627797"/>
              <a:gd name="connsiteY39" fmla="*/ 655093 h 4585648"/>
              <a:gd name="connsiteX40" fmla="*/ 81886 w 627797"/>
              <a:gd name="connsiteY40" fmla="*/ 313899 h 4585648"/>
              <a:gd name="connsiteX41" fmla="*/ 95534 w 627797"/>
              <a:gd name="connsiteY41" fmla="*/ 136478 h 4585648"/>
              <a:gd name="connsiteX42" fmla="*/ 122830 w 627797"/>
              <a:gd name="connsiteY42" fmla="*/ 54591 h 458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27797" h="4585648">
                <a:moveTo>
                  <a:pt x="54591" y="136478"/>
                </a:moveTo>
                <a:cubicBezTo>
                  <a:pt x="86436" y="122830"/>
                  <a:pt x="117957" y="108402"/>
                  <a:pt x="150125" y="95535"/>
                </a:cubicBezTo>
                <a:cubicBezTo>
                  <a:pt x="163482" y="90192"/>
                  <a:pt x="178201" y="88321"/>
                  <a:pt x="191068" y="81887"/>
                </a:cubicBezTo>
                <a:cubicBezTo>
                  <a:pt x="270259" y="42291"/>
                  <a:pt x="190898" y="63185"/>
                  <a:pt x="286603" y="27296"/>
                </a:cubicBezTo>
                <a:cubicBezTo>
                  <a:pt x="304166" y="20710"/>
                  <a:pt x="323159" y="18801"/>
                  <a:pt x="341194" y="13648"/>
                </a:cubicBezTo>
                <a:cubicBezTo>
                  <a:pt x="355026" y="9696"/>
                  <a:pt x="368489" y="4549"/>
                  <a:pt x="382137" y="0"/>
                </a:cubicBezTo>
                <a:cubicBezTo>
                  <a:pt x="423080" y="4549"/>
                  <a:pt x="466718" y="-1652"/>
                  <a:pt x="504967" y="13648"/>
                </a:cubicBezTo>
                <a:cubicBezTo>
                  <a:pt x="518324" y="18991"/>
                  <a:pt x="512948" y="41368"/>
                  <a:pt x="518615" y="54591"/>
                </a:cubicBezTo>
                <a:cubicBezTo>
                  <a:pt x="526629" y="73291"/>
                  <a:pt x="538767" y="90133"/>
                  <a:pt x="545910" y="109182"/>
                </a:cubicBezTo>
                <a:cubicBezTo>
                  <a:pt x="583680" y="209903"/>
                  <a:pt x="531538" y="121742"/>
                  <a:pt x="586853" y="204717"/>
                </a:cubicBezTo>
                <a:cubicBezTo>
                  <a:pt x="591402" y="227463"/>
                  <a:pt x="595469" y="250311"/>
                  <a:pt x="600501" y="272955"/>
                </a:cubicBezTo>
                <a:cubicBezTo>
                  <a:pt x="604570" y="291266"/>
                  <a:pt x="611496" y="308978"/>
                  <a:pt x="614149" y="327547"/>
                </a:cubicBezTo>
                <a:cubicBezTo>
                  <a:pt x="620615" y="372807"/>
                  <a:pt x="623248" y="418532"/>
                  <a:pt x="627797" y="464024"/>
                </a:cubicBezTo>
                <a:cubicBezTo>
                  <a:pt x="623248" y="1182806"/>
                  <a:pt x="622605" y="1901623"/>
                  <a:pt x="614149" y="2620370"/>
                </a:cubicBezTo>
                <a:cubicBezTo>
                  <a:pt x="612439" y="2765739"/>
                  <a:pt x="606670" y="2762552"/>
                  <a:pt x="573206" y="2879678"/>
                </a:cubicBezTo>
                <a:cubicBezTo>
                  <a:pt x="564107" y="2961565"/>
                  <a:pt x="553601" y="3043307"/>
                  <a:pt x="545910" y="3125338"/>
                </a:cubicBezTo>
                <a:cubicBezTo>
                  <a:pt x="525006" y="3348313"/>
                  <a:pt x="562667" y="3255595"/>
                  <a:pt x="504967" y="3370997"/>
                </a:cubicBezTo>
                <a:cubicBezTo>
                  <a:pt x="495868" y="3439236"/>
                  <a:pt x="484755" y="3507237"/>
                  <a:pt x="477671" y="3575714"/>
                </a:cubicBezTo>
                <a:cubicBezTo>
                  <a:pt x="471101" y="3639227"/>
                  <a:pt x="469805" y="3703193"/>
                  <a:pt x="464024" y="3766782"/>
                </a:cubicBezTo>
                <a:cubicBezTo>
                  <a:pt x="460703" y="3803309"/>
                  <a:pt x="454925" y="3839570"/>
                  <a:pt x="450376" y="3875964"/>
                </a:cubicBezTo>
                <a:cubicBezTo>
                  <a:pt x="441277" y="4021540"/>
                  <a:pt x="451684" y="4169665"/>
                  <a:pt x="423080" y="4312693"/>
                </a:cubicBezTo>
                <a:cubicBezTo>
                  <a:pt x="418531" y="4335439"/>
                  <a:pt x="412960" y="4358005"/>
                  <a:pt x="409433" y="4380932"/>
                </a:cubicBezTo>
                <a:cubicBezTo>
                  <a:pt x="403856" y="4417183"/>
                  <a:pt x="403470" y="4454251"/>
                  <a:pt x="395785" y="4490114"/>
                </a:cubicBezTo>
                <a:cubicBezTo>
                  <a:pt x="376188" y="4581565"/>
                  <a:pt x="389660" y="4564943"/>
                  <a:pt x="327546" y="4585648"/>
                </a:cubicBezTo>
                <a:cubicBezTo>
                  <a:pt x="309349" y="4576549"/>
                  <a:pt x="288584" y="4571376"/>
                  <a:pt x="272955" y="4558352"/>
                </a:cubicBezTo>
                <a:cubicBezTo>
                  <a:pt x="260354" y="4547851"/>
                  <a:pt x="255193" y="4530756"/>
                  <a:pt x="245659" y="4517409"/>
                </a:cubicBezTo>
                <a:cubicBezTo>
                  <a:pt x="199490" y="4452773"/>
                  <a:pt x="220314" y="4473216"/>
                  <a:pt x="163773" y="4435523"/>
                </a:cubicBezTo>
                <a:cubicBezTo>
                  <a:pt x="154674" y="4417326"/>
                  <a:pt x="146571" y="4398596"/>
                  <a:pt x="136477" y="4380932"/>
                </a:cubicBezTo>
                <a:cubicBezTo>
                  <a:pt x="128339" y="4366690"/>
                  <a:pt x="114941" y="4355346"/>
                  <a:pt x="109182" y="4339988"/>
                </a:cubicBezTo>
                <a:cubicBezTo>
                  <a:pt x="101037" y="4318268"/>
                  <a:pt x="101160" y="4294254"/>
                  <a:pt x="95534" y="4271750"/>
                </a:cubicBezTo>
                <a:cubicBezTo>
                  <a:pt x="92045" y="4257793"/>
                  <a:pt x="86435" y="4244454"/>
                  <a:pt x="81886" y="4230806"/>
                </a:cubicBezTo>
                <a:cubicBezTo>
                  <a:pt x="72788" y="4171666"/>
                  <a:pt x="61720" y="4112795"/>
                  <a:pt x="54591" y="4053385"/>
                </a:cubicBezTo>
                <a:cubicBezTo>
                  <a:pt x="48064" y="3998995"/>
                  <a:pt x="46678" y="3944091"/>
                  <a:pt x="40943" y="3889612"/>
                </a:cubicBezTo>
                <a:cubicBezTo>
                  <a:pt x="37575" y="3857621"/>
                  <a:pt x="31844" y="3825923"/>
                  <a:pt x="27295" y="3794078"/>
                </a:cubicBezTo>
                <a:cubicBezTo>
                  <a:pt x="22746" y="3712191"/>
                  <a:pt x="19490" y="3630223"/>
                  <a:pt x="13647" y="3548418"/>
                </a:cubicBezTo>
                <a:cubicBezTo>
                  <a:pt x="10390" y="3502815"/>
                  <a:pt x="0" y="3457660"/>
                  <a:pt x="0" y="3411941"/>
                </a:cubicBezTo>
                <a:cubicBezTo>
                  <a:pt x="0" y="2911502"/>
                  <a:pt x="5577" y="2411061"/>
                  <a:pt x="13647" y="1910687"/>
                </a:cubicBezTo>
                <a:cubicBezTo>
                  <a:pt x="14660" y="1847856"/>
                  <a:pt x="34274" y="1642850"/>
                  <a:pt x="40943" y="1569493"/>
                </a:cubicBezTo>
                <a:cubicBezTo>
                  <a:pt x="45492" y="1428466"/>
                  <a:pt x="50381" y="1287450"/>
                  <a:pt x="54591" y="1146412"/>
                </a:cubicBezTo>
                <a:cubicBezTo>
                  <a:pt x="59480" y="982649"/>
                  <a:pt x="62870" y="818841"/>
                  <a:pt x="68239" y="655093"/>
                </a:cubicBezTo>
                <a:cubicBezTo>
                  <a:pt x="71969" y="541332"/>
                  <a:pt x="75904" y="427564"/>
                  <a:pt x="81886" y="313899"/>
                </a:cubicBezTo>
                <a:cubicBezTo>
                  <a:pt x="85003" y="254666"/>
                  <a:pt x="86283" y="195067"/>
                  <a:pt x="95534" y="136478"/>
                </a:cubicBezTo>
                <a:cubicBezTo>
                  <a:pt x="100021" y="108058"/>
                  <a:pt x="122830" y="54591"/>
                  <a:pt x="122830" y="54591"/>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p:cNvCxnSpPr/>
          <p:nvPr/>
        </p:nvCxnSpPr>
        <p:spPr>
          <a:xfrm flipH="1" flipV="1">
            <a:off x="5800296" y="5500867"/>
            <a:ext cx="1169994" cy="7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6970290" y="5044192"/>
            <a:ext cx="702436" cy="369332"/>
          </a:xfrm>
          <a:prstGeom prst="rect">
            <a:avLst/>
          </a:prstGeom>
          <a:noFill/>
        </p:spPr>
        <p:txBody>
          <a:bodyPr wrap="none" rtlCol="0">
            <a:spAutoFit/>
          </a:bodyPr>
          <a:lstStyle/>
          <a:p>
            <a:r>
              <a:rPr lang="en-US"/>
              <a:t>J=h/2</a:t>
            </a:r>
          </a:p>
        </p:txBody>
      </p:sp>
      <p:sp>
        <p:nvSpPr>
          <p:cNvPr id="39" name="Freeform 38"/>
          <p:cNvSpPr/>
          <p:nvPr/>
        </p:nvSpPr>
        <p:spPr>
          <a:xfrm>
            <a:off x="5577349" y="1170991"/>
            <a:ext cx="3343739" cy="758974"/>
          </a:xfrm>
          <a:custGeom>
            <a:avLst/>
            <a:gdLst>
              <a:gd name="connsiteX0" fmla="*/ 81924 w 3343739"/>
              <a:gd name="connsiteY0" fmla="*/ 262024 h 758974"/>
              <a:gd name="connsiteX1" fmla="*/ 95571 w 3343739"/>
              <a:gd name="connsiteY1" fmla="*/ 193785 h 758974"/>
              <a:gd name="connsiteX2" fmla="*/ 177458 w 3343739"/>
              <a:gd name="connsiteY2" fmla="*/ 139194 h 758974"/>
              <a:gd name="connsiteX3" fmla="*/ 259345 w 3343739"/>
              <a:gd name="connsiteY3" fmla="*/ 98251 h 758974"/>
              <a:gd name="connsiteX4" fmla="*/ 368527 w 3343739"/>
              <a:gd name="connsiteY4" fmla="*/ 70955 h 758974"/>
              <a:gd name="connsiteX5" fmla="*/ 532300 w 3343739"/>
              <a:gd name="connsiteY5" fmla="*/ 43660 h 758974"/>
              <a:gd name="connsiteX6" fmla="*/ 573243 w 3343739"/>
              <a:gd name="connsiteY6" fmla="*/ 30012 h 758974"/>
              <a:gd name="connsiteX7" fmla="*/ 1856133 w 3343739"/>
              <a:gd name="connsiteY7" fmla="*/ 16364 h 758974"/>
              <a:gd name="connsiteX8" fmla="*/ 2292861 w 3343739"/>
              <a:gd name="connsiteY8" fmla="*/ 57308 h 758974"/>
              <a:gd name="connsiteX9" fmla="*/ 2688646 w 3343739"/>
              <a:gd name="connsiteY9" fmla="*/ 98251 h 758974"/>
              <a:gd name="connsiteX10" fmla="*/ 2893362 w 3343739"/>
              <a:gd name="connsiteY10" fmla="*/ 139194 h 758974"/>
              <a:gd name="connsiteX11" fmla="*/ 2934306 w 3343739"/>
              <a:gd name="connsiteY11" fmla="*/ 152842 h 758974"/>
              <a:gd name="connsiteX12" fmla="*/ 2988897 w 3343739"/>
              <a:gd name="connsiteY12" fmla="*/ 180137 h 758974"/>
              <a:gd name="connsiteX13" fmla="*/ 3084431 w 3343739"/>
              <a:gd name="connsiteY13" fmla="*/ 207433 h 758974"/>
              <a:gd name="connsiteX14" fmla="*/ 3125374 w 3343739"/>
              <a:gd name="connsiteY14" fmla="*/ 221081 h 758974"/>
              <a:gd name="connsiteX15" fmla="*/ 3166318 w 3343739"/>
              <a:gd name="connsiteY15" fmla="*/ 248376 h 758974"/>
              <a:gd name="connsiteX16" fmla="*/ 3207261 w 3343739"/>
              <a:gd name="connsiteY16" fmla="*/ 262024 h 758974"/>
              <a:gd name="connsiteX17" fmla="*/ 3289148 w 3343739"/>
              <a:gd name="connsiteY17" fmla="*/ 316615 h 758974"/>
              <a:gd name="connsiteX18" fmla="*/ 3316443 w 3343739"/>
              <a:gd name="connsiteY18" fmla="*/ 371206 h 758974"/>
              <a:gd name="connsiteX19" fmla="*/ 3330091 w 3343739"/>
              <a:gd name="connsiteY19" fmla="*/ 439445 h 758974"/>
              <a:gd name="connsiteX20" fmla="*/ 3343739 w 3343739"/>
              <a:gd name="connsiteY20" fmla="*/ 480388 h 758974"/>
              <a:gd name="connsiteX21" fmla="*/ 3330091 w 3343739"/>
              <a:gd name="connsiteY21" fmla="*/ 630513 h 758974"/>
              <a:gd name="connsiteX22" fmla="*/ 3302795 w 3343739"/>
              <a:gd name="connsiteY22" fmla="*/ 671457 h 758974"/>
              <a:gd name="connsiteX23" fmla="*/ 3220909 w 3343739"/>
              <a:gd name="connsiteY23" fmla="*/ 712400 h 758974"/>
              <a:gd name="connsiteX24" fmla="*/ 3166318 w 3343739"/>
              <a:gd name="connsiteY24" fmla="*/ 726048 h 758974"/>
              <a:gd name="connsiteX25" fmla="*/ 1473995 w 3343739"/>
              <a:gd name="connsiteY25" fmla="*/ 739696 h 758974"/>
              <a:gd name="connsiteX26" fmla="*/ 204753 w 3343739"/>
              <a:gd name="connsiteY26" fmla="*/ 739696 h 758974"/>
              <a:gd name="connsiteX27" fmla="*/ 136515 w 3343739"/>
              <a:gd name="connsiteY27" fmla="*/ 644161 h 758974"/>
              <a:gd name="connsiteX28" fmla="*/ 95571 w 3343739"/>
              <a:gd name="connsiteY28" fmla="*/ 603218 h 758974"/>
              <a:gd name="connsiteX29" fmla="*/ 68276 w 3343739"/>
              <a:gd name="connsiteY29" fmla="*/ 562275 h 758974"/>
              <a:gd name="connsiteX30" fmla="*/ 27333 w 3343739"/>
              <a:gd name="connsiteY30" fmla="*/ 507684 h 758974"/>
              <a:gd name="connsiteX31" fmla="*/ 13685 w 3343739"/>
              <a:gd name="connsiteY31" fmla="*/ 439445 h 758974"/>
              <a:gd name="connsiteX32" fmla="*/ 37 w 3343739"/>
              <a:gd name="connsiteY32" fmla="*/ 398502 h 758974"/>
              <a:gd name="connsiteX33" fmla="*/ 27333 w 3343739"/>
              <a:gd name="connsiteY33" fmla="*/ 180137 h 758974"/>
              <a:gd name="connsiteX34" fmla="*/ 68276 w 3343739"/>
              <a:gd name="connsiteY34" fmla="*/ 125546 h 758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43739" h="758974">
                <a:moveTo>
                  <a:pt x="81924" y="262024"/>
                </a:moveTo>
                <a:cubicBezTo>
                  <a:pt x="86473" y="239278"/>
                  <a:pt x="81330" y="212095"/>
                  <a:pt x="95571" y="193785"/>
                </a:cubicBezTo>
                <a:cubicBezTo>
                  <a:pt x="115711" y="167890"/>
                  <a:pt x="148116" y="153865"/>
                  <a:pt x="177458" y="139194"/>
                </a:cubicBezTo>
                <a:cubicBezTo>
                  <a:pt x="204754" y="125546"/>
                  <a:pt x="231458" y="110645"/>
                  <a:pt x="259345" y="98251"/>
                </a:cubicBezTo>
                <a:cubicBezTo>
                  <a:pt x="299457" y="80424"/>
                  <a:pt x="323007" y="82335"/>
                  <a:pt x="368527" y="70955"/>
                </a:cubicBezTo>
                <a:cubicBezTo>
                  <a:pt x="496562" y="38947"/>
                  <a:pt x="257690" y="74173"/>
                  <a:pt x="532300" y="43660"/>
                </a:cubicBezTo>
                <a:cubicBezTo>
                  <a:pt x="545948" y="39111"/>
                  <a:pt x="558924" y="31398"/>
                  <a:pt x="573243" y="30012"/>
                </a:cubicBezTo>
                <a:cubicBezTo>
                  <a:pt x="1100540" y="-21018"/>
                  <a:pt x="1190663" y="6281"/>
                  <a:pt x="1856133" y="16364"/>
                </a:cubicBezTo>
                <a:cubicBezTo>
                  <a:pt x="2278034" y="44491"/>
                  <a:pt x="1834104" y="11433"/>
                  <a:pt x="2292861" y="57308"/>
                </a:cubicBezTo>
                <a:cubicBezTo>
                  <a:pt x="2395178" y="67540"/>
                  <a:pt x="2594756" y="74779"/>
                  <a:pt x="2688646" y="98251"/>
                </a:cubicBezTo>
                <a:cubicBezTo>
                  <a:pt x="2829036" y="133348"/>
                  <a:pt x="2760691" y="120241"/>
                  <a:pt x="2893362" y="139194"/>
                </a:cubicBezTo>
                <a:cubicBezTo>
                  <a:pt x="2907010" y="143743"/>
                  <a:pt x="2921083" y="147175"/>
                  <a:pt x="2934306" y="152842"/>
                </a:cubicBezTo>
                <a:cubicBezTo>
                  <a:pt x="2953006" y="160856"/>
                  <a:pt x="2969777" y="173184"/>
                  <a:pt x="2988897" y="180137"/>
                </a:cubicBezTo>
                <a:cubicBezTo>
                  <a:pt x="3020022" y="191455"/>
                  <a:pt x="3052709" y="197916"/>
                  <a:pt x="3084431" y="207433"/>
                </a:cubicBezTo>
                <a:cubicBezTo>
                  <a:pt x="3098210" y="211567"/>
                  <a:pt x="3112507" y="214647"/>
                  <a:pt x="3125374" y="221081"/>
                </a:cubicBezTo>
                <a:cubicBezTo>
                  <a:pt x="3140045" y="228416"/>
                  <a:pt x="3151647" y="241041"/>
                  <a:pt x="3166318" y="248376"/>
                </a:cubicBezTo>
                <a:cubicBezTo>
                  <a:pt x="3179185" y="254810"/>
                  <a:pt x="3194685" y="255038"/>
                  <a:pt x="3207261" y="262024"/>
                </a:cubicBezTo>
                <a:cubicBezTo>
                  <a:pt x="3235938" y="277956"/>
                  <a:pt x="3289148" y="316615"/>
                  <a:pt x="3289148" y="316615"/>
                </a:cubicBezTo>
                <a:cubicBezTo>
                  <a:pt x="3298246" y="334812"/>
                  <a:pt x="3310009" y="351905"/>
                  <a:pt x="3316443" y="371206"/>
                </a:cubicBezTo>
                <a:cubicBezTo>
                  <a:pt x="3323778" y="393212"/>
                  <a:pt x="3324465" y="416941"/>
                  <a:pt x="3330091" y="439445"/>
                </a:cubicBezTo>
                <a:cubicBezTo>
                  <a:pt x="3333580" y="453401"/>
                  <a:pt x="3339190" y="466740"/>
                  <a:pt x="3343739" y="480388"/>
                </a:cubicBezTo>
                <a:cubicBezTo>
                  <a:pt x="3339190" y="530430"/>
                  <a:pt x="3340620" y="581380"/>
                  <a:pt x="3330091" y="630513"/>
                </a:cubicBezTo>
                <a:cubicBezTo>
                  <a:pt x="3326654" y="646552"/>
                  <a:pt x="3314394" y="659858"/>
                  <a:pt x="3302795" y="671457"/>
                </a:cubicBezTo>
                <a:cubicBezTo>
                  <a:pt x="3278871" y="695381"/>
                  <a:pt x="3251988" y="703520"/>
                  <a:pt x="3220909" y="712400"/>
                </a:cubicBezTo>
                <a:cubicBezTo>
                  <a:pt x="3202874" y="717553"/>
                  <a:pt x="3185073" y="725755"/>
                  <a:pt x="3166318" y="726048"/>
                </a:cubicBezTo>
                <a:lnTo>
                  <a:pt x="1473995" y="739696"/>
                </a:lnTo>
                <a:cubicBezTo>
                  <a:pt x="994277" y="757462"/>
                  <a:pt x="767034" y="772292"/>
                  <a:pt x="204753" y="739696"/>
                </a:cubicBezTo>
                <a:cubicBezTo>
                  <a:pt x="173024" y="737857"/>
                  <a:pt x="147566" y="659632"/>
                  <a:pt x="136515" y="644161"/>
                </a:cubicBezTo>
                <a:cubicBezTo>
                  <a:pt x="125297" y="628455"/>
                  <a:pt x="107927" y="618045"/>
                  <a:pt x="95571" y="603218"/>
                </a:cubicBezTo>
                <a:cubicBezTo>
                  <a:pt x="85070" y="590617"/>
                  <a:pt x="77810" y="575622"/>
                  <a:pt x="68276" y="562275"/>
                </a:cubicBezTo>
                <a:cubicBezTo>
                  <a:pt x="55055" y="543766"/>
                  <a:pt x="40981" y="525881"/>
                  <a:pt x="27333" y="507684"/>
                </a:cubicBezTo>
                <a:cubicBezTo>
                  <a:pt x="22784" y="484938"/>
                  <a:pt x="19311" y="461949"/>
                  <a:pt x="13685" y="439445"/>
                </a:cubicBezTo>
                <a:cubicBezTo>
                  <a:pt x="10196" y="425489"/>
                  <a:pt x="-719" y="412868"/>
                  <a:pt x="37" y="398502"/>
                </a:cubicBezTo>
                <a:cubicBezTo>
                  <a:pt x="3893" y="325249"/>
                  <a:pt x="15892" y="252594"/>
                  <a:pt x="27333" y="180137"/>
                </a:cubicBezTo>
                <a:cubicBezTo>
                  <a:pt x="34561" y="134361"/>
                  <a:pt x="34927" y="142221"/>
                  <a:pt x="68276" y="12554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p:cNvCxnSpPr/>
          <p:nvPr/>
        </p:nvCxnSpPr>
        <p:spPr>
          <a:xfrm flipH="1" flipV="1">
            <a:off x="8320709" y="1325050"/>
            <a:ext cx="1169994" cy="7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9623162" y="1062115"/>
            <a:ext cx="817853" cy="646331"/>
          </a:xfrm>
          <a:prstGeom prst="rect">
            <a:avLst/>
          </a:prstGeom>
          <a:noFill/>
        </p:spPr>
        <p:txBody>
          <a:bodyPr wrap="none" rtlCol="0">
            <a:spAutoFit/>
          </a:bodyPr>
          <a:lstStyle/>
          <a:p>
            <a:r>
              <a:rPr lang="en-US"/>
              <a:t>i=0</a:t>
            </a:r>
          </a:p>
          <a:p>
            <a:r>
              <a:rPr lang="en-US"/>
              <a:t>J&gt;=h/2</a:t>
            </a:r>
          </a:p>
        </p:txBody>
      </p:sp>
      <p:sp>
        <p:nvSpPr>
          <p:cNvPr id="42" name="Freeform 41"/>
          <p:cNvSpPr/>
          <p:nvPr/>
        </p:nvSpPr>
        <p:spPr>
          <a:xfrm>
            <a:off x="3379475" y="5436879"/>
            <a:ext cx="3189655" cy="758974"/>
          </a:xfrm>
          <a:custGeom>
            <a:avLst/>
            <a:gdLst>
              <a:gd name="connsiteX0" fmla="*/ 81924 w 3343739"/>
              <a:gd name="connsiteY0" fmla="*/ 262024 h 758974"/>
              <a:gd name="connsiteX1" fmla="*/ 95571 w 3343739"/>
              <a:gd name="connsiteY1" fmla="*/ 193785 h 758974"/>
              <a:gd name="connsiteX2" fmla="*/ 177458 w 3343739"/>
              <a:gd name="connsiteY2" fmla="*/ 139194 h 758974"/>
              <a:gd name="connsiteX3" fmla="*/ 259345 w 3343739"/>
              <a:gd name="connsiteY3" fmla="*/ 98251 h 758974"/>
              <a:gd name="connsiteX4" fmla="*/ 368527 w 3343739"/>
              <a:gd name="connsiteY4" fmla="*/ 70955 h 758974"/>
              <a:gd name="connsiteX5" fmla="*/ 532300 w 3343739"/>
              <a:gd name="connsiteY5" fmla="*/ 43660 h 758974"/>
              <a:gd name="connsiteX6" fmla="*/ 573243 w 3343739"/>
              <a:gd name="connsiteY6" fmla="*/ 30012 h 758974"/>
              <a:gd name="connsiteX7" fmla="*/ 1856133 w 3343739"/>
              <a:gd name="connsiteY7" fmla="*/ 16364 h 758974"/>
              <a:gd name="connsiteX8" fmla="*/ 2292861 w 3343739"/>
              <a:gd name="connsiteY8" fmla="*/ 57308 h 758974"/>
              <a:gd name="connsiteX9" fmla="*/ 2688646 w 3343739"/>
              <a:gd name="connsiteY9" fmla="*/ 98251 h 758974"/>
              <a:gd name="connsiteX10" fmla="*/ 2893362 w 3343739"/>
              <a:gd name="connsiteY10" fmla="*/ 139194 h 758974"/>
              <a:gd name="connsiteX11" fmla="*/ 2934306 w 3343739"/>
              <a:gd name="connsiteY11" fmla="*/ 152842 h 758974"/>
              <a:gd name="connsiteX12" fmla="*/ 2988897 w 3343739"/>
              <a:gd name="connsiteY12" fmla="*/ 180137 h 758974"/>
              <a:gd name="connsiteX13" fmla="*/ 3084431 w 3343739"/>
              <a:gd name="connsiteY13" fmla="*/ 207433 h 758974"/>
              <a:gd name="connsiteX14" fmla="*/ 3125374 w 3343739"/>
              <a:gd name="connsiteY14" fmla="*/ 221081 h 758974"/>
              <a:gd name="connsiteX15" fmla="*/ 3166318 w 3343739"/>
              <a:gd name="connsiteY15" fmla="*/ 248376 h 758974"/>
              <a:gd name="connsiteX16" fmla="*/ 3207261 w 3343739"/>
              <a:gd name="connsiteY16" fmla="*/ 262024 h 758974"/>
              <a:gd name="connsiteX17" fmla="*/ 3289148 w 3343739"/>
              <a:gd name="connsiteY17" fmla="*/ 316615 h 758974"/>
              <a:gd name="connsiteX18" fmla="*/ 3316443 w 3343739"/>
              <a:gd name="connsiteY18" fmla="*/ 371206 h 758974"/>
              <a:gd name="connsiteX19" fmla="*/ 3330091 w 3343739"/>
              <a:gd name="connsiteY19" fmla="*/ 439445 h 758974"/>
              <a:gd name="connsiteX20" fmla="*/ 3343739 w 3343739"/>
              <a:gd name="connsiteY20" fmla="*/ 480388 h 758974"/>
              <a:gd name="connsiteX21" fmla="*/ 3330091 w 3343739"/>
              <a:gd name="connsiteY21" fmla="*/ 630513 h 758974"/>
              <a:gd name="connsiteX22" fmla="*/ 3302795 w 3343739"/>
              <a:gd name="connsiteY22" fmla="*/ 671457 h 758974"/>
              <a:gd name="connsiteX23" fmla="*/ 3220909 w 3343739"/>
              <a:gd name="connsiteY23" fmla="*/ 712400 h 758974"/>
              <a:gd name="connsiteX24" fmla="*/ 3166318 w 3343739"/>
              <a:gd name="connsiteY24" fmla="*/ 726048 h 758974"/>
              <a:gd name="connsiteX25" fmla="*/ 1473995 w 3343739"/>
              <a:gd name="connsiteY25" fmla="*/ 739696 h 758974"/>
              <a:gd name="connsiteX26" fmla="*/ 204753 w 3343739"/>
              <a:gd name="connsiteY26" fmla="*/ 739696 h 758974"/>
              <a:gd name="connsiteX27" fmla="*/ 136515 w 3343739"/>
              <a:gd name="connsiteY27" fmla="*/ 644161 h 758974"/>
              <a:gd name="connsiteX28" fmla="*/ 95571 w 3343739"/>
              <a:gd name="connsiteY28" fmla="*/ 603218 h 758974"/>
              <a:gd name="connsiteX29" fmla="*/ 68276 w 3343739"/>
              <a:gd name="connsiteY29" fmla="*/ 562275 h 758974"/>
              <a:gd name="connsiteX30" fmla="*/ 27333 w 3343739"/>
              <a:gd name="connsiteY30" fmla="*/ 507684 h 758974"/>
              <a:gd name="connsiteX31" fmla="*/ 13685 w 3343739"/>
              <a:gd name="connsiteY31" fmla="*/ 439445 h 758974"/>
              <a:gd name="connsiteX32" fmla="*/ 37 w 3343739"/>
              <a:gd name="connsiteY32" fmla="*/ 398502 h 758974"/>
              <a:gd name="connsiteX33" fmla="*/ 27333 w 3343739"/>
              <a:gd name="connsiteY33" fmla="*/ 180137 h 758974"/>
              <a:gd name="connsiteX34" fmla="*/ 68276 w 3343739"/>
              <a:gd name="connsiteY34" fmla="*/ 125546 h 758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43739" h="758974">
                <a:moveTo>
                  <a:pt x="81924" y="262024"/>
                </a:moveTo>
                <a:cubicBezTo>
                  <a:pt x="86473" y="239278"/>
                  <a:pt x="81330" y="212095"/>
                  <a:pt x="95571" y="193785"/>
                </a:cubicBezTo>
                <a:cubicBezTo>
                  <a:pt x="115711" y="167890"/>
                  <a:pt x="148116" y="153865"/>
                  <a:pt x="177458" y="139194"/>
                </a:cubicBezTo>
                <a:cubicBezTo>
                  <a:pt x="204754" y="125546"/>
                  <a:pt x="231458" y="110645"/>
                  <a:pt x="259345" y="98251"/>
                </a:cubicBezTo>
                <a:cubicBezTo>
                  <a:pt x="299457" y="80424"/>
                  <a:pt x="323007" y="82335"/>
                  <a:pt x="368527" y="70955"/>
                </a:cubicBezTo>
                <a:cubicBezTo>
                  <a:pt x="496562" y="38947"/>
                  <a:pt x="257690" y="74173"/>
                  <a:pt x="532300" y="43660"/>
                </a:cubicBezTo>
                <a:cubicBezTo>
                  <a:pt x="545948" y="39111"/>
                  <a:pt x="558924" y="31398"/>
                  <a:pt x="573243" y="30012"/>
                </a:cubicBezTo>
                <a:cubicBezTo>
                  <a:pt x="1100540" y="-21018"/>
                  <a:pt x="1190663" y="6281"/>
                  <a:pt x="1856133" y="16364"/>
                </a:cubicBezTo>
                <a:cubicBezTo>
                  <a:pt x="2278034" y="44491"/>
                  <a:pt x="1834104" y="11433"/>
                  <a:pt x="2292861" y="57308"/>
                </a:cubicBezTo>
                <a:cubicBezTo>
                  <a:pt x="2395178" y="67540"/>
                  <a:pt x="2594756" y="74779"/>
                  <a:pt x="2688646" y="98251"/>
                </a:cubicBezTo>
                <a:cubicBezTo>
                  <a:pt x="2829036" y="133348"/>
                  <a:pt x="2760691" y="120241"/>
                  <a:pt x="2893362" y="139194"/>
                </a:cubicBezTo>
                <a:cubicBezTo>
                  <a:pt x="2907010" y="143743"/>
                  <a:pt x="2921083" y="147175"/>
                  <a:pt x="2934306" y="152842"/>
                </a:cubicBezTo>
                <a:cubicBezTo>
                  <a:pt x="2953006" y="160856"/>
                  <a:pt x="2969777" y="173184"/>
                  <a:pt x="2988897" y="180137"/>
                </a:cubicBezTo>
                <a:cubicBezTo>
                  <a:pt x="3020022" y="191455"/>
                  <a:pt x="3052709" y="197916"/>
                  <a:pt x="3084431" y="207433"/>
                </a:cubicBezTo>
                <a:cubicBezTo>
                  <a:pt x="3098210" y="211567"/>
                  <a:pt x="3112507" y="214647"/>
                  <a:pt x="3125374" y="221081"/>
                </a:cubicBezTo>
                <a:cubicBezTo>
                  <a:pt x="3140045" y="228416"/>
                  <a:pt x="3151647" y="241041"/>
                  <a:pt x="3166318" y="248376"/>
                </a:cubicBezTo>
                <a:cubicBezTo>
                  <a:pt x="3179185" y="254810"/>
                  <a:pt x="3194685" y="255038"/>
                  <a:pt x="3207261" y="262024"/>
                </a:cubicBezTo>
                <a:cubicBezTo>
                  <a:pt x="3235938" y="277956"/>
                  <a:pt x="3289148" y="316615"/>
                  <a:pt x="3289148" y="316615"/>
                </a:cubicBezTo>
                <a:cubicBezTo>
                  <a:pt x="3298246" y="334812"/>
                  <a:pt x="3310009" y="351905"/>
                  <a:pt x="3316443" y="371206"/>
                </a:cubicBezTo>
                <a:cubicBezTo>
                  <a:pt x="3323778" y="393212"/>
                  <a:pt x="3324465" y="416941"/>
                  <a:pt x="3330091" y="439445"/>
                </a:cubicBezTo>
                <a:cubicBezTo>
                  <a:pt x="3333580" y="453401"/>
                  <a:pt x="3339190" y="466740"/>
                  <a:pt x="3343739" y="480388"/>
                </a:cubicBezTo>
                <a:cubicBezTo>
                  <a:pt x="3339190" y="530430"/>
                  <a:pt x="3340620" y="581380"/>
                  <a:pt x="3330091" y="630513"/>
                </a:cubicBezTo>
                <a:cubicBezTo>
                  <a:pt x="3326654" y="646552"/>
                  <a:pt x="3314394" y="659858"/>
                  <a:pt x="3302795" y="671457"/>
                </a:cubicBezTo>
                <a:cubicBezTo>
                  <a:pt x="3278871" y="695381"/>
                  <a:pt x="3251988" y="703520"/>
                  <a:pt x="3220909" y="712400"/>
                </a:cubicBezTo>
                <a:cubicBezTo>
                  <a:pt x="3202874" y="717553"/>
                  <a:pt x="3185073" y="725755"/>
                  <a:pt x="3166318" y="726048"/>
                </a:cubicBezTo>
                <a:lnTo>
                  <a:pt x="1473995" y="739696"/>
                </a:lnTo>
                <a:cubicBezTo>
                  <a:pt x="994277" y="757462"/>
                  <a:pt x="767034" y="772292"/>
                  <a:pt x="204753" y="739696"/>
                </a:cubicBezTo>
                <a:cubicBezTo>
                  <a:pt x="173024" y="737857"/>
                  <a:pt x="147566" y="659632"/>
                  <a:pt x="136515" y="644161"/>
                </a:cubicBezTo>
                <a:cubicBezTo>
                  <a:pt x="125297" y="628455"/>
                  <a:pt x="107927" y="618045"/>
                  <a:pt x="95571" y="603218"/>
                </a:cubicBezTo>
                <a:cubicBezTo>
                  <a:pt x="85070" y="590617"/>
                  <a:pt x="77810" y="575622"/>
                  <a:pt x="68276" y="562275"/>
                </a:cubicBezTo>
                <a:cubicBezTo>
                  <a:pt x="55055" y="543766"/>
                  <a:pt x="40981" y="525881"/>
                  <a:pt x="27333" y="507684"/>
                </a:cubicBezTo>
                <a:cubicBezTo>
                  <a:pt x="22784" y="484938"/>
                  <a:pt x="19311" y="461949"/>
                  <a:pt x="13685" y="439445"/>
                </a:cubicBezTo>
                <a:cubicBezTo>
                  <a:pt x="10196" y="425489"/>
                  <a:pt x="-719" y="412868"/>
                  <a:pt x="37" y="398502"/>
                </a:cubicBezTo>
                <a:cubicBezTo>
                  <a:pt x="3893" y="325249"/>
                  <a:pt x="15892" y="252594"/>
                  <a:pt x="27333" y="180137"/>
                </a:cubicBezTo>
                <a:cubicBezTo>
                  <a:pt x="34561" y="134361"/>
                  <a:pt x="34927" y="142221"/>
                  <a:pt x="68276" y="12554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Arrow Connector 42"/>
          <p:cNvCxnSpPr/>
          <p:nvPr/>
        </p:nvCxnSpPr>
        <p:spPr>
          <a:xfrm flipH="1" flipV="1">
            <a:off x="5296765" y="6114198"/>
            <a:ext cx="1088529" cy="381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323710" y="6208457"/>
            <a:ext cx="817853" cy="646331"/>
          </a:xfrm>
          <a:prstGeom prst="rect">
            <a:avLst/>
          </a:prstGeom>
          <a:noFill/>
        </p:spPr>
        <p:txBody>
          <a:bodyPr wrap="none" rtlCol="0">
            <a:spAutoFit/>
          </a:bodyPr>
          <a:lstStyle/>
          <a:p>
            <a:r>
              <a:rPr lang="en-US"/>
              <a:t>i=h-1</a:t>
            </a:r>
          </a:p>
          <a:p>
            <a:r>
              <a:rPr lang="en-US"/>
              <a:t>J&lt;=h/2</a:t>
            </a:r>
          </a:p>
        </p:txBody>
      </p:sp>
      <p:sp>
        <p:nvSpPr>
          <p:cNvPr id="5" name="Slide Number Placeholder 4">
            <a:extLst>
              <a:ext uri="{FF2B5EF4-FFF2-40B4-BE49-F238E27FC236}">
                <a16:creationId xmlns:a16="http://schemas.microsoft.com/office/drawing/2014/main" id="{A794FC6B-6093-AB07-D2C1-56D054BF57DC}"/>
              </a:ext>
            </a:extLst>
          </p:cNvPr>
          <p:cNvSpPr>
            <a:spLocks noGrp="1"/>
          </p:cNvSpPr>
          <p:nvPr>
            <p:ph type="sldNum" sz="quarter" idx="12"/>
          </p:nvPr>
        </p:nvSpPr>
        <p:spPr/>
        <p:txBody>
          <a:bodyPr/>
          <a:lstStyle/>
          <a:p>
            <a:fld id="{48FE5571-560F-4DFC-BA97-61ACA5F7ADE1}" type="slidenum">
              <a:rPr lang="en-US" smtClean="0"/>
              <a:pPr/>
              <a:t>81</a:t>
            </a:fld>
            <a:endParaRPr lang="en-US"/>
          </a:p>
        </p:txBody>
      </p:sp>
    </p:spTree>
    <p:extLst>
      <p:ext uri="{BB962C8B-B14F-4D97-AF65-F5344CB8AC3E}">
        <p14:creationId xmlns:p14="http://schemas.microsoft.com/office/powerpoint/2010/main" val="26310658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6"/>
          <p:cNvSpPr txBox="1">
            <a:spLocks noChangeArrowheads="1"/>
          </p:cNvSpPr>
          <p:nvPr/>
        </p:nvSpPr>
        <p:spPr bwMode="auto">
          <a:xfrm>
            <a:off x="4495800" y="2555117"/>
            <a:ext cx="2667000"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6600">
                <a:latin typeface="VNI-Heather" pitchFamily="2" charset="0"/>
                <a:cs typeface="Arial" charset="0"/>
              </a:rPr>
              <a:t>END</a:t>
            </a:r>
          </a:p>
        </p:txBody>
      </p:sp>
      <p:pic>
        <p:nvPicPr>
          <p:cNvPr id="9" name="Picture 2" descr="Image result for minion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1" y="3611303"/>
            <a:ext cx="2181225" cy="234315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Image result for minion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8200" y="2310736"/>
            <a:ext cx="1905000" cy="1905002"/>
          </a:xfrm>
          <a:prstGeom prst="rect">
            <a:avLst/>
          </a:prstGeom>
          <a:noFill/>
          <a:extLst>
            <a:ext uri="{909E8E84-426E-40DD-AFC4-6F175D3DCCD1}">
              <a14:hiddenFill xmlns:a14="http://schemas.microsoft.com/office/drawing/2010/main">
                <a:solidFill>
                  <a:srgbClr val="FFFFFF"/>
                </a:solidFill>
              </a14:hiddenFill>
            </a:ext>
          </a:extLst>
        </p:spPr>
      </p:pic>
      <p:sp>
        <p:nvSpPr>
          <p:cNvPr id="11" name="Cloud Callout 10"/>
          <p:cNvSpPr/>
          <p:nvPr/>
        </p:nvSpPr>
        <p:spPr>
          <a:xfrm>
            <a:off x="7010400" y="533400"/>
            <a:ext cx="1714500" cy="1745064"/>
          </a:xfrm>
          <a:prstGeom prst="cloudCallout">
            <a:avLst>
              <a:gd name="adj1" fmla="val 45968"/>
              <a:gd name="adj2" fmla="val 92351"/>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a:latin typeface="Cambria" panose="02040503050406030204" pitchFamily="18" charset="0"/>
              </a:rPr>
              <a:t>Hey! Coding is easy!</a:t>
            </a:r>
          </a:p>
        </p:txBody>
      </p:sp>
      <p:sp>
        <p:nvSpPr>
          <p:cNvPr id="2" name="Slide Number Placeholder 1">
            <a:extLst>
              <a:ext uri="{FF2B5EF4-FFF2-40B4-BE49-F238E27FC236}">
                <a16:creationId xmlns:a16="http://schemas.microsoft.com/office/drawing/2014/main" id="{AC8DDBE1-BEB9-62CF-BAF2-F2A8BABEDB14}"/>
              </a:ext>
            </a:extLst>
          </p:cNvPr>
          <p:cNvSpPr>
            <a:spLocks noGrp="1"/>
          </p:cNvSpPr>
          <p:nvPr>
            <p:ph type="sldNum" sz="quarter" idx="12"/>
          </p:nvPr>
        </p:nvSpPr>
        <p:spPr/>
        <p:txBody>
          <a:bodyPr/>
          <a:lstStyle/>
          <a:p>
            <a:fld id="{48FE5571-560F-4DFC-BA97-61ACA5F7ADE1}" type="slidenum">
              <a:rPr lang="en-US" smtClean="0"/>
              <a:pPr/>
              <a:t>82</a:t>
            </a:fld>
            <a:endParaRPr lang="en-US"/>
          </a:p>
        </p:txBody>
      </p:sp>
    </p:spTree>
    <p:extLst>
      <p:ext uri="{BB962C8B-B14F-4D97-AF65-F5344CB8AC3E}">
        <p14:creationId xmlns:p14="http://schemas.microsoft.com/office/powerpoint/2010/main" val="39959343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SUBSTITUTION_ID" val="{40CD5F6D-FFD4-450A-B180-FA129175305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4043</Words>
  <Application>Microsoft Office PowerPoint</Application>
  <PresentationFormat>Widescreen</PresentationFormat>
  <Paragraphs>790</Paragraphs>
  <Slides>82</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82</vt:i4>
      </vt:variant>
    </vt:vector>
  </HeadingPairs>
  <TitlesOfParts>
    <vt:vector size="93" baseType="lpstr">
      <vt:lpstr>Arial</vt:lpstr>
      <vt:lpstr>Calibri</vt:lpstr>
      <vt:lpstr>Calibri Light</vt:lpstr>
      <vt:lpstr>Cambria</vt:lpstr>
      <vt:lpstr>Cambria Math</vt:lpstr>
      <vt:lpstr>Courier New</vt:lpstr>
      <vt:lpstr>Tahoma</vt:lpstr>
      <vt:lpstr>Times New Roman</vt:lpstr>
      <vt:lpstr>VNI-Heather</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Phat Huynh Vinh</dc:creator>
  <cp:lastModifiedBy>Phat Huynh Vinh</cp:lastModifiedBy>
  <cp:revision>20</cp:revision>
  <dcterms:created xsi:type="dcterms:W3CDTF">2026-04-14T11:05:44Z</dcterms:created>
  <dcterms:modified xsi:type="dcterms:W3CDTF">2026-04-17T17:15:09Z</dcterms:modified>
</cp:coreProperties>
</file>